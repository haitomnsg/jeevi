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9"/>
  </p:notesMasterIdLst>
  <p:sldIdLst>
    <p:sldId id="256" r:id="rId2"/>
    <p:sldId id="258" r:id="rId3"/>
    <p:sldId id="296" r:id="rId4"/>
    <p:sldId id="260" r:id="rId5"/>
    <p:sldId id="297" r:id="rId6"/>
    <p:sldId id="263" r:id="rId7"/>
    <p:sldId id="272" r:id="rId8"/>
    <p:sldId id="311" r:id="rId9"/>
    <p:sldId id="299" r:id="rId10"/>
    <p:sldId id="301" r:id="rId11"/>
    <p:sldId id="304" r:id="rId12"/>
    <p:sldId id="305" r:id="rId13"/>
    <p:sldId id="306" r:id="rId14"/>
    <p:sldId id="302" r:id="rId15"/>
    <p:sldId id="307" r:id="rId16"/>
    <p:sldId id="309" r:id="rId17"/>
    <p:sldId id="310" r:id="rId18"/>
    <p:sldId id="312" r:id="rId19"/>
    <p:sldId id="315" r:id="rId20"/>
    <p:sldId id="316" r:id="rId21"/>
    <p:sldId id="314" r:id="rId22"/>
    <p:sldId id="259" r:id="rId23"/>
    <p:sldId id="261" r:id="rId24"/>
    <p:sldId id="262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3" r:id="rId34"/>
    <p:sldId id="274" r:id="rId35"/>
    <p:sldId id="275" r:id="rId36"/>
    <p:sldId id="276" r:id="rId37"/>
    <p:sldId id="277" r:id="rId3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Inter Tight" panose="020B0604020202020204" charset="0"/>
      <p:regular r:id="rId41"/>
      <p:bold r:id="rId42"/>
      <p:italic r:id="rId43"/>
      <p:boldItalic r:id="rId44"/>
    </p:embeddedFont>
    <p:embeddedFont>
      <p:font typeface="Merriweather Sans" pitchFamily="2" charset="0"/>
      <p:regular r:id="rId45"/>
      <p:bold r:id="rId46"/>
      <p:italic r:id="rId47"/>
      <p:boldItalic r:id="rId48"/>
    </p:embeddedFont>
    <p:embeddedFont>
      <p:font typeface="Open Sans" panose="020B0606030504020204" pitchFamily="34" charset="0"/>
      <p:regular r:id="rId49"/>
      <p:bold r:id="rId50"/>
      <p:italic r:id="rId51"/>
      <p:boldItalic r:id="rId52"/>
    </p:embeddedFont>
    <p:embeddedFont>
      <p:font typeface="Raleway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A3A"/>
    <a:srgbClr val="EFEFEF"/>
    <a:srgbClr val="C9C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53DCA3-0469-43A2-92A7-01D8EBA634FB}">
  <a:tblStyle styleId="{7C53DCA3-0469-43A2-92A7-01D8EBA634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ef81d1916d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ef81d1916d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0E6D280A-2939-6B88-2DC5-AF0570BE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ef81d1916d_0_154:notes">
            <a:extLst>
              <a:ext uri="{FF2B5EF4-FFF2-40B4-BE49-F238E27FC236}">
                <a16:creationId xmlns:a16="http://schemas.microsoft.com/office/drawing/2014/main" id="{4BE0B734-A64E-9FE0-5E8D-93E6C441E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ef81d1916d_0_154:notes">
            <a:extLst>
              <a:ext uri="{FF2B5EF4-FFF2-40B4-BE49-F238E27FC236}">
                <a16:creationId xmlns:a16="http://schemas.microsoft.com/office/drawing/2014/main" id="{649400FF-ADAE-7795-CF49-44B3E59F8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980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f81d1916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f81d1916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ef81d1916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ef81d1916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ef8e4f2db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ef8e4f2db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f81d1916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ef81d1916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ef81d1916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ef81d1916d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ef81d1916d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ef81d1916d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ef81d1916d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ef81d1916d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ef81d1916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ef81d1916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ef8e4f2d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ef8e4f2d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f8e4f2d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ef8e4f2db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f8e4f2db5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ef8e4f2db5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ef8e4f2db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ef8e4f2db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f8e4f2db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ef8e4f2db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ef8e4f2db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ef8e4f2db5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f8e4f2db5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ef8e4f2db5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ef8e4f2db5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ef8e4f2db5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f8e4f2db5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ef8e4f2db5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1ef8e4f2db5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1ef8e4f2db5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f8e4f2db5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ef8e4f2db5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31400" y="1244550"/>
            <a:ext cx="3533400" cy="2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31400" y="3297750"/>
            <a:ext cx="19875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2" name="Google Shape;12;p2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0" y="2093147"/>
            <a:ext cx="3434400" cy="13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291575"/>
            <a:ext cx="1223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572000" y="3447825"/>
            <a:ext cx="34344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979750" y="787350"/>
            <a:ext cx="2937600" cy="39438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/>
          <p:nvPr/>
        </p:nvSpPr>
        <p:spPr>
          <a:xfrm flipH="1">
            <a:off x="8424000" y="7873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20" name="Google Shape;20;p3"/>
          <p:cNvCxnSpPr/>
          <p:nvPr/>
        </p:nvCxnSpPr>
        <p:spPr>
          <a:xfrm rot="10800000">
            <a:off x="0" y="4731275"/>
            <a:ext cx="829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 idx="2"/>
          </p:nvPr>
        </p:nvSpPr>
        <p:spPr>
          <a:xfrm>
            <a:off x="974003" y="1549850"/>
            <a:ext cx="32901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3"/>
          </p:nvPr>
        </p:nvSpPr>
        <p:spPr>
          <a:xfrm>
            <a:off x="4879895" y="2159450"/>
            <a:ext cx="32901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974003" y="2009700"/>
            <a:ext cx="3290100" cy="1450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4879897" y="2619300"/>
            <a:ext cx="3290100" cy="1450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35" name="Google Shape;35;p5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 flipH="1">
            <a:off x="4271100" y="48360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40" name="Google Shape;40;p6"/>
          <p:cNvCxnSpPr/>
          <p:nvPr/>
        </p:nvCxnSpPr>
        <p:spPr>
          <a:xfrm rot="10800000">
            <a:off x="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960125" y="1379138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960125" y="2701763"/>
            <a:ext cx="44949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6151450" y="-10232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46" name="Google Shape;46;p7"/>
          <p:cNvCxnSpPr/>
          <p:nvPr/>
        </p:nvCxnSpPr>
        <p:spPr>
          <a:xfrm>
            <a:off x="731400" y="4731275"/>
            <a:ext cx="847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4657800" y="1529325"/>
            <a:ext cx="3766200" cy="20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6151450" y="-10232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51" name="Google Shape;51;p8"/>
          <p:cNvCxnSpPr/>
          <p:nvPr/>
        </p:nvCxnSpPr>
        <p:spPr>
          <a:xfrm>
            <a:off x="731400" y="4731275"/>
            <a:ext cx="856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-"/>
              <a:defRPr/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rtl="0"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57" name="Google Shape;57;p9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 sz="4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856075" y="1845875"/>
            <a:ext cx="4126500" cy="108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6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856075" y="2866225"/>
            <a:ext cx="4126500" cy="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69" name="Google Shape;69;p11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2"/>
          </p:nvPr>
        </p:nvSpPr>
        <p:spPr>
          <a:xfrm>
            <a:off x="72001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3"/>
          </p:nvPr>
        </p:nvSpPr>
        <p:spPr>
          <a:xfrm>
            <a:off x="572039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72001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4"/>
          </p:nvPr>
        </p:nvSpPr>
        <p:spPr>
          <a:xfrm>
            <a:off x="572039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5"/>
          </p:nvPr>
        </p:nvSpPr>
        <p:spPr>
          <a:xfrm>
            <a:off x="72001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6"/>
          </p:nvPr>
        </p:nvSpPr>
        <p:spPr>
          <a:xfrm>
            <a:off x="572039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7"/>
          </p:nvPr>
        </p:nvSpPr>
        <p:spPr>
          <a:xfrm>
            <a:off x="72001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8"/>
          </p:nvPr>
        </p:nvSpPr>
        <p:spPr>
          <a:xfrm>
            <a:off x="572039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10" y="1288871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10" y="281579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4" hasCustomPrompt="1"/>
          </p:nvPr>
        </p:nvSpPr>
        <p:spPr>
          <a:xfrm>
            <a:off x="5720390" y="1288871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0390" y="281579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/>
          <p:nvPr/>
        </p:nvSpPr>
        <p:spPr>
          <a:xfrm>
            <a:off x="-477775" y="45758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2151750" y="4707250"/>
            <a:ext cx="484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/>
          <p:nvPr/>
        </p:nvSpPr>
        <p:spPr>
          <a:xfrm flipH="1">
            <a:off x="-965700" y="312177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568950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93" name="Google Shape;93;p14"/>
          <p:cNvCxnSpPr/>
          <p:nvPr/>
        </p:nvCxnSpPr>
        <p:spPr>
          <a:xfrm>
            <a:off x="-96800" y="207313"/>
            <a:ext cx="2358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8424000" y="-8328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97" name="Google Shape;97;p15"/>
          <p:cNvCxnSpPr/>
          <p:nvPr/>
        </p:nvCxnSpPr>
        <p:spPr>
          <a:xfrm>
            <a:off x="282420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6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891644" y="1653150"/>
            <a:ext cx="3413100" cy="10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ubTitle" idx="1"/>
          </p:nvPr>
        </p:nvSpPr>
        <p:spPr>
          <a:xfrm>
            <a:off x="891644" y="2716649"/>
            <a:ext cx="34131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205875" y="-111897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 rot="10800000">
            <a:off x="-19181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03" name="Google Shape;103;p16"/>
          <p:cNvCxnSpPr/>
          <p:nvPr/>
        </p:nvCxnSpPr>
        <p:spPr>
          <a:xfrm rot="10800000">
            <a:off x="534275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/>
          <p:nvPr/>
        </p:nvSpPr>
        <p:spPr>
          <a:xfrm flipH="1">
            <a:off x="-1158100" y="22178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 rot="10800000">
            <a:off x="1857600" y="4891375"/>
            <a:ext cx="54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/>
          <p:nvPr/>
        </p:nvSpPr>
        <p:spPr>
          <a:xfrm flipH="1">
            <a:off x="8605175" y="30272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 rot="10800000">
            <a:off x="-651625" y="4891375"/>
            <a:ext cx="54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5818974" y="2313825"/>
            <a:ext cx="207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 idx="2"/>
          </p:nvPr>
        </p:nvSpPr>
        <p:spPr>
          <a:xfrm>
            <a:off x="3536298" y="2313825"/>
            <a:ext cx="207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1"/>
          </p:nvPr>
        </p:nvSpPr>
        <p:spPr>
          <a:xfrm>
            <a:off x="1253625" y="2707425"/>
            <a:ext cx="2071200" cy="76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3"/>
          </p:nvPr>
        </p:nvSpPr>
        <p:spPr>
          <a:xfrm>
            <a:off x="3536292" y="2707425"/>
            <a:ext cx="2071200" cy="76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 idx="4"/>
          </p:nvPr>
        </p:nvSpPr>
        <p:spPr>
          <a:xfrm>
            <a:off x="1253626" y="2313825"/>
            <a:ext cx="207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5"/>
          </p:nvPr>
        </p:nvSpPr>
        <p:spPr>
          <a:xfrm>
            <a:off x="5818975" y="2707425"/>
            <a:ext cx="2071200" cy="76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/>
          <p:nvPr/>
        </p:nvSpPr>
        <p:spPr>
          <a:xfrm flipH="1">
            <a:off x="8138250" y="-59742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23" name="Google Shape;123;p19"/>
          <p:cNvCxnSpPr/>
          <p:nvPr/>
        </p:nvCxnSpPr>
        <p:spPr>
          <a:xfrm>
            <a:off x="1633775" y="4731275"/>
            <a:ext cx="829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4" name="Google Shape;124;p19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5811865" y="2877400"/>
            <a:ext cx="205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 idx="2"/>
          </p:nvPr>
        </p:nvSpPr>
        <p:spPr>
          <a:xfrm>
            <a:off x="3542398" y="2572600"/>
            <a:ext cx="205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1272935" y="2861925"/>
            <a:ext cx="20592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3"/>
          </p:nvPr>
        </p:nvSpPr>
        <p:spPr>
          <a:xfrm>
            <a:off x="3542392" y="3166725"/>
            <a:ext cx="20592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4"/>
          </p:nvPr>
        </p:nvSpPr>
        <p:spPr>
          <a:xfrm>
            <a:off x="1272936" y="2267800"/>
            <a:ext cx="205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5"/>
          </p:nvPr>
        </p:nvSpPr>
        <p:spPr>
          <a:xfrm>
            <a:off x="5811864" y="3471525"/>
            <a:ext cx="20592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5" name="Google Shape;135;p20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 hasCustomPrompt="1"/>
          </p:nvPr>
        </p:nvSpPr>
        <p:spPr>
          <a:xfrm>
            <a:off x="102387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102387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title" idx="2" hasCustomPrompt="1"/>
          </p:nvPr>
        </p:nvSpPr>
        <p:spPr>
          <a:xfrm>
            <a:off x="474392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3"/>
          </p:nvPr>
        </p:nvSpPr>
        <p:spPr>
          <a:xfrm>
            <a:off x="474392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 idx="4" hasCustomPrompt="1"/>
          </p:nvPr>
        </p:nvSpPr>
        <p:spPr>
          <a:xfrm>
            <a:off x="474392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5"/>
          </p:nvPr>
        </p:nvSpPr>
        <p:spPr>
          <a:xfrm>
            <a:off x="474392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6" hasCustomPrompt="1"/>
          </p:nvPr>
        </p:nvSpPr>
        <p:spPr>
          <a:xfrm>
            <a:off x="102387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7"/>
          </p:nvPr>
        </p:nvSpPr>
        <p:spPr>
          <a:xfrm>
            <a:off x="102387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46" name="Google Shape;146;p21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47" name="Google Shape;147;p21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ctrTitle"/>
          </p:nvPr>
        </p:nvSpPr>
        <p:spPr>
          <a:xfrm>
            <a:off x="2470050" y="793601"/>
            <a:ext cx="42039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2470050" y="1771598"/>
            <a:ext cx="4203900" cy="10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3" name="Google Shape;153;p22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4" name="Google Shape;154;p22"/>
          <p:cNvSpPr txBox="1"/>
          <p:nvPr/>
        </p:nvSpPr>
        <p:spPr>
          <a:xfrm>
            <a:off x="2470050" y="3384751"/>
            <a:ext cx="420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57" name="Google Shape;157;p23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8" name="Google Shape;158;p23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61" name="Google Shape;161;p24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microsoft.com/office/2017/06/relationships/model3d" Target="../media/model3d1.glb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hyperlink" Target="https://docs.google.com/spreadsheets/d/1_AXNs8n19C1HMqDUtc4LA525DVX-NyXC1QUqZHYcRnk/copy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automation-icons-set_3794686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automation-icons-set_3794686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freepik.com/free-photo/close-up-male-carpenter-working-with-wood_3564577.htm/?utm_source=slidesgo_template&amp;utm_medium=referral-link&amp;utm_campaign=sg_resources&amp;utm_content=freepik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ctrTitle"/>
          </p:nvPr>
        </p:nvSpPr>
        <p:spPr>
          <a:xfrm>
            <a:off x="798306" y="1298053"/>
            <a:ext cx="3533400" cy="2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/>
              <a:t>JeevI: Deep Reinforcement Learning Robot</a:t>
            </a:r>
            <a:endParaRPr sz="3100" dirty="0"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1"/>
          </p:nvPr>
        </p:nvSpPr>
        <p:spPr>
          <a:xfrm>
            <a:off x="731400" y="3884730"/>
            <a:ext cx="5245655" cy="608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Semester Project: AISP 311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Department of Artificial Intelligence, Kathmandu University</a:t>
            </a:r>
            <a:endParaRPr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8247B3-8DDD-D2B9-6D9D-03E50E897A52}"/>
              </a:ext>
            </a:extLst>
          </p:cNvPr>
          <p:cNvSpPr/>
          <p:nvPr/>
        </p:nvSpPr>
        <p:spPr>
          <a:xfrm>
            <a:off x="7932234" y="0"/>
            <a:ext cx="1211766" cy="11151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| KU Information and Language Processing Lab">
            <a:extLst>
              <a:ext uri="{FF2B5EF4-FFF2-40B4-BE49-F238E27FC236}">
                <a16:creationId xmlns:a16="http://schemas.microsoft.com/office/drawing/2014/main" id="{2D97CF07-35C3-9604-EA41-1F7A1D9C2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72" y="176590"/>
            <a:ext cx="596255" cy="59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>
                <a:extLst>
                  <a:ext uri="{FF2B5EF4-FFF2-40B4-BE49-F238E27FC236}">
                    <a16:creationId xmlns:a16="http://schemas.microsoft.com/office/drawing/2014/main" id="{48603441-1EB9-9603-ED0E-CAD6A66E19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5750301"/>
                  </p:ext>
                </p:extLst>
              </p:nvPr>
            </p:nvGraphicFramePr>
            <p:xfrm>
              <a:off x="4331706" y="650168"/>
              <a:ext cx="4699493" cy="346278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699493" cy="3462785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7388" ay="-1834596" az="-61464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2322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>
                <a:extLst>
                  <a:ext uri="{FF2B5EF4-FFF2-40B4-BE49-F238E27FC236}">
                    <a16:creationId xmlns:a16="http://schemas.microsoft.com/office/drawing/2014/main" id="{48603441-1EB9-9603-ED0E-CAD6A66E19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1706" y="650168"/>
                <a:ext cx="4699493" cy="346278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Google Shape;174;p28">
            <a:extLst>
              <a:ext uri="{FF2B5EF4-FFF2-40B4-BE49-F238E27FC236}">
                <a16:creationId xmlns:a16="http://schemas.microsoft.com/office/drawing/2014/main" id="{916FF7E0-188A-F69B-83EE-47E2D99285B1}"/>
              </a:ext>
            </a:extLst>
          </p:cNvPr>
          <p:cNvSpPr txBox="1">
            <a:spLocks/>
          </p:cNvSpPr>
          <p:nvPr/>
        </p:nvSpPr>
        <p:spPr>
          <a:xfrm>
            <a:off x="731399" y="3351253"/>
            <a:ext cx="5245655" cy="6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4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marL="0" indent="0"/>
            <a:r>
              <a:rPr lang="en-GB" sz="1100" dirty="0"/>
              <a:t>Presenters: </a:t>
            </a:r>
            <a:r>
              <a:rPr lang="en-GB" sz="1100" b="1" dirty="0"/>
              <a:t>Ashish Gupta, Rubina Dangol Maharjan</a:t>
            </a:r>
          </a:p>
          <a:p>
            <a:pPr marL="0" indent="0"/>
            <a:r>
              <a:rPr lang="en-GB" sz="1100" dirty="0"/>
              <a:t>Supervisors: </a:t>
            </a:r>
            <a:r>
              <a:rPr lang="en-GB" sz="1100" b="1" dirty="0"/>
              <a:t>Manoj Shakya, Sandesh Thakuri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>
            <a:spLocks noGrp="1"/>
          </p:cNvSpPr>
          <p:nvPr>
            <p:ph type="title" idx="9"/>
          </p:nvPr>
        </p:nvSpPr>
        <p:spPr>
          <a:xfrm>
            <a:off x="720010" y="1288871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01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5" name="Google Shape;275;p30"/>
          <p:cNvSpPr txBox="1">
            <a:spLocks noGrp="1"/>
          </p:cNvSpPr>
          <p:nvPr>
            <p:ph type="title" idx="13"/>
          </p:nvPr>
        </p:nvSpPr>
        <p:spPr>
          <a:xfrm>
            <a:off x="720010" y="2815796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03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6" name="Google Shape;276;p30"/>
          <p:cNvSpPr txBox="1">
            <a:spLocks noGrp="1"/>
          </p:cNvSpPr>
          <p:nvPr>
            <p:ph type="title" idx="14"/>
          </p:nvPr>
        </p:nvSpPr>
        <p:spPr>
          <a:xfrm>
            <a:off x="6154790" y="1141599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02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7" name="Google Shape;277;p30"/>
          <p:cNvSpPr txBox="1">
            <a:spLocks noGrp="1"/>
          </p:cNvSpPr>
          <p:nvPr>
            <p:ph type="title" idx="15"/>
          </p:nvPr>
        </p:nvSpPr>
        <p:spPr>
          <a:xfrm>
            <a:off x="6154790" y="2815796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04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7"/>
          </p:nvPr>
        </p:nvSpPr>
        <p:spPr>
          <a:xfrm>
            <a:off x="72001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Defined Goals &amp; Targets</a:t>
            </a:r>
            <a:endParaRPr dirty="0"/>
          </a:p>
        </p:txBody>
      </p:sp>
      <p:sp>
        <p:nvSpPr>
          <p:cNvPr id="279" name="Google Shape;279;p30"/>
          <p:cNvSpPr txBox="1">
            <a:spLocks noGrp="1"/>
          </p:cNvSpPr>
          <p:nvPr>
            <p:ph type="title" idx="6"/>
          </p:nvPr>
        </p:nvSpPr>
        <p:spPr>
          <a:xfrm>
            <a:off x="615479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280" name="Google Shape;280;p30"/>
          <p:cNvSpPr txBox="1">
            <a:spLocks noGrp="1"/>
          </p:cNvSpPr>
          <p:nvPr>
            <p:ph type="title" idx="5"/>
          </p:nvPr>
        </p:nvSpPr>
        <p:spPr>
          <a:xfrm>
            <a:off x="72001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Outlines</a:t>
            </a:r>
            <a:endParaRPr dirty="0"/>
          </a:p>
        </p:txBody>
      </p:sp>
      <p:sp>
        <p:nvSpPr>
          <p:cNvPr id="282" name="Google Shape;282;p30"/>
          <p:cNvSpPr txBox="1">
            <a:spLocks noGrp="1"/>
          </p:cNvSpPr>
          <p:nvPr>
            <p:ph type="title" idx="2"/>
          </p:nvPr>
        </p:nvSpPr>
        <p:spPr>
          <a:xfrm>
            <a:off x="72001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 idx="3"/>
          </p:nvPr>
        </p:nvSpPr>
        <p:spPr>
          <a:xfrm>
            <a:off x="6154790" y="1487504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284" name="Google Shape;284;p30"/>
          <p:cNvSpPr txBox="1">
            <a:spLocks noGrp="1"/>
          </p:cNvSpPr>
          <p:nvPr>
            <p:ph type="subTitle" idx="1"/>
          </p:nvPr>
        </p:nvSpPr>
        <p:spPr>
          <a:xfrm>
            <a:off x="72001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Project Overview &amp; Background</a:t>
            </a:r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4"/>
          </p:nvPr>
        </p:nvSpPr>
        <p:spPr>
          <a:xfrm>
            <a:off x="6154790" y="192730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Core Challenges Addressed</a:t>
            </a:r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8"/>
          </p:nvPr>
        </p:nvSpPr>
        <p:spPr>
          <a:xfrm>
            <a:off x="615479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Design &amp; Implementation Approach</a:t>
            </a:r>
            <a:endParaRPr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789E751C-480C-163C-0761-F7200ECE38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4484158"/>
                  </p:ext>
                </p:extLst>
              </p:nvPr>
            </p:nvGraphicFramePr>
            <p:xfrm>
              <a:off x="3293275" y="1131401"/>
              <a:ext cx="2557451" cy="288069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57451" cy="2880698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5659" ay="-697261" az="-542792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26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789E751C-480C-163C-0761-F7200ECE38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3275" y="1131401"/>
                <a:ext cx="2557451" cy="288069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C7279132-ECEC-9410-AB35-2C45A12E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>
            <a:extLst>
              <a:ext uri="{FF2B5EF4-FFF2-40B4-BE49-F238E27FC236}">
                <a16:creationId xmlns:a16="http://schemas.microsoft.com/office/drawing/2014/main" id="{AE326AFD-2CFB-7C91-C4E6-56799308098D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720010" y="1288871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05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5" name="Google Shape;275;p30">
            <a:extLst>
              <a:ext uri="{FF2B5EF4-FFF2-40B4-BE49-F238E27FC236}">
                <a16:creationId xmlns:a16="http://schemas.microsoft.com/office/drawing/2014/main" id="{DBF368FA-C3D0-7A69-3F46-14A5187E1D04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20010" y="2815796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07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6" name="Google Shape;276;p30">
            <a:extLst>
              <a:ext uri="{FF2B5EF4-FFF2-40B4-BE49-F238E27FC236}">
                <a16:creationId xmlns:a16="http://schemas.microsoft.com/office/drawing/2014/main" id="{775B54D7-2438-14F5-6739-E7A1B0771831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154790" y="1141599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06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7" name="Google Shape;277;p30">
            <a:extLst>
              <a:ext uri="{FF2B5EF4-FFF2-40B4-BE49-F238E27FC236}">
                <a16:creationId xmlns:a16="http://schemas.microsoft.com/office/drawing/2014/main" id="{1A0DEC73-0453-BBA4-F8F7-2867D04D9FD3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154790" y="2815796"/>
            <a:ext cx="868800" cy="5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B3A3A"/>
                </a:solidFill>
              </a:rPr>
              <a:t>08</a:t>
            </a:r>
            <a:endParaRPr dirty="0">
              <a:solidFill>
                <a:srgbClr val="3B3A3A"/>
              </a:solidFill>
            </a:endParaRPr>
          </a:p>
        </p:txBody>
      </p:sp>
      <p:sp>
        <p:nvSpPr>
          <p:cNvPr id="278" name="Google Shape;278;p30">
            <a:extLst>
              <a:ext uri="{FF2B5EF4-FFF2-40B4-BE49-F238E27FC236}">
                <a16:creationId xmlns:a16="http://schemas.microsoft.com/office/drawing/2014/main" id="{D2884B66-9C46-DB96-CC81-60EB5565B7A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001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Difficulties Encountered</a:t>
            </a:r>
            <a:endParaRPr dirty="0"/>
          </a:p>
        </p:txBody>
      </p:sp>
      <p:sp>
        <p:nvSpPr>
          <p:cNvPr id="279" name="Google Shape;279;p30">
            <a:extLst>
              <a:ext uri="{FF2B5EF4-FFF2-40B4-BE49-F238E27FC236}">
                <a16:creationId xmlns:a16="http://schemas.microsoft.com/office/drawing/2014/main" id="{407F62E9-1234-E701-438C-E7BA5419DF7F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15479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80" name="Google Shape;280;p30">
            <a:extLst>
              <a:ext uri="{FF2B5EF4-FFF2-40B4-BE49-F238E27FC236}">
                <a16:creationId xmlns:a16="http://schemas.microsoft.com/office/drawing/2014/main" id="{4E005F7A-65A5-E424-34CF-E23FB9E38BC0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2001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Challenges</a:t>
            </a:r>
            <a:endParaRPr dirty="0"/>
          </a:p>
        </p:txBody>
      </p:sp>
      <p:sp>
        <p:nvSpPr>
          <p:cNvPr id="281" name="Google Shape;281;p30">
            <a:extLst>
              <a:ext uri="{FF2B5EF4-FFF2-40B4-BE49-F238E27FC236}">
                <a16:creationId xmlns:a16="http://schemas.microsoft.com/office/drawing/2014/main" id="{D5E6424E-E86E-2E47-48B2-09831F91ED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Outlines</a:t>
            </a:r>
            <a:endParaRPr dirty="0"/>
          </a:p>
        </p:txBody>
      </p:sp>
      <p:sp>
        <p:nvSpPr>
          <p:cNvPr id="282" name="Google Shape;282;p30">
            <a:extLst>
              <a:ext uri="{FF2B5EF4-FFF2-40B4-BE49-F238E27FC236}">
                <a16:creationId xmlns:a16="http://schemas.microsoft.com/office/drawing/2014/main" id="{92001DDB-8403-27CE-7818-70C23A15E3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1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283" name="Google Shape;283;p30">
            <a:extLst>
              <a:ext uri="{FF2B5EF4-FFF2-40B4-BE49-F238E27FC236}">
                <a16:creationId xmlns:a16="http://schemas.microsoft.com/office/drawing/2014/main" id="{24D81308-998B-B175-754F-775F0E9BB805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154790" y="1487504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Improvements</a:t>
            </a:r>
            <a:endParaRPr dirty="0"/>
          </a:p>
        </p:txBody>
      </p:sp>
      <p:sp>
        <p:nvSpPr>
          <p:cNvPr id="284" name="Google Shape;284;p30">
            <a:extLst>
              <a:ext uri="{FF2B5EF4-FFF2-40B4-BE49-F238E27FC236}">
                <a16:creationId xmlns:a16="http://schemas.microsoft.com/office/drawing/2014/main" id="{EE297AE3-F03F-5F35-1650-98D6C064AF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1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Performance Outcomes Achieved</a:t>
            </a:r>
            <a:endParaRPr dirty="0"/>
          </a:p>
        </p:txBody>
      </p:sp>
      <p:sp>
        <p:nvSpPr>
          <p:cNvPr id="285" name="Google Shape;285;p30">
            <a:extLst>
              <a:ext uri="{FF2B5EF4-FFF2-40B4-BE49-F238E27FC236}">
                <a16:creationId xmlns:a16="http://schemas.microsoft.com/office/drawing/2014/main" id="{491081FE-0931-2DE0-5579-D20C2A264AE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154790" y="192730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</a:pPr>
            <a:r>
              <a:rPr lang="en-US" dirty="0"/>
              <a:t>Future Enhancements</a:t>
            </a:r>
          </a:p>
          <a:p>
            <a:pPr marL="0" lvl="0" indent="0">
              <a:buSzPts val="1100"/>
            </a:pPr>
            <a:endParaRPr dirty="0"/>
          </a:p>
        </p:txBody>
      </p:sp>
      <p:sp>
        <p:nvSpPr>
          <p:cNvPr id="286" name="Google Shape;286;p30">
            <a:extLst>
              <a:ext uri="{FF2B5EF4-FFF2-40B4-BE49-F238E27FC236}">
                <a16:creationId xmlns:a16="http://schemas.microsoft.com/office/drawing/2014/main" id="{3F93314C-F838-4F59-CC8A-76700E7A12B5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615479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Key Findings &amp; Contributions</a:t>
            </a:r>
            <a:endParaRPr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FCCA85B1-4833-A6E7-6E4C-E4163D7620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2864029"/>
                  </p:ext>
                </p:extLst>
              </p:nvPr>
            </p:nvGraphicFramePr>
            <p:xfrm>
              <a:off x="3054095" y="1161852"/>
              <a:ext cx="3035802" cy="281978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035802" cy="2819787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2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9269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FCCA85B1-4833-A6E7-6E4C-E4163D7620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4095" y="1161852"/>
                <a:ext cx="3035802" cy="28197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6227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469905" y="0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1"/>
          </p:nvPr>
        </p:nvSpPr>
        <p:spPr>
          <a:xfrm>
            <a:off x="469905" y="1322624"/>
            <a:ext cx="4494900" cy="30945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GB" dirty="0"/>
              <a:t>JeevI is a </a:t>
            </a:r>
            <a:r>
              <a:rPr lang="en-GB" b="1" dirty="0"/>
              <a:t>simulation-based</a:t>
            </a:r>
            <a:r>
              <a:rPr lang="en-GB" dirty="0"/>
              <a:t> </a:t>
            </a:r>
            <a:r>
              <a:rPr lang="en-GB" b="1" dirty="0"/>
              <a:t>quadrupedal robot </a:t>
            </a:r>
            <a:r>
              <a:rPr lang="en-GB" dirty="0"/>
              <a:t>developed to achieve robust locomotion in complex disaster-like terrains using </a:t>
            </a:r>
            <a:r>
              <a:rPr lang="en-GB" b="1" dirty="0"/>
              <a:t>Deep Reinforcement Learning</a:t>
            </a:r>
            <a:r>
              <a:rPr lang="en-GB" dirty="0"/>
              <a:t>. </a:t>
            </a:r>
          </a:p>
          <a:p>
            <a:pPr marL="0" lvl="0" indent="0">
              <a:buSzPts val="1100"/>
            </a:pPr>
            <a:endParaRPr lang="en-GB" dirty="0"/>
          </a:p>
          <a:p>
            <a:pPr marL="285750" lvl="0" indent="-285750">
              <a:buSzPts val="1100"/>
              <a:buFont typeface="Arial" panose="020B0604020202020204" pitchFamily="34" charset="0"/>
              <a:buChar char="•"/>
            </a:pPr>
            <a:r>
              <a:rPr lang="en-GB" dirty="0"/>
              <a:t>Designed and trained using </a:t>
            </a:r>
            <a:r>
              <a:rPr lang="en-GB" b="1" dirty="0"/>
              <a:t>NVIDIA Isaac Lab</a:t>
            </a:r>
          </a:p>
          <a:p>
            <a:pPr marL="285750" lvl="0" indent="-285750">
              <a:buSzPts val="1100"/>
              <a:buFont typeface="Arial" panose="020B0604020202020204" pitchFamily="34" charset="0"/>
              <a:buChar char="•"/>
            </a:pPr>
            <a:r>
              <a:rPr lang="en-GB" dirty="0"/>
              <a:t>Locomotion Policy trained using </a:t>
            </a:r>
            <a:r>
              <a:rPr lang="en-GB" b="1" dirty="0"/>
              <a:t>Proximal Policy Optimization (PPO)</a:t>
            </a:r>
          </a:p>
          <a:p>
            <a:pPr marL="285750" lvl="0" indent="-285750">
              <a:buSzPts val="1100"/>
              <a:buFont typeface="Arial" panose="020B0604020202020204" pitchFamily="34" charset="0"/>
              <a:buChar char="•"/>
            </a:pPr>
            <a:r>
              <a:rPr lang="en-GB" dirty="0"/>
              <a:t>Progressive training strategy: </a:t>
            </a:r>
            <a:r>
              <a:rPr lang="en-GB" b="1" dirty="0"/>
              <a:t>Flat → Rough → Box </a:t>
            </a:r>
            <a:r>
              <a:rPr lang="en-GB" dirty="0"/>
              <a:t>Terrain</a:t>
            </a:r>
          </a:p>
          <a:p>
            <a:pPr marL="285750" lvl="0" indent="-285750">
              <a:buSzPts val="1100"/>
              <a:buFont typeface="Arial" panose="020B0604020202020204" pitchFamily="34" charset="0"/>
              <a:buChar char="•"/>
            </a:pPr>
            <a:r>
              <a:rPr lang="en-GB" dirty="0"/>
              <a:t>Successful </a:t>
            </a:r>
            <a:r>
              <a:rPr lang="en-GB" b="1" dirty="0"/>
              <a:t>Transfer Learning </a:t>
            </a:r>
            <a:r>
              <a:rPr lang="en-GB" dirty="0"/>
              <a:t>across increasingly complex environments</a:t>
            </a:r>
            <a:endParaRPr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76D191E5-4FC0-2E45-3027-0CCF1EC2D3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39462"/>
                  </p:ext>
                </p:extLst>
              </p:nvPr>
            </p:nvGraphicFramePr>
            <p:xfrm>
              <a:off x="4926704" y="310013"/>
              <a:ext cx="3981400" cy="39814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981400" cy="3981400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304601" ay="-1927147" az="-135031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61004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76D191E5-4FC0-2E45-3027-0CCF1EC2D3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6704" y="310013"/>
                <a:ext cx="3981400" cy="398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128" accel="2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A73F-8971-6791-B6AC-E5F5A2B7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F5DF4F-9389-9239-8424-E52820461818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20010" y="1634776"/>
            <a:ext cx="2703600" cy="516000"/>
          </a:xfrm>
        </p:spPr>
        <p:txBody>
          <a:bodyPr/>
          <a:lstStyle/>
          <a:p>
            <a:r>
              <a:rPr lang="en-US" sz="1600" dirty="0"/>
              <a:t>Inaccessibility of </a:t>
            </a:r>
            <a:br>
              <a:rPr lang="en-US" sz="1600" dirty="0"/>
            </a:br>
            <a:r>
              <a:rPr lang="en-US" sz="1600" dirty="0"/>
              <a:t>Disaster Zones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F1C15F-6D4F-8457-1763-149C4F021F0E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792199" y="1647166"/>
            <a:ext cx="2703600" cy="516000"/>
          </a:xfrm>
        </p:spPr>
        <p:txBody>
          <a:bodyPr/>
          <a:lstStyle/>
          <a:p>
            <a:r>
              <a:rPr lang="en-GB" sz="1600" dirty="0"/>
              <a:t>Limitations of Existing Mobility Systems</a:t>
            </a:r>
            <a:endParaRPr lang="en-US" sz="16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C4303F-C1E5-0673-4EE5-90ED91A7BDCD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720010" y="3159201"/>
            <a:ext cx="2703600" cy="516000"/>
          </a:xfrm>
        </p:spPr>
        <p:txBody>
          <a:bodyPr/>
          <a:lstStyle/>
          <a:p>
            <a:r>
              <a:rPr lang="en-GB" sz="1600" dirty="0"/>
              <a:t>Lack of Robust Autonomous Locomotion</a:t>
            </a:r>
            <a:endParaRPr lang="en-US" sz="16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BCACEAC-5731-D792-F49C-BDDCA4FEA37C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4792199" y="3171591"/>
            <a:ext cx="2703600" cy="516000"/>
          </a:xfrm>
        </p:spPr>
        <p:txBody>
          <a:bodyPr/>
          <a:lstStyle/>
          <a:p>
            <a:r>
              <a:rPr lang="en-US" sz="1600" dirty="0"/>
              <a:t>Need for Simulation-First Development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3D Model 22">
                <a:extLst>
                  <a:ext uri="{FF2B5EF4-FFF2-40B4-BE49-F238E27FC236}">
                    <a16:creationId xmlns:a16="http://schemas.microsoft.com/office/drawing/2014/main" id="{E45B4387-B554-4988-89A0-95A31AFD2E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1461688"/>
                  </p:ext>
                </p:extLst>
              </p:nvPr>
            </p:nvGraphicFramePr>
            <p:xfrm>
              <a:off x="6086851" y="-1714441"/>
              <a:ext cx="3962345" cy="422904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62345" cy="4229041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832890" ay="-1385896" az="-135383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6100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3D Model 22">
                <a:extLst>
                  <a:ext uri="{FF2B5EF4-FFF2-40B4-BE49-F238E27FC236}">
                    <a16:creationId xmlns:a16="http://schemas.microsoft.com/office/drawing/2014/main" id="{E45B4387-B554-4988-89A0-95A31AFD2E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6851" y="-1714441"/>
                <a:ext cx="3962345" cy="4229041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2F84CC9-7BAA-47F3-109B-60D976B9AECB}"/>
              </a:ext>
            </a:extLst>
          </p:cNvPr>
          <p:cNvSpPr txBox="1"/>
          <p:nvPr/>
        </p:nvSpPr>
        <p:spPr>
          <a:xfrm>
            <a:off x="713160" y="2150776"/>
            <a:ext cx="270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Disasters create unstructured terrain that is difficult to access.</a:t>
            </a:r>
            <a:endParaRPr lang="en-US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95AFB-AD2B-4AF8-23C9-1415809132D4}"/>
              </a:ext>
            </a:extLst>
          </p:cNvPr>
          <p:cNvSpPr txBox="1"/>
          <p:nvPr/>
        </p:nvSpPr>
        <p:spPr>
          <a:xfrm>
            <a:off x="4792199" y="2154236"/>
            <a:ext cx="270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Wheeled and tracked robots struggle on rubble and uneven surfaces.</a:t>
            </a:r>
            <a:endParaRPr lang="en-US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773528-0601-B174-CEA2-36D30E8BBB13}"/>
              </a:ext>
            </a:extLst>
          </p:cNvPr>
          <p:cNvSpPr txBox="1"/>
          <p:nvPr/>
        </p:nvSpPr>
        <p:spPr>
          <a:xfrm>
            <a:off x="720000" y="3675201"/>
            <a:ext cx="270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Stable quadrupedal locomotion in irregular terrain remains a challenging control problem</a:t>
            </a:r>
            <a:r>
              <a:rPr lang="en-GB" sz="1200" dirty="0"/>
              <a:t>.</a:t>
            </a:r>
            <a:endParaRPr lang="en-US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D0E04C-D9FD-72BF-3811-F52AAF7D5025}"/>
              </a:ext>
            </a:extLst>
          </p:cNvPr>
          <p:cNvSpPr txBox="1"/>
          <p:nvPr/>
        </p:nvSpPr>
        <p:spPr>
          <a:xfrm>
            <a:off x="4792199" y="3675201"/>
            <a:ext cx="270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Training directly on physical robots is costly and risky.</a:t>
            </a:r>
            <a:endParaRPr lang="en-US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  <p:extLst>
      <p:ext uri="{BB962C8B-B14F-4D97-AF65-F5344CB8AC3E}">
        <p14:creationId xmlns:p14="http://schemas.microsoft.com/office/powerpoint/2010/main" val="3713255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390" name="Google Shape;390;p35"/>
          <p:cNvSpPr txBox="1">
            <a:spLocks noGrp="1"/>
          </p:cNvSpPr>
          <p:nvPr>
            <p:ph type="subTitle" idx="1"/>
          </p:nvPr>
        </p:nvSpPr>
        <p:spPr>
          <a:xfrm>
            <a:off x="1402216" y="2422945"/>
            <a:ext cx="2071200" cy="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GB" dirty="0"/>
              <a:t>To design a custom 12-DOF Quadrupedal Robot and successfully integrate it into NVIDIA Isaac Sim</a:t>
            </a:r>
            <a:endParaRPr dirty="0"/>
          </a:p>
        </p:txBody>
      </p:sp>
      <p:sp>
        <p:nvSpPr>
          <p:cNvPr id="391" name="Google Shape;391;p35"/>
          <p:cNvSpPr txBox="1">
            <a:spLocks noGrp="1"/>
          </p:cNvSpPr>
          <p:nvPr>
            <p:ph type="subTitle" idx="3"/>
          </p:nvPr>
        </p:nvSpPr>
        <p:spPr>
          <a:xfrm>
            <a:off x="3684883" y="2422945"/>
            <a:ext cx="2071200" cy="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GB" dirty="0"/>
              <a:t>To train locomotion control policy using Deep Reinforcement Learning (PPO) on flat terrain.</a:t>
            </a:r>
            <a:endParaRPr dirty="0"/>
          </a:p>
        </p:txBody>
      </p:sp>
      <p:sp>
        <p:nvSpPr>
          <p:cNvPr id="392" name="Google Shape;392;p35"/>
          <p:cNvSpPr txBox="1">
            <a:spLocks noGrp="1"/>
          </p:cNvSpPr>
          <p:nvPr>
            <p:ph type="subTitle" idx="5"/>
          </p:nvPr>
        </p:nvSpPr>
        <p:spPr>
          <a:xfrm>
            <a:off x="5967566" y="2422945"/>
            <a:ext cx="2071200" cy="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GB" dirty="0"/>
              <a:t>To improve the trained locomotion policy on Rough and box Terrain</a:t>
            </a:r>
            <a:endParaRPr dirty="0"/>
          </a:p>
        </p:txBody>
      </p:sp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5967565" y="1660345"/>
            <a:ext cx="2071200" cy="7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Terrain Generalization</a:t>
            </a:r>
            <a:endParaRPr dirty="0"/>
          </a:p>
        </p:txBody>
      </p:sp>
      <p:sp>
        <p:nvSpPr>
          <p:cNvPr id="394" name="Google Shape;394;p35"/>
          <p:cNvSpPr txBox="1">
            <a:spLocks noGrp="1"/>
          </p:cNvSpPr>
          <p:nvPr>
            <p:ph type="title" idx="2"/>
          </p:nvPr>
        </p:nvSpPr>
        <p:spPr>
          <a:xfrm>
            <a:off x="3684889" y="1660345"/>
            <a:ext cx="2071200" cy="7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Locomotion Policy Training</a:t>
            </a:r>
            <a:endParaRPr dirty="0"/>
          </a:p>
        </p:txBody>
      </p:sp>
      <p:sp>
        <p:nvSpPr>
          <p:cNvPr id="395" name="Google Shape;395;p35"/>
          <p:cNvSpPr txBox="1">
            <a:spLocks noGrp="1"/>
          </p:cNvSpPr>
          <p:nvPr>
            <p:ph type="title" idx="4"/>
          </p:nvPr>
        </p:nvSpPr>
        <p:spPr>
          <a:xfrm>
            <a:off x="1402217" y="1660345"/>
            <a:ext cx="2071200" cy="7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Robot Design &amp; Simulation</a:t>
            </a:r>
            <a:endParaRPr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BF840F46-65B7-2FEA-8425-57BF3DB44E1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8145297"/>
                  </p:ext>
                </p:extLst>
              </p:nvPr>
            </p:nvGraphicFramePr>
            <p:xfrm>
              <a:off x="6109663" y="2372145"/>
              <a:ext cx="4000444" cy="371469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000444" cy="3714698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542212" ay="-885903" az="-1013305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6100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BF840F46-65B7-2FEA-8425-57BF3DB44E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09663" y="2372145"/>
                <a:ext cx="4000444" cy="371469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Methodology</a:t>
            </a:r>
          </a:p>
        </p:txBody>
      </p:sp>
      <p:sp>
        <p:nvSpPr>
          <p:cNvPr id="545" name="Google Shape;545;p44"/>
          <p:cNvSpPr/>
          <p:nvPr/>
        </p:nvSpPr>
        <p:spPr>
          <a:xfrm>
            <a:off x="821838" y="2649200"/>
            <a:ext cx="1566900" cy="352800"/>
          </a:xfrm>
          <a:prstGeom prst="rect">
            <a:avLst/>
          </a:prstGeom>
          <a:solidFill>
            <a:srgbClr val="3B3A3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2799638" y="2649200"/>
            <a:ext cx="1566900" cy="352800"/>
          </a:xfrm>
          <a:prstGeom prst="rect">
            <a:avLst/>
          </a:prstGeom>
          <a:solidFill>
            <a:srgbClr val="3B3A3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Policy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4777438" y="2649200"/>
            <a:ext cx="1566900" cy="352800"/>
          </a:xfrm>
          <a:prstGeom prst="rect">
            <a:avLst/>
          </a:prstGeom>
          <a:solidFill>
            <a:srgbClr val="3B3A3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Training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6755238" y="2649200"/>
            <a:ext cx="1566900" cy="352800"/>
          </a:xfrm>
          <a:prstGeom prst="rect">
            <a:avLst/>
          </a:prstGeom>
          <a:solidFill>
            <a:srgbClr val="3B3A3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Evaluation</a:t>
            </a:r>
            <a:endParaRPr sz="1800" b="1" dirty="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2799663" y="1194125"/>
            <a:ext cx="1566900" cy="107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Flat, Rough, and Box Terrain Creation, </a:t>
            </a: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Markov Decision Process (MDP) Formulation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6755213" y="1194125"/>
            <a:ext cx="1566900" cy="107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Reward Convergence,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Episode Length, Comparative Analysis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1" name="Google Shape;551;p44"/>
          <p:cNvSpPr/>
          <p:nvPr/>
        </p:nvSpPr>
        <p:spPr>
          <a:xfrm>
            <a:off x="4777438" y="3383000"/>
            <a:ext cx="1566900" cy="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PPO Implementation, Training Robot in Different Terrain</a:t>
            </a:r>
            <a:endParaRPr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821838" y="3383000"/>
            <a:ext cx="1566900" cy="96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3D Modeling of Robot,</a:t>
            </a:r>
          </a:p>
          <a:p>
            <a:pPr algn="ctr"/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Integration into NVIDIA Isaac Sim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553" name="Google Shape;553;p44"/>
          <p:cNvCxnSpPr>
            <a:cxnSpLocks/>
            <a:stCxn id="545" idx="2"/>
            <a:endCxn id="552" idx="0"/>
          </p:cNvCxnSpPr>
          <p:nvPr/>
        </p:nvCxnSpPr>
        <p:spPr>
          <a:xfrm>
            <a:off x="1605288" y="3002000"/>
            <a:ext cx="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44"/>
          <p:cNvCxnSpPr>
            <a:cxnSpLocks/>
            <a:stCxn id="549" idx="2"/>
            <a:endCxn id="546" idx="0"/>
          </p:cNvCxnSpPr>
          <p:nvPr/>
        </p:nvCxnSpPr>
        <p:spPr>
          <a:xfrm flipH="1">
            <a:off x="3583088" y="2268200"/>
            <a:ext cx="25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44"/>
          <p:cNvCxnSpPr>
            <a:cxnSpLocks/>
            <a:stCxn id="547" idx="2"/>
            <a:endCxn id="551" idx="0"/>
          </p:cNvCxnSpPr>
          <p:nvPr/>
        </p:nvCxnSpPr>
        <p:spPr>
          <a:xfrm>
            <a:off x="5560888" y="3002000"/>
            <a:ext cx="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44"/>
          <p:cNvCxnSpPr>
            <a:cxnSpLocks/>
            <a:stCxn id="550" idx="2"/>
            <a:endCxn id="548" idx="0"/>
          </p:cNvCxnSpPr>
          <p:nvPr/>
        </p:nvCxnSpPr>
        <p:spPr>
          <a:xfrm>
            <a:off x="7538663" y="2268200"/>
            <a:ext cx="25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4"/>
          <p:cNvCxnSpPr>
            <a:cxnSpLocks/>
          </p:cNvCxnSpPr>
          <p:nvPr/>
        </p:nvCxnSpPr>
        <p:spPr>
          <a:xfrm flipH="1">
            <a:off x="2388638" y="2825600"/>
            <a:ext cx="41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58" name="Google Shape;558;p44"/>
          <p:cNvCxnSpPr>
            <a:cxnSpLocks/>
          </p:cNvCxnSpPr>
          <p:nvPr/>
        </p:nvCxnSpPr>
        <p:spPr>
          <a:xfrm flipH="1">
            <a:off x="4366538" y="2825600"/>
            <a:ext cx="41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59" name="Google Shape;559;p44"/>
          <p:cNvCxnSpPr>
            <a:cxnSpLocks/>
          </p:cNvCxnSpPr>
          <p:nvPr/>
        </p:nvCxnSpPr>
        <p:spPr>
          <a:xfrm flipH="1">
            <a:off x="6344338" y="2825600"/>
            <a:ext cx="41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E06679CB-45B4-0F5E-4CEC-A2D23E343EE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0138046"/>
                  </p:ext>
                </p:extLst>
              </p:nvPr>
            </p:nvGraphicFramePr>
            <p:xfrm>
              <a:off x="996864" y="1546566"/>
              <a:ext cx="1216948" cy="99470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6948" cy="994702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 ay="3600000" az="54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5401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E06679CB-45B4-0F5E-4CEC-A2D23E343E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864" y="1546566"/>
                <a:ext cx="1216948" cy="99470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C49E-CB5A-AC47-F991-32B7AE54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Isaac Sim &amp; Isaac Lab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52789-8EA5-946F-A4B6-A8437007D37F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30163" y="1161230"/>
            <a:ext cx="3384635" cy="459900"/>
          </a:xfrm>
        </p:spPr>
        <p:txBody>
          <a:bodyPr/>
          <a:lstStyle/>
          <a:p>
            <a:pPr algn="l"/>
            <a:r>
              <a:rPr lang="en-US" dirty="0"/>
              <a:t>Isaac Sim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B368EC-D298-C0ED-FA3F-53D59B5B68F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730159" y="2866420"/>
            <a:ext cx="3384639" cy="459900"/>
          </a:xfrm>
        </p:spPr>
        <p:txBody>
          <a:bodyPr/>
          <a:lstStyle/>
          <a:p>
            <a:pPr algn="l"/>
            <a:r>
              <a:rPr lang="en-US" dirty="0"/>
              <a:t>Isaac 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90AD47-1CD4-A2CB-7F81-4E1C86E90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385" y="1498505"/>
            <a:ext cx="3079836" cy="1245365"/>
          </a:xfrm>
        </p:spPr>
        <p:txBody>
          <a:bodyPr/>
          <a:lstStyle/>
          <a:p>
            <a:pPr marL="152400" indent="0">
              <a:buNone/>
            </a:pPr>
            <a:r>
              <a:rPr lang="en-US" dirty="0"/>
              <a:t>Isaac Sim is NVIDIA’s </a:t>
            </a:r>
            <a:r>
              <a:rPr lang="en-US" b="1" dirty="0"/>
              <a:t>robotics simulation platform </a:t>
            </a:r>
            <a:r>
              <a:rPr lang="en-US" dirty="0"/>
              <a:t>built on the Omniverse. It lets you </a:t>
            </a:r>
            <a:r>
              <a:rPr lang="en-US" b="1" dirty="0"/>
              <a:t>bring robot models into a physically realistic virtual world, add physics, sensors, and environments, and interact </a:t>
            </a:r>
            <a:r>
              <a:rPr lang="en-US" dirty="0"/>
              <a:t>with them just like you would in the real world.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2D6EEB-1BE1-2F39-8A10-B1067724C7B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85385" y="3221030"/>
            <a:ext cx="3079836" cy="1450800"/>
          </a:xfrm>
        </p:spPr>
        <p:txBody>
          <a:bodyPr/>
          <a:lstStyle/>
          <a:p>
            <a:pPr marL="152400" indent="0">
              <a:buNone/>
            </a:pPr>
            <a:r>
              <a:rPr lang="en-US" dirty="0"/>
              <a:t>Isaac Lab is a </a:t>
            </a:r>
            <a:r>
              <a:rPr lang="en-US" b="1" dirty="0"/>
              <a:t>robot learning and training framework </a:t>
            </a:r>
            <a:r>
              <a:rPr lang="en-US" dirty="0"/>
              <a:t>built on top of Isaac Sim. It adds easy-to-use </a:t>
            </a:r>
            <a:r>
              <a:rPr lang="en-US" b="1" dirty="0"/>
              <a:t>reinforcement learning </a:t>
            </a:r>
            <a:r>
              <a:rPr lang="en-US" dirty="0"/>
              <a:t>and skill training tools, letting you train and refine </a:t>
            </a:r>
            <a:r>
              <a:rPr lang="en-US" b="1" dirty="0"/>
              <a:t>robot policies </a:t>
            </a:r>
            <a:r>
              <a:rPr lang="en-US" dirty="0"/>
              <a:t>efficiently using Python APIs and GPU acceleration.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4ABE2-B1B6-CB0B-7AE9-3D844F05D8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EFEFEF">
                <a:tint val="45000"/>
                <a:satMod val="400000"/>
              </a:srgbClr>
            </a:duotone>
          </a:blip>
          <a:srcRect t="8027" b="13922"/>
          <a:stretch>
            <a:fillRect/>
          </a:stretch>
        </p:blipFill>
        <p:spPr>
          <a:xfrm>
            <a:off x="3665221" y="1480641"/>
            <a:ext cx="5326380" cy="2771557"/>
          </a:xfrm>
          <a:prstGeom prst="roundRect">
            <a:avLst>
              <a:gd name="adj" fmla="val 15905"/>
            </a:avLst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>
                <a:extLst>
                  <a:ext uri="{FF2B5EF4-FFF2-40B4-BE49-F238E27FC236}">
                    <a16:creationId xmlns:a16="http://schemas.microsoft.com/office/drawing/2014/main" id="{53BC58AB-8F4E-726E-7363-6BEDD78196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9203603"/>
                  </p:ext>
                </p:extLst>
              </p:nvPr>
            </p:nvGraphicFramePr>
            <p:xfrm>
              <a:off x="6937535" y="264813"/>
              <a:ext cx="2054064" cy="134406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54064" cy="1344065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1040" ay="-807736" az="-25981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2252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>
                <a:extLst>
                  <a:ext uri="{FF2B5EF4-FFF2-40B4-BE49-F238E27FC236}">
                    <a16:creationId xmlns:a16="http://schemas.microsoft.com/office/drawing/2014/main" id="{53BC58AB-8F4E-726E-7363-6BEDD78196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7535" y="264813"/>
                <a:ext cx="2054064" cy="13440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2327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F8C8EAC5-C4FC-67FA-6936-2BB4E6C7548F}"/>
              </a:ext>
            </a:extLst>
          </p:cNvPr>
          <p:cNvSpPr/>
          <p:nvPr/>
        </p:nvSpPr>
        <p:spPr>
          <a:xfrm>
            <a:off x="2712720" y="4617720"/>
            <a:ext cx="3741420" cy="20054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A4B10-D0EB-DF89-1637-6DD40FF8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Design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93032BB2-3849-993F-2D54-54D328FF6C8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9805327"/>
                  </p:ext>
                </p:extLst>
              </p:nvPr>
            </p:nvGraphicFramePr>
            <p:xfrm>
              <a:off x="2436581" y="631105"/>
              <a:ext cx="4590878" cy="437323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590878" cy="4373235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700000" ay="1800000" az="9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574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93032BB2-3849-993F-2D54-54D328FF6C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6581" y="631105"/>
                <a:ext cx="4590878" cy="4373235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587E4CC-09DA-1F6D-D2B9-A452677544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13220" y="2304960"/>
            <a:ext cx="870000" cy="426533"/>
          </a:xfrm>
          <a:prstGeom prst="bentConnector3">
            <a:avLst>
              <a:gd name="adj1" fmla="val 50000"/>
            </a:avLst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552;p44">
            <a:extLst>
              <a:ext uri="{FF2B5EF4-FFF2-40B4-BE49-F238E27FC236}">
                <a16:creationId xmlns:a16="http://schemas.microsoft.com/office/drawing/2014/main" id="{6FDE1191-6F36-8E04-6F8F-B98F4B866721}"/>
              </a:ext>
            </a:extLst>
          </p:cNvPr>
          <p:cNvSpPr/>
          <p:nvPr/>
        </p:nvSpPr>
        <p:spPr>
          <a:xfrm>
            <a:off x="7368942" y="2131085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Rear Left Leg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D3BCC40-0A95-8743-825C-3AD5E2B311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74692" y="1725652"/>
            <a:ext cx="892048" cy="390145"/>
          </a:xfrm>
          <a:prstGeom prst="bentConnector3">
            <a:avLst>
              <a:gd name="adj1" fmla="val 50000"/>
            </a:avLst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552;p44">
            <a:extLst>
              <a:ext uri="{FF2B5EF4-FFF2-40B4-BE49-F238E27FC236}">
                <a16:creationId xmlns:a16="http://schemas.microsoft.com/office/drawing/2014/main" id="{A6B9FCD3-3348-B07F-BD0E-EBD6C0CAC398}"/>
              </a:ext>
            </a:extLst>
          </p:cNvPr>
          <p:cNvSpPr/>
          <p:nvPr/>
        </p:nvSpPr>
        <p:spPr>
          <a:xfrm>
            <a:off x="5455390" y="1545248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Rear Right Leg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DBCD3F-6304-1851-B0A3-A38E1B592087}"/>
              </a:ext>
            </a:extLst>
          </p:cNvPr>
          <p:cNvCxnSpPr>
            <a:cxnSpLocks/>
          </p:cNvCxnSpPr>
          <p:nvPr/>
        </p:nvCxnSpPr>
        <p:spPr>
          <a:xfrm flipH="1">
            <a:off x="5577957" y="4713904"/>
            <a:ext cx="783450" cy="0"/>
          </a:xfrm>
          <a:prstGeom prst="straightConnector1">
            <a:avLst/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552;p44">
            <a:extLst>
              <a:ext uri="{FF2B5EF4-FFF2-40B4-BE49-F238E27FC236}">
                <a16:creationId xmlns:a16="http://schemas.microsoft.com/office/drawing/2014/main" id="{24366DE6-31E7-C4F6-3B4C-5E90D2844F1F}"/>
              </a:ext>
            </a:extLst>
          </p:cNvPr>
          <p:cNvSpPr/>
          <p:nvPr/>
        </p:nvSpPr>
        <p:spPr>
          <a:xfrm>
            <a:off x="6158830" y="4524599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Front Left Leg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593AFCF-E32C-2882-D55B-0F858B5B3B91}"/>
              </a:ext>
            </a:extLst>
          </p:cNvPr>
          <p:cNvCxnSpPr>
            <a:cxnSpLocks/>
          </p:cNvCxnSpPr>
          <p:nvPr/>
        </p:nvCxnSpPr>
        <p:spPr>
          <a:xfrm flipV="1">
            <a:off x="1409382" y="3209890"/>
            <a:ext cx="1051392" cy="993648"/>
          </a:xfrm>
          <a:prstGeom prst="bentConnector3">
            <a:avLst/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552;p44">
            <a:extLst>
              <a:ext uri="{FF2B5EF4-FFF2-40B4-BE49-F238E27FC236}">
                <a16:creationId xmlns:a16="http://schemas.microsoft.com/office/drawing/2014/main" id="{E68DBF8A-75A5-1369-82CF-F17F264769B7}"/>
              </a:ext>
            </a:extLst>
          </p:cNvPr>
          <p:cNvSpPr/>
          <p:nvPr/>
        </p:nvSpPr>
        <p:spPr>
          <a:xfrm>
            <a:off x="82488" y="3997859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Front Right Leg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9" name="Google Shape;552;p44">
            <a:extLst>
              <a:ext uri="{FF2B5EF4-FFF2-40B4-BE49-F238E27FC236}">
                <a16:creationId xmlns:a16="http://schemas.microsoft.com/office/drawing/2014/main" id="{C8C6CA58-6BB0-580E-BBAB-617EC32D51C2}"/>
              </a:ext>
            </a:extLst>
          </p:cNvPr>
          <p:cNvSpPr/>
          <p:nvPr/>
        </p:nvSpPr>
        <p:spPr>
          <a:xfrm>
            <a:off x="3869633" y="4424858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Main Body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2AD9DDF-C119-30FE-97D2-2C77617FB93F}"/>
              </a:ext>
            </a:extLst>
          </p:cNvPr>
          <p:cNvCxnSpPr>
            <a:cxnSpLocks/>
          </p:cNvCxnSpPr>
          <p:nvPr/>
        </p:nvCxnSpPr>
        <p:spPr>
          <a:xfrm>
            <a:off x="1880820" y="2097966"/>
            <a:ext cx="979200" cy="3817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Google Shape;552;p44">
            <a:extLst>
              <a:ext uri="{FF2B5EF4-FFF2-40B4-BE49-F238E27FC236}">
                <a16:creationId xmlns:a16="http://schemas.microsoft.com/office/drawing/2014/main" id="{37C8FC3C-42ED-33A5-B53F-15E62D626190}"/>
              </a:ext>
            </a:extLst>
          </p:cNvPr>
          <p:cNvSpPr/>
          <p:nvPr/>
        </p:nvSpPr>
        <p:spPr>
          <a:xfrm>
            <a:off x="695795" y="1896775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Knee Joint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B93E6BCF-5AA9-994A-E9E8-D0E6AADC42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63070" y="2077650"/>
            <a:ext cx="838493" cy="469192"/>
          </a:xfrm>
          <a:prstGeom prst="bentConnector3">
            <a:avLst>
              <a:gd name="adj1" fmla="val 50000"/>
            </a:avLst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oogle Shape;552;p44">
            <a:extLst>
              <a:ext uri="{FF2B5EF4-FFF2-40B4-BE49-F238E27FC236}">
                <a16:creationId xmlns:a16="http://schemas.microsoft.com/office/drawing/2014/main" id="{5F93E921-9C3D-0D23-AC38-37FC47A6B0F0}"/>
              </a:ext>
            </a:extLst>
          </p:cNvPr>
          <p:cNvSpPr/>
          <p:nvPr/>
        </p:nvSpPr>
        <p:spPr>
          <a:xfrm>
            <a:off x="2664270" y="1582564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Hip Roll Joint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" name="Google Shape;552;p44">
            <a:extLst>
              <a:ext uri="{FF2B5EF4-FFF2-40B4-BE49-F238E27FC236}">
                <a16:creationId xmlns:a16="http://schemas.microsoft.com/office/drawing/2014/main" id="{76D5AD72-D193-E1C8-AD7B-3E1ECD4563E6}"/>
              </a:ext>
            </a:extLst>
          </p:cNvPr>
          <p:cNvSpPr/>
          <p:nvPr/>
        </p:nvSpPr>
        <p:spPr>
          <a:xfrm>
            <a:off x="5785509" y="4038035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Hip Pitch Joint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0" name="Google Shape;395;p35">
            <a:extLst>
              <a:ext uri="{FF2B5EF4-FFF2-40B4-BE49-F238E27FC236}">
                <a16:creationId xmlns:a16="http://schemas.microsoft.com/office/drawing/2014/main" id="{88B8D7EF-14AD-DE3F-8FFC-2BDE7E390656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Robot Structure, Joints &amp; Sensors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477F765-A709-E0B1-0668-98821391CE5C}"/>
              </a:ext>
            </a:extLst>
          </p:cNvPr>
          <p:cNvCxnSpPr>
            <a:stCxn id="39" idx="0"/>
          </p:cNvCxnSpPr>
          <p:nvPr/>
        </p:nvCxnSpPr>
        <p:spPr>
          <a:xfrm flipV="1">
            <a:off x="4653083" y="3708358"/>
            <a:ext cx="0" cy="716500"/>
          </a:xfrm>
          <a:prstGeom prst="straightConnector1">
            <a:avLst/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B4CBD726-6D84-245C-7555-00AA177891BF}"/>
              </a:ext>
            </a:extLst>
          </p:cNvPr>
          <p:cNvCxnSpPr>
            <a:cxnSpLocks/>
          </p:cNvCxnSpPr>
          <p:nvPr/>
        </p:nvCxnSpPr>
        <p:spPr>
          <a:xfrm flipV="1">
            <a:off x="3237883" y="3557643"/>
            <a:ext cx="1113139" cy="720311"/>
          </a:xfrm>
          <a:prstGeom prst="bentConnector3">
            <a:avLst>
              <a:gd name="adj1" fmla="val 50000"/>
            </a:avLst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Google Shape;552;p44">
            <a:extLst>
              <a:ext uri="{FF2B5EF4-FFF2-40B4-BE49-F238E27FC236}">
                <a16:creationId xmlns:a16="http://schemas.microsoft.com/office/drawing/2014/main" id="{3649373D-37E6-8F37-2E33-AE044C887B52}"/>
              </a:ext>
            </a:extLst>
          </p:cNvPr>
          <p:cNvSpPr/>
          <p:nvPr/>
        </p:nvSpPr>
        <p:spPr>
          <a:xfrm>
            <a:off x="2181765" y="3917798"/>
            <a:ext cx="1094475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Inertial Measurement Unit (IMU)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B5891AAF-FAC0-63C3-64BF-47F1C201E57A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92488" y="3344012"/>
            <a:ext cx="701719" cy="648354"/>
          </a:xfrm>
          <a:prstGeom prst="bentConnector3">
            <a:avLst/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5AE8C683-8F71-974D-A615-91A4D311FECF}"/>
              </a:ext>
            </a:extLst>
          </p:cNvPr>
          <p:cNvCxnSpPr>
            <a:cxnSpLocks/>
          </p:cNvCxnSpPr>
          <p:nvPr/>
        </p:nvCxnSpPr>
        <p:spPr>
          <a:xfrm rot="10800000">
            <a:off x="6863117" y="3209890"/>
            <a:ext cx="884446" cy="309756"/>
          </a:xfrm>
          <a:prstGeom prst="bentConnector3">
            <a:avLst/>
          </a:prstGeom>
          <a:ln>
            <a:solidFill>
              <a:srgbClr val="3B3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Google Shape;552;p44">
            <a:extLst>
              <a:ext uri="{FF2B5EF4-FFF2-40B4-BE49-F238E27FC236}">
                <a16:creationId xmlns:a16="http://schemas.microsoft.com/office/drawing/2014/main" id="{AEB95C7F-4952-298A-FB07-A384845A88EB}"/>
              </a:ext>
            </a:extLst>
          </p:cNvPr>
          <p:cNvSpPr/>
          <p:nvPr/>
        </p:nvSpPr>
        <p:spPr>
          <a:xfrm>
            <a:off x="7494855" y="3338150"/>
            <a:ext cx="1566900" cy="347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Foot Contact Sensors</a:t>
            </a: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  <p:extLst>
      <p:ext uri="{BB962C8B-B14F-4D97-AF65-F5344CB8AC3E}">
        <p14:creationId xmlns:p14="http://schemas.microsoft.com/office/powerpoint/2010/main" val="3095662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3A1191-0BCA-927D-A449-536C5BC3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080" y="1378929"/>
            <a:ext cx="4047000" cy="2955705"/>
          </a:xfrm>
        </p:spPr>
        <p:txBody>
          <a:bodyPr/>
          <a:lstStyle/>
          <a:p>
            <a:r>
              <a:rPr lang="en-US" b="1" dirty="0"/>
              <a:t>Designed</a:t>
            </a:r>
            <a:r>
              <a:rPr lang="en-US" dirty="0"/>
              <a:t> individual mechanical components in Fusion 360</a:t>
            </a:r>
          </a:p>
          <a:p>
            <a:r>
              <a:rPr lang="en-US" b="1" dirty="0"/>
              <a:t>Assembled</a:t>
            </a:r>
            <a:r>
              <a:rPr lang="en-US" dirty="0"/>
              <a:t> using revolute joints to form 12-DOF quadruped in Fusion 360</a:t>
            </a:r>
          </a:p>
          <a:p>
            <a:r>
              <a:rPr lang="en-US" dirty="0"/>
              <a:t>Exported assembled model to </a:t>
            </a:r>
            <a:r>
              <a:rPr lang="en-US" b="1" dirty="0"/>
              <a:t>URDF format</a:t>
            </a:r>
          </a:p>
          <a:p>
            <a:r>
              <a:rPr lang="en-US" dirty="0"/>
              <a:t>Imported URDF into Isaac Sim and converted to USD Articulation</a:t>
            </a:r>
          </a:p>
          <a:p>
            <a:r>
              <a:rPr lang="en-US" dirty="0"/>
              <a:t>Configured Joint Drives, Stiffness, Damping, and Limits</a:t>
            </a:r>
          </a:p>
          <a:p>
            <a:r>
              <a:rPr lang="en-US" dirty="0"/>
              <a:t>Attached simulated sensors (IMU, Encoders, Contact Sensors)</a:t>
            </a:r>
          </a:p>
          <a:p>
            <a:r>
              <a:rPr lang="en-US" dirty="0"/>
              <a:t>Export Robot USD file into Isaac Lab for RL Training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0AC3BC-B6D4-9983-2F5D-48EC2F1D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Design</a:t>
            </a:r>
          </a:p>
        </p:txBody>
      </p:sp>
      <p:sp>
        <p:nvSpPr>
          <p:cNvPr id="4" name="Google Shape;395;p35">
            <a:extLst>
              <a:ext uri="{FF2B5EF4-FFF2-40B4-BE49-F238E27FC236}">
                <a16:creationId xmlns:a16="http://schemas.microsoft.com/office/drawing/2014/main" id="{36ABB4D3-8943-BC22-74E4-7D7EF72C763D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Design Steps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3D Model 20">
                <a:extLst>
                  <a:ext uri="{FF2B5EF4-FFF2-40B4-BE49-F238E27FC236}">
                    <a16:creationId xmlns:a16="http://schemas.microsoft.com/office/drawing/2014/main" id="{BFD38F10-A621-5578-4294-30EDF2F74D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0125607"/>
                  </p:ext>
                </p:extLst>
              </p:nvPr>
            </p:nvGraphicFramePr>
            <p:xfrm>
              <a:off x="136504" y="3856790"/>
              <a:ext cx="1166991" cy="107565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66991" cy="1075653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90709" ay="2372956" az="131571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2998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3D Model 20">
                <a:extLst>
                  <a:ext uri="{FF2B5EF4-FFF2-40B4-BE49-F238E27FC236}">
                    <a16:creationId xmlns:a16="http://schemas.microsoft.com/office/drawing/2014/main" id="{BFD38F10-A621-5578-4294-30EDF2F74D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504" y="3856790"/>
                <a:ext cx="1166991" cy="107565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6E23212-0764-15C3-8246-E46ACBA51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302427"/>
              </p:ext>
            </p:extLst>
          </p:nvPr>
        </p:nvGraphicFramePr>
        <p:xfrm>
          <a:off x="4746303" y="1512815"/>
          <a:ext cx="3901342" cy="2423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447">
                  <a:extLst>
                    <a:ext uri="{9D8B030D-6E8A-4147-A177-3AD203B41FA5}">
                      <a16:colId xmlns:a16="http://schemas.microsoft.com/office/drawing/2014/main" val="1807340092"/>
                    </a:ext>
                  </a:extLst>
                </a:gridCol>
                <a:gridCol w="650224">
                  <a:extLst>
                    <a:ext uri="{9D8B030D-6E8A-4147-A177-3AD203B41FA5}">
                      <a16:colId xmlns:a16="http://schemas.microsoft.com/office/drawing/2014/main" val="3720589946"/>
                    </a:ext>
                  </a:extLst>
                </a:gridCol>
                <a:gridCol w="650224">
                  <a:extLst>
                    <a:ext uri="{9D8B030D-6E8A-4147-A177-3AD203B41FA5}">
                      <a16:colId xmlns:a16="http://schemas.microsoft.com/office/drawing/2014/main" val="2178048006"/>
                    </a:ext>
                  </a:extLst>
                </a:gridCol>
                <a:gridCol w="1300447">
                  <a:extLst>
                    <a:ext uri="{9D8B030D-6E8A-4147-A177-3AD203B41FA5}">
                      <a16:colId xmlns:a16="http://schemas.microsoft.com/office/drawing/2014/main" val="2458751653"/>
                    </a:ext>
                  </a:extLst>
                </a:gridCol>
              </a:tblGrid>
              <a:tr h="8079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256379"/>
                  </a:ext>
                </a:extLst>
              </a:tr>
              <a:tr h="80793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527306"/>
                  </a:ext>
                </a:extLst>
              </a:tr>
              <a:tr h="807938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91706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291AF59-9BBD-8099-CA1A-AD1AEB25E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303" y="1523712"/>
            <a:ext cx="1287298" cy="797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CBEE1E-2DC7-0D6A-ADC5-B5D610237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437" y="1522804"/>
            <a:ext cx="1783074" cy="781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7CE6E3-2B22-3B1C-0285-1248C2FEC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800" y="1518569"/>
            <a:ext cx="1440480" cy="7979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B4F003-D6C3-7BEB-74BD-1F9273356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6303" y="2360222"/>
            <a:ext cx="1358263" cy="7524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54D9DE-3819-E6D6-603A-35894502D2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3601" y="2326804"/>
            <a:ext cx="1328258" cy="7357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A4674F-1742-A3AE-5EFD-70F6DC3A10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8664" y="2355604"/>
            <a:ext cx="1358263" cy="7524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669926-6824-3B4B-6BDC-7F0733251F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3773" y="3180834"/>
            <a:ext cx="1288800" cy="71392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AA4F0FC-DB5D-69D0-E95F-DA1DDD66B3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4659" y="3161594"/>
            <a:ext cx="1358263" cy="752406"/>
          </a:xfrm>
          <a:prstGeom prst="rect">
            <a:avLst/>
          </a:prstGeom>
        </p:spPr>
      </p:pic>
      <p:sp>
        <p:nvSpPr>
          <p:cNvPr id="32" name="Google Shape;395;p35">
            <a:extLst>
              <a:ext uri="{FF2B5EF4-FFF2-40B4-BE49-F238E27FC236}">
                <a16:creationId xmlns:a16="http://schemas.microsoft.com/office/drawing/2014/main" id="{C22EC63C-5FA5-283F-90AB-EF50098277E9}"/>
              </a:ext>
            </a:extLst>
          </p:cNvPr>
          <p:cNvSpPr txBox="1">
            <a:spLocks/>
          </p:cNvSpPr>
          <p:nvPr/>
        </p:nvSpPr>
        <p:spPr>
          <a:xfrm>
            <a:off x="4746303" y="3956700"/>
            <a:ext cx="3901342" cy="3779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3000"/>
            </a:pPr>
            <a:r>
              <a:rPr lang="en-GB" sz="1050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Parts of JeevI Robot</a:t>
            </a:r>
          </a:p>
        </p:txBody>
      </p:sp>
    </p:spTree>
    <p:extLst>
      <p:ext uri="{BB962C8B-B14F-4D97-AF65-F5344CB8AC3E}">
        <p14:creationId xmlns:p14="http://schemas.microsoft.com/office/powerpoint/2010/main" val="1889567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DBDFD-69F1-B2F9-8A88-7DD69353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Policy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996E5-F7B3-DBD2-F894-0866F794B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47" r="27047"/>
          <a:stretch/>
        </p:blipFill>
        <p:spPr>
          <a:xfrm>
            <a:off x="799201" y="2225439"/>
            <a:ext cx="1974722" cy="1974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D8C626-E08C-738B-38FC-0750FFD8B6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7" t="8232" r="20046" b="10362"/>
          <a:stretch/>
        </p:blipFill>
        <p:spPr>
          <a:xfrm>
            <a:off x="3088800" y="2225439"/>
            <a:ext cx="1974722" cy="1974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910C8-CC23-E329-4AEA-AEFEEBC0D4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4" r="16864"/>
          <a:stretch/>
        </p:blipFill>
        <p:spPr>
          <a:xfrm>
            <a:off x="5378399" y="2225439"/>
            <a:ext cx="1974722" cy="1974722"/>
          </a:xfrm>
          <a:prstGeom prst="rect">
            <a:avLst/>
          </a:prstGeom>
        </p:spPr>
      </p:pic>
      <p:sp>
        <p:nvSpPr>
          <p:cNvPr id="8" name="Google Shape;395;p35">
            <a:extLst>
              <a:ext uri="{FF2B5EF4-FFF2-40B4-BE49-F238E27FC236}">
                <a16:creationId xmlns:a16="http://schemas.microsoft.com/office/drawing/2014/main" id="{DA80E994-C3E1-A659-3C96-789503610496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Environment Setup </a:t>
            </a:r>
          </a:p>
        </p:txBody>
      </p:sp>
      <p:sp>
        <p:nvSpPr>
          <p:cNvPr id="9" name="Google Shape;395;p35">
            <a:extLst>
              <a:ext uri="{FF2B5EF4-FFF2-40B4-BE49-F238E27FC236}">
                <a16:creationId xmlns:a16="http://schemas.microsoft.com/office/drawing/2014/main" id="{20D571DE-9AEB-0587-871D-8D66C96F166D}"/>
              </a:ext>
            </a:extLst>
          </p:cNvPr>
          <p:cNvSpPr txBox="1">
            <a:spLocks/>
          </p:cNvSpPr>
          <p:nvPr/>
        </p:nvSpPr>
        <p:spPr>
          <a:xfrm>
            <a:off x="777600" y="1505729"/>
            <a:ext cx="2073600" cy="7269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Plane Surface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Baseline Environment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Used for Initial Locomotion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" name="Google Shape;395;p35">
            <a:extLst>
              <a:ext uri="{FF2B5EF4-FFF2-40B4-BE49-F238E27FC236}">
                <a16:creationId xmlns:a16="http://schemas.microsoft.com/office/drawing/2014/main" id="{4BA9BDF5-AE70-F684-CA7B-980A10B34B2A}"/>
              </a:ext>
            </a:extLst>
          </p:cNvPr>
          <p:cNvSpPr txBox="1">
            <a:spLocks/>
          </p:cNvSpPr>
          <p:nvPr/>
        </p:nvSpPr>
        <p:spPr>
          <a:xfrm>
            <a:off x="3088800" y="1492903"/>
            <a:ext cx="1974722" cy="7269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Rough Surface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Uneven Gravel 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Random Slope Variations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" name="Google Shape;395;p35">
            <a:extLst>
              <a:ext uri="{FF2B5EF4-FFF2-40B4-BE49-F238E27FC236}">
                <a16:creationId xmlns:a16="http://schemas.microsoft.com/office/drawing/2014/main" id="{FEDE1C63-E2A7-DA9A-AED5-B197FEEC35E2}"/>
              </a:ext>
            </a:extLst>
          </p:cNvPr>
          <p:cNvSpPr txBox="1">
            <a:spLocks/>
          </p:cNvSpPr>
          <p:nvPr/>
        </p:nvSpPr>
        <p:spPr>
          <a:xfrm>
            <a:off x="5378399" y="1492903"/>
            <a:ext cx="1974722" cy="7269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Box Surface</a:t>
            </a:r>
          </a:p>
          <a:p>
            <a:pPr>
              <a:buClr>
                <a:schemeClr val="dk1"/>
              </a:buClr>
              <a:buSzPts val="3000"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Discrete Rigid Blocks</a:t>
            </a:r>
          </a:p>
          <a:p>
            <a:pPr>
              <a:buClr>
                <a:schemeClr val="dk1"/>
              </a:buClr>
              <a:buSzPts val="3000"/>
            </a:pPr>
            <a:r>
              <a:rPr lang="en-GB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Randomized Placement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Model 16">
                <a:extLst>
                  <a:ext uri="{FF2B5EF4-FFF2-40B4-BE49-F238E27FC236}">
                    <a16:creationId xmlns:a16="http://schemas.microsoft.com/office/drawing/2014/main" id="{B9493146-CAE0-183F-AE76-99DE031E0F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3377766"/>
                  </p:ext>
                </p:extLst>
              </p:nvPr>
            </p:nvGraphicFramePr>
            <p:xfrm>
              <a:off x="6555954" y="-212427"/>
              <a:ext cx="2497203" cy="217437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497203" cy="2174371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89222" ay="2173153" az="969246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8200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Model 16">
                <a:extLst>
                  <a:ext uri="{FF2B5EF4-FFF2-40B4-BE49-F238E27FC236}">
                    <a16:creationId xmlns:a16="http://schemas.microsoft.com/office/drawing/2014/main" id="{B9493146-CAE0-183F-AE76-99DE031E0F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5954" y="-212427"/>
                <a:ext cx="2497203" cy="21743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0460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DBDFD-69F1-B2F9-8A88-7DD69353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Policy</a:t>
            </a:r>
          </a:p>
        </p:txBody>
      </p:sp>
      <p:sp>
        <p:nvSpPr>
          <p:cNvPr id="8" name="Google Shape;395;p35">
            <a:extLst>
              <a:ext uri="{FF2B5EF4-FFF2-40B4-BE49-F238E27FC236}">
                <a16:creationId xmlns:a16="http://schemas.microsoft.com/office/drawing/2014/main" id="{DA80E994-C3E1-A659-3C96-789503610496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MDP Formulation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Model 16">
                <a:extLst>
                  <a:ext uri="{FF2B5EF4-FFF2-40B4-BE49-F238E27FC236}">
                    <a16:creationId xmlns:a16="http://schemas.microsoft.com/office/drawing/2014/main" id="{B9493146-CAE0-183F-AE76-99DE031E0F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2110100"/>
                  </p:ext>
                </p:extLst>
              </p:nvPr>
            </p:nvGraphicFramePr>
            <p:xfrm>
              <a:off x="6589834" y="-160382"/>
              <a:ext cx="2554164" cy="213638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554164" cy="2136381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127004" ay="1171910" az="1015724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2002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Model 16">
                <a:extLst>
                  <a:ext uri="{FF2B5EF4-FFF2-40B4-BE49-F238E27FC236}">
                    <a16:creationId xmlns:a16="http://schemas.microsoft.com/office/drawing/2014/main" id="{B9493146-CAE0-183F-AE76-99DE031E0F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9834" y="-160382"/>
                <a:ext cx="2554164" cy="2136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17C4D15-1939-2647-9372-E93857F899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160471"/>
                  </p:ext>
                </p:extLst>
              </p:nvPr>
            </p:nvGraphicFramePr>
            <p:xfrm>
              <a:off x="781890" y="1596489"/>
              <a:ext cx="6854279" cy="1918547"/>
            </p:xfrm>
            <a:graphic>
              <a:graphicData uri="http://schemas.openxmlformats.org/drawingml/2006/table">
                <a:tbl>
                  <a:tblPr firstRow="1" firstCol="1" bandRow="1">
                    <a:tableStyleId>{7C53DCA3-0469-43A2-92A7-01D8EBA634FB}</a:tableStyleId>
                  </a:tblPr>
                  <a:tblGrid>
                    <a:gridCol w="2297519">
                      <a:extLst>
                        <a:ext uri="{9D8B030D-6E8A-4147-A177-3AD203B41FA5}">
                          <a16:colId xmlns:a16="http://schemas.microsoft.com/office/drawing/2014/main" val="2406000016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1068364260"/>
                        </a:ext>
                      </a:extLst>
                    </a:gridCol>
                    <a:gridCol w="3489960">
                      <a:extLst>
                        <a:ext uri="{9D8B030D-6E8A-4147-A177-3AD203B41FA5}">
                          <a16:colId xmlns:a16="http://schemas.microsoft.com/office/drawing/2014/main" val="2817496033"/>
                        </a:ext>
                      </a:extLst>
                    </a:gridCol>
                  </a:tblGrid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b="1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Component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b="1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Dimensions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b="1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Description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94118169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Root Linear Velocity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Linear velocity of the base link in its local frame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1657514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Root Angular Velocity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Angular velocity of the base link in its local frame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02531405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Projected Gravity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Gravity vector projected into robot's body frame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96767334"/>
                      </a:ext>
                    </a:extLst>
                  </a:tr>
                  <a:tr h="273367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Velocity Commands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Target 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sepChr m:val=","/>
                                  <m:ctrlP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 commands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97995368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Joint Position Offsets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Current joint positions minus default joint positions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78328716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Joint Velocities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Current angular velocities of all 12 joints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19471640"/>
                      </a:ext>
                    </a:extLst>
                  </a:tr>
                  <a:tr h="287308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Previous Actions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Actions taken in the previous timestep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16658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17C4D15-1939-2647-9372-E93857F899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160471"/>
                  </p:ext>
                </p:extLst>
              </p:nvPr>
            </p:nvGraphicFramePr>
            <p:xfrm>
              <a:off x="781890" y="1596489"/>
              <a:ext cx="6854279" cy="1918547"/>
            </p:xfrm>
            <a:graphic>
              <a:graphicData uri="http://schemas.openxmlformats.org/drawingml/2006/table">
                <a:tbl>
                  <a:tblPr firstRow="1" firstCol="1" bandRow="1">
                    <a:tableStyleId>{7C53DCA3-0469-43A2-92A7-01D8EBA634FB}</a:tableStyleId>
                  </a:tblPr>
                  <a:tblGrid>
                    <a:gridCol w="2297519">
                      <a:extLst>
                        <a:ext uri="{9D8B030D-6E8A-4147-A177-3AD203B41FA5}">
                          <a16:colId xmlns:a16="http://schemas.microsoft.com/office/drawing/2014/main" val="2406000016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1068364260"/>
                        </a:ext>
                      </a:extLst>
                    </a:gridCol>
                    <a:gridCol w="3489960">
                      <a:extLst>
                        <a:ext uri="{9D8B030D-6E8A-4147-A177-3AD203B41FA5}">
                          <a16:colId xmlns:a16="http://schemas.microsoft.com/office/drawing/2014/main" val="2817496033"/>
                        </a:ext>
                      </a:extLst>
                    </a:gridCol>
                  </a:tblGrid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b="1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Component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b="1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Dimensions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b="1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Description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94118169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Root Linear Velocity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Linear velocity of the base link in its local frame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1657514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Root Angular Velocity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Angular velocity of the base link in its local frame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02531405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Projected Gravity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Gravity vector projected into robot's body frame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96767334"/>
                      </a:ext>
                    </a:extLst>
                  </a:tr>
                  <a:tr h="273367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Velocity Commands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96510" t="-331111" r="-349" b="-29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7995368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Joint Position Offsets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Current joint positions minus default joint positions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78328716"/>
                      </a:ext>
                    </a:extLst>
                  </a:tr>
                  <a:tr h="226312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Joint Velocities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Current angular velocities of all 12 joints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19471640"/>
                      </a:ext>
                    </a:extLst>
                  </a:tr>
                  <a:tr h="287308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Previous Actions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12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100" dirty="0">
                              <a:effectLst/>
                              <a:latin typeface="Inter Tight" panose="020B0604020202020204" charset="0"/>
                              <a:ea typeface="Inter Tight" panose="020B0604020202020204" charset="0"/>
                              <a:cs typeface="Inter Tight" panose="020B0604020202020204" charset="0"/>
                            </a:rPr>
                            <a:t>Actions taken in the previous timestep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166587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395;p35">
            <a:extLst>
              <a:ext uri="{FF2B5EF4-FFF2-40B4-BE49-F238E27FC236}">
                <a16:creationId xmlns:a16="http://schemas.microsoft.com/office/drawing/2014/main" id="{98D14AFF-3768-654F-D04B-B6F5EEE9F16D}"/>
              </a:ext>
            </a:extLst>
          </p:cNvPr>
          <p:cNvSpPr txBox="1">
            <a:spLocks/>
          </p:cNvSpPr>
          <p:nvPr/>
        </p:nvSpPr>
        <p:spPr>
          <a:xfrm>
            <a:off x="720000" y="1259002"/>
            <a:ext cx="697806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State Space (S) - Observations (48 Dimensions)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95;p35">
                <a:extLst>
                  <a:ext uri="{FF2B5EF4-FFF2-40B4-BE49-F238E27FC236}">
                    <a16:creationId xmlns:a16="http://schemas.microsoft.com/office/drawing/2014/main" id="{19F19D0A-AD73-0875-FC73-6EED1B4702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3587689"/>
                <a:ext cx="6978060" cy="147175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b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3000"/>
                </a:pPr>
                <a:r>
                  <a:rPr lang="fr-FR" sz="1200" b="1" dirty="0">
                    <a:solidFill>
                      <a:schemeClr val="dk1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Action </a:t>
                </a:r>
                <a:r>
                  <a:rPr lang="fr-FR" sz="1200" b="1" dirty="0" err="1">
                    <a:solidFill>
                      <a:schemeClr val="dk1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Space</a:t>
                </a:r>
                <a:r>
                  <a:rPr lang="fr-FR" sz="1200" b="1" dirty="0">
                    <a:solidFill>
                      <a:schemeClr val="dk1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 (A) - Joint Position Target (12 Dimensions):</a:t>
                </a:r>
              </a:p>
              <a:p>
                <a:pPr>
                  <a:buClr>
                    <a:schemeClr val="dk1"/>
                  </a:buClr>
                  <a:buSzPts val="3000"/>
                </a:pPr>
                <a:r>
                  <a:rPr lang="en-US" sz="1200" dirty="0">
                    <a:solidFill>
                      <a:schemeClr val="dk1"/>
                    </a:solidFill>
                    <a:latin typeface="Inter Tight"/>
                    <a:ea typeface="Inter Tight"/>
                    <a:cs typeface="Inter Tight"/>
                    <a:sym typeface="Inter Tight"/>
                  </a:rPr>
                  <a:t>The action space is continuous and 12-dimensional, corresponding to the 12 revolute joints of the quadruped.</a:t>
                </a:r>
              </a:p>
              <a:p>
                <a:pPr>
                  <a:buClr>
                    <a:schemeClr val="dk1"/>
                  </a:buClr>
                  <a:buSzPts val="3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𝑡𝑎𝑟𝑔𝑒𝑡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𝑎𝑐𝑡𝑖𝑜𝑛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𝑑𝑒𝑓𝑎𝑢𝑙𝑡</m:t>
                          </m:r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buClr>
                    <a:schemeClr val="dk1"/>
                  </a:buClr>
                  <a:buSzPts val="3000"/>
                </a:pPr>
                <a:endParaRPr lang="en-US" sz="3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buClr>
                    <a:schemeClr val="dk1"/>
                  </a:buClr>
                  <a:buSzPts val="3000"/>
                </a:pPr>
                <a:endParaRPr lang="en-US" sz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buClr>
                    <a:schemeClr val="dk1"/>
                  </a:buClr>
                  <a:buSzPts val="3000"/>
                </a:pPr>
                <a:r>
                  <a:rPr lang="en-US" sz="1200" dirty="0">
                    <a:solidFill>
                      <a:schemeClr val="dk1"/>
                    </a:solidFill>
                    <a:latin typeface="Inter Tight"/>
                    <a:ea typeface="Inter Tight"/>
                    <a:cs typeface="Inter Tight"/>
                  </a:rPr>
                  <a:t>The resulting target joint positions are passed to the Proportional–Derivative (PD) controllers, which compute the required joint torques for actuation within the physics simulation.</a:t>
                </a:r>
              </a:p>
              <a:p>
                <a:pPr>
                  <a:buClr>
                    <a:schemeClr val="dk1"/>
                  </a:buClr>
                  <a:buSzPts val="3000"/>
                </a:pPr>
                <a:endParaRPr lang="en-GB" sz="1200" dirty="0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mc:Choice>
        <mc:Fallback xmlns="">
          <p:sp>
            <p:nvSpPr>
              <p:cNvPr id="14" name="Google Shape;395;p35">
                <a:extLst>
                  <a:ext uri="{FF2B5EF4-FFF2-40B4-BE49-F238E27FC236}">
                    <a16:creationId xmlns:a16="http://schemas.microsoft.com/office/drawing/2014/main" id="{19F19D0A-AD73-0875-FC73-6EED1B470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587689"/>
                <a:ext cx="6978060" cy="1471757"/>
              </a:xfrm>
              <a:prstGeom prst="rect">
                <a:avLst/>
              </a:prstGeom>
              <a:blipFill>
                <a:blip r:embed="rId5"/>
                <a:stretch>
                  <a:fillRect t="-1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288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DBDFD-69F1-B2F9-8A88-7DD69353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Policy</a:t>
            </a:r>
          </a:p>
        </p:txBody>
      </p:sp>
      <p:sp>
        <p:nvSpPr>
          <p:cNvPr id="8" name="Google Shape;395;p35">
            <a:extLst>
              <a:ext uri="{FF2B5EF4-FFF2-40B4-BE49-F238E27FC236}">
                <a16:creationId xmlns:a16="http://schemas.microsoft.com/office/drawing/2014/main" id="{DA80E994-C3E1-A659-3C96-789503610496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MDP Formulation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Model 16">
                <a:extLst>
                  <a:ext uri="{FF2B5EF4-FFF2-40B4-BE49-F238E27FC236}">
                    <a16:creationId xmlns:a16="http://schemas.microsoft.com/office/drawing/2014/main" id="{B9493146-CAE0-183F-AE76-99DE031E0F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6687093"/>
                  </p:ext>
                </p:extLst>
              </p:nvPr>
            </p:nvGraphicFramePr>
            <p:xfrm>
              <a:off x="6669366" y="-306828"/>
              <a:ext cx="2459208" cy="264910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459208" cy="2649106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806234" ay="2120585" az="868404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200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Model 16">
                <a:extLst>
                  <a:ext uri="{FF2B5EF4-FFF2-40B4-BE49-F238E27FC236}">
                    <a16:creationId xmlns:a16="http://schemas.microsoft.com/office/drawing/2014/main" id="{B9493146-CAE0-183F-AE76-99DE031E0F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9366" y="-306828"/>
                <a:ext cx="2459208" cy="2649106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Google Shape;395;p35">
            <a:extLst>
              <a:ext uri="{FF2B5EF4-FFF2-40B4-BE49-F238E27FC236}">
                <a16:creationId xmlns:a16="http://schemas.microsoft.com/office/drawing/2014/main" id="{98D14AFF-3768-654F-D04B-B6F5EEE9F16D}"/>
              </a:ext>
            </a:extLst>
          </p:cNvPr>
          <p:cNvSpPr txBox="1">
            <a:spLocks/>
          </p:cNvSpPr>
          <p:nvPr/>
        </p:nvSpPr>
        <p:spPr>
          <a:xfrm>
            <a:off x="720000" y="1259003"/>
            <a:ext cx="697806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Reward Function (R): 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649214-4A07-E6F7-55C6-263D8B491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15739"/>
              </p:ext>
            </p:extLst>
          </p:nvPr>
        </p:nvGraphicFramePr>
        <p:xfrm>
          <a:off x="817040" y="1649149"/>
          <a:ext cx="6452440" cy="277055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87219">
                  <a:extLst>
                    <a:ext uri="{9D8B030D-6E8A-4147-A177-3AD203B41FA5}">
                      <a16:colId xmlns:a16="http://schemas.microsoft.com/office/drawing/2014/main" val="1596766240"/>
                    </a:ext>
                  </a:extLst>
                </a:gridCol>
                <a:gridCol w="4065221">
                  <a:extLst>
                    <a:ext uri="{9D8B030D-6E8A-4147-A177-3AD203B41FA5}">
                      <a16:colId xmlns:a16="http://schemas.microsoft.com/office/drawing/2014/main" val="3718158671"/>
                    </a:ext>
                  </a:extLst>
                </a:gridCol>
              </a:tblGrid>
              <a:tr h="287041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Component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Meaning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7956745"/>
                  </a:ext>
                </a:extLst>
              </a:tr>
              <a:tr h="229310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Linear Velocity Tracking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Encourages the robot to match the commanded forward speed.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38400369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Yaw Rate Tracking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Encourages the robot to match the commanded turning rate.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2895225128"/>
                  </a:ext>
                </a:extLst>
              </a:tr>
              <a:tr h="233597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Z Velocity Penalty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Penalizes excessive vertical bouncing of the robot’s body.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1103303519"/>
                  </a:ext>
                </a:extLst>
              </a:tr>
              <a:tr h="18550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Angular Velocity (XY)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Penalizes roll and pitch oscillations to improve balance.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1352807621"/>
                  </a:ext>
                </a:extLst>
              </a:tr>
              <a:tr h="245156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Joint Torques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Penalizes high actuator effort to promote energy efficiency.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1465861511"/>
                  </a:ext>
                </a:extLst>
              </a:tr>
              <a:tr h="200743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Joint Accelerations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Penalizes abrupt joint movements for smoother motion.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4233811072"/>
                  </a:ext>
                </a:extLst>
              </a:tr>
              <a:tr h="20967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Action Rate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Encourages gradual action changes between timesteps.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12643723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Flat Orientation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Keeps the robot’s body upright and aligned with gravity.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420186562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Foot Contact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Ensures sufficient ground contact to prevent unstable gaits.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28551913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Foot Force Variance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Encourages proper stepping instead of dragging feet.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1114305496"/>
                  </a:ext>
                </a:extLst>
              </a:tr>
              <a:tr h="226231"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Base Height (Boxes Only)</a:t>
                      </a:r>
                    </a:p>
                  </a:txBody>
                  <a:tcPr marL="52025" marR="52025" marT="26012" marB="26012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Inter Tight" panose="020B0604020202020204" charset="0"/>
                          <a:ea typeface="Inter Tight" panose="020B0604020202020204" charset="0"/>
                          <a:cs typeface="Inter Tight" panose="020B0604020202020204" charset="0"/>
                        </a:rPr>
                        <a:t>Maintains body elevation when navigating obstacles.</a:t>
                      </a:r>
                    </a:p>
                  </a:txBody>
                  <a:tcPr marL="52025" marR="52025" marT="26012" marB="26012" anchor="ctr"/>
                </a:tc>
                <a:extLst>
                  <a:ext uri="{0D108BD9-81ED-4DB2-BD59-A6C34878D82A}">
                    <a16:rowId xmlns:a16="http://schemas.microsoft.com/office/drawing/2014/main" val="277164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511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A8FD04-7962-806E-AA49-B77430F09900}"/>
              </a:ext>
            </a:extLst>
          </p:cNvPr>
          <p:cNvSpPr/>
          <p:nvPr/>
        </p:nvSpPr>
        <p:spPr>
          <a:xfrm>
            <a:off x="5705520" y="1325589"/>
            <a:ext cx="3032760" cy="1834935"/>
          </a:xfrm>
          <a:prstGeom prst="roundRect">
            <a:avLst>
              <a:gd name="adj" fmla="val 379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41E06-9F5D-7FD0-4C0F-CDBFF117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Policy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303F587-5282-9DDC-9EE8-65989C01A21A}"/>
              </a:ext>
            </a:extLst>
          </p:cNvPr>
          <p:cNvSpPr txBox="1">
            <a:spLocks/>
          </p:cNvSpPr>
          <p:nvPr/>
        </p:nvSpPr>
        <p:spPr>
          <a:xfrm>
            <a:off x="626700" y="1500523"/>
            <a:ext cx="4874940" cy="103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algn="just"/>
            <a:r>
              <a:rPr lang="en-US" b="1" dirty="0"/>
              <a:t>Positive Rewards </a:t>
            </a:r>
            <a:r>
              <a:rPr lang="en-US" dirty="0"/>
              <a:t>drive commanded motion and upright stability</a:t>
            </a:r>
          </a:p>
          <a:p>
            <a:pPr algn="just"/>
            <a:r>
              <a:rPr lang="en-US" b="1" dirty="0"/>
              <a:t>Negative Penalties </a:t>
            </a:r>
            <a:r>
              <a:rPr lang="en-US" dirty="0"/>
              <a:t>suppress unstable or unrealistic behaviors</a:t>
            </a:r>
          </a:p>
          <a:p>
            <a:pPr algn="just"/>
            <a:r>
              <a:rPr lang="en-US" b="1" dirty="0"/>
              <a:t>Foot Contact </a:t>
            </a:r>
            <a:r>
              <a:rPr lang="en-US" dirty="0"/>
              <a:t>term prevents tripod hopping behavior</a:t>
            </a:r>
          </a:p>
          <a:p>
            <a:pPr algn="just"/>
            <a:r>
              <a:rPr lang="en-US" b="1" dirty="0"/>
              <a:t>Foot Force Variance </a:t>
            </a:r>
            <a:r>
              <a:rPr lang="en-US" dirty="0"/>
              <a:t>promotes natural stepping patterns</a:t>
            </a:r>
          </a:p>
        </p:txBody>
      </p:sp>
      <p:sp>
        <p:nvSpPr>
          <p:cNvPr id="7" name="Google Shape;395;p35">
            <a:extLst>
              <a:ext uri="{FF2B5EF4-FFF2-40B4-BE49-F238E27FC236}">
                <a16:creationId xmlns:a16="http://schemas.microsoft.com/office/drawing/2014/main" id="{2C983A17-C4F5-3024-1049-9B42CE0E3031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MDP Formulation</a:t>
            </a:r>
          </a:p>
        </p:txBody>
      </p:sp>
      <p:sp>
        <p:nvSpPr>
          <p:cNvPr id="8" name="Google Shape;395;p35">
            <a:extLst>
              <a:ext uri="{FF2B5EF4-FFF2-40B4-BE49-F238E27FC236}">
                <a16:creationId xmlns:a16="http://schemas.microsoft.com/office/drawing/2014/main" id="{75317722-786E-901B-450D-4F4763C4E441}"/>
              </a:ext>
            </a:extLst>
          </p:cNvPr>
          <p:cNvSpPr txBox="1">
            <a:spLocks/>
          </p:cNvSpPr>
          <p:nvPr/>
        </p:nvSpPr>
        <p:spPr>
          <a:xfrm>
            <a:off x="720000" y="1259003"/>
            <a:ext cx="697806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Reward Function (R): Design Philosophy</a:t>
            </a:r>
          </a:p>
        </p:txBody>
      </p:sp>
      <p:sp>
        <p:nvSpPr>
          <p:cNvPr id="9" name="Google Shape;395;p35">
            <a:extLst>
              <a:ext uri="{FF2B5EF4-FFF2-40B4-BE49-F238E27FC236}">
                <a16:creationId xmlns:a16="http://schemas.microsoft.com/office/drawing/2014/main" id="{04001298-48EE-D574-3D70-0E8A49C74C5C}"/>
              </a:ext>
            </a:extLst>
          </p:cNvPr>
          <p:cNvSpPr txBox="1">
            <a:spLocks/>
          </p:cNvSpPr>
          <p:nvPr/>
        </p:nvSpPr>
        <p:spPr>
          <a:xfrm>
            <a:off x="720000" y="3701144"/>
            <a:ext cx="4985520" cy="907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>
              <a:buClr>
                <a:schemeClr val="dk1"/>
              </a:buClr>
              <a:buSzPts val="3000"/>
            </a:pPr>
            <a:r>
              <a:rPr lang="en-US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Discount Factor (γ)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The discount factor is how much the agent values future rewards.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γ = 0.99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Encourages long-term stability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" name="Google Shape;395;p35">
            <a:extLst>
              <a:ext uri="{FF2B5EF4-FFF2-40B4-BE49-F238E27FC236}">
                <a16:creationId xmlns:a16="http://schemas.microsoft.com/office/drawing/2014/main" id="{E8159F86-FD97-BD17-4004-34A734CF83C3}"/>
              </a:ext>
            </a:extLst>
          </p:cNvPr>
          <p:cNvSpPr txBox="1">
            <a:spLocks/>
          </p:cNvSpPr>
          <p:nvPr/>
        </p:nvSpPr>
        <p:spPr>
          <a:xfrm>
            <a:off x="720000" y="2442211"/>
            <a:ext cx="5284560" cy="12055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Transition Dynamics (T)</a:t>
            </a:r>
          </a:p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The environment dynamics is done by the NVIDIA PhysX physics engine.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Physics simulation frequency: 200 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Policy control frequency: 50 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Decimation factor:</a:t>
            </a:r>
            <a:endParaRPr lang="en-GB" sz="1200" b="1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" name="Google Shape;395;p35">
            <a:extLst>
              <a:ext uri="{FF2B5EF4-FFF2-40B4-BE49-F238E27FC236}">
                <a16:creationId xmlns:a16="http://schemas.microsoft.com/office/drawing/2014/main" id="{85F2AD97-E2F7-8301-463B-E58B7C646C05}"/>
              </a:ext>
            </a:extLst>
          </p:cNvPr>
          <p:cNvSpPr txBox="1">
            <a:spLocks/>
          </p:cNvSpPr>
          <p:nvPr/>
        </p:nvSpPr>
        <p:spPr>
          <a:xfrm>
            <a:off x="5768340" y="1325589"/>
            <a:ext cx="2969940" cy="18349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Episode Termination Conditions</a:t>
            </a:r>
          </a:p>
          <a:p>
            <a:endParaRPr lang="en-US" sz="1200" i="1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1. Time-Out</a:t>
            </a:r>
          </a:p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Maximum Episode Length: 2000 Steps</a:t>
            </a:r>
          </a:p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- Equivalent: 40 Seconds</a:t>
            </a: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2. Falling Condition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Contact Forces on Hip Segments More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Indicates Body Collapse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Model 15">
                <a:extLst>
                  <a:ext uri="{FF2B5EF4-FFF2-40B4-BE49-F238E27FC236}">
                    <a16:creationId xmlns:a16="http://schemas.microsoft.com/office/drawing/2014/main" id="{C3FC24F7-0DB5-FB9F-21E2-525CA230D1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4086397"/>
                  </p:ext>
                </p:extLst>
              </p:nvPr>
            </p:nvGraphicFramePr>
            <p:xfrm>
              <a:off x="5893769" y="3049296"/>
              <a:ext cx="2345274" cy="167039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345274" cy="1670398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215301" ay="10959" az="1075360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200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Model 15">
                <a:extLst>
                  <a:ext uri="{FF2B5EF4-FFF2-40B4-BE49-F238E27FC236}">
                    <a16:creationId xmlns:a16="http://schemas.microsoft.com/office/drawing/2014/main" id="{C3FC24F7-0DB5-FB9F-21E2-525CA230D1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3769" y="3049296"/>
                <a:ext cx="2345274" cy="16703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7865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4B10-D0EB-DF89-1637-6DD40FF8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Training</a:t>
            </a:r>
          </a:p>
        </p:txBody>
      </p:sp>
      <p:sp>
        <p:nvSpPr>
          <p:cNvPr id="80" name="Google Shape;395;p35">
            <a:extLst>
              <a:ext uri="{FF2B5EF4-FFF2-40B4-BE49-F238E27FC236}">
                <a16:creationId xmlns:a16="http://schemas.microsoft.com/office/drawing/2014/main" id="{88B8D7EF-14AD-DE3F-8FFC-2BDE7E390656}"/>
              </a:ext>
            </a:extLst>
          </p:cNvPr>
          <p:cNvSpPr txBox="1">
            <a:spLocks/>
          </p:cNvSpPr>
          <p:nvPr/>
        </p:nvSpPr>
        <p:spPr>
          <a:xfrm>
            <a:off x="720000" y="1029610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Proximal Policy Algorithm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57F8F-619B-1734-9364-6014B90F2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006"/>
          <a:stretch/>
        </p:blipFill>
        <p:spPr>
          <a:xfrm>
            <a:off x="720000" y="1378929"/>
            <a:ext cx="7263720" cy="363198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7C797C59-7186-F6DB-382C-59B782C678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0171683"/>
                  </p:ext>
                </p:extLst>
              </p:nvPr>
            </p:nvGraphicFramePr>
            <p:xfrm>
              <a:off x="5992955" y="83513"/>
              <a:ext cx="3056267" cy="173307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056267" cy="1733076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156554" ay="1180966" az="1054374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26573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7C797C59-7186-F6DB-382C-59B782C678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2955" y="83513"/>
                <a:ext cx="3056267" cy="17330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720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6BC98D-3799-63E7-BC6D-1F6E7612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Training</a:t>
            </a:r>
          </a:p>
        </p:txBody>
      </p:sp>
      <p:sp>
        <p:nvSpPr>
          <p:cNvPr id="4" name="Google Shape;395;p35">
            <a:extLst>
              <a:ext uri="{FF2B5EF4-FFF2-40B4-BE49-F238E27FC236}">
                <a16:creationId xmlns:a16="http://schemas.microsoft.com/office/drawing/2014/main" id="{3924AAB1-C86C-9B3A-D17C-DC0DACD078AB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Proximal Policy Algorithm Architecture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A8E449-E238-25BC-F0E4-D52FE336C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000" y="1480707"/>
            <a:ext cx="641605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At each timestep, the robot collects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48-Dimensional </a:t>
            </a:r>
            <a:r>
              <a:rPr lang="en-US" altLang="en-US" b="1" dirty="0">
                <a:solidFill>
                  <a:schemeClr val="tx1"/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bservation </a:t>
            </a:r>
            <a:r>
              <a:rPr lang="en-US" altLang="en-US" b="1" dirty="0">
                <a:solidFill>
                  <a:schemeClr val="tx1"/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tate.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48D state is fed into both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Actor and Critic Networks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Actor network consists of two fully connected layers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64 neurons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each.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Actor outputs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12D action mean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vector and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12D action standard deviation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vector.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Gaussian Distribution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is defined for each of the 12 joints.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 12-dimensional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action vector is sampled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from the Gaussian Distribution.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sampled action represents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target joint positions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target joint positions are passed 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PD controller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PD controller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computes torque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to move the joints​.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physics engine runs at 200 Hz while the policy runs at 50 Hz.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After the state transition,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reward is computed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based on locomotion performance.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Critic Network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(2 × 64 layers) outputs a scalar value.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PPO computes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advantage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 and u</a:t>
            </a:r>
            <a:r>
              <a:rPr lang="en-US" altLang="en-US" dirty="0">
                <a:solidFill>
                  <a:schemeClr val="tx1"/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pdates the Actor using a clipped objective.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 Tight" panose="020B0604020202020204" charset="0"/>
              <a:ea typeface="Inter Tight" panose="020B0604020202020204" charset="0"/>
              <a:cs typeface="Inter Tight" panose="020B0604020202020204" charset="0"/>
            </a:endParaRP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discount factor used is γ=0.99.</a:t>
            </a: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The process repeats across 500 parallel environments until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convergence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 Tight" panose="020B0604020202020204" charset="0"/>
                <a:ea typeface="Inter Tight" panose="020B0604020202020204" charset="0"/>
                <a:cs typeface="Inter Tight" panose="020B0604020202020204" charset="0"/>
              </a:rPr>
              <a:t>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4BAE8B64-2AF7-D92F-D2AE-00E0E29263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96719323"/>
                  </p:ext>
                </p:extLst>
              </p:nvPr>
            </p:nvGraphicFramePr>
            <p:xfrm>
              <a:off x="6259114" y="-358070"/>
              <a:ext cx="2884886" cy="275159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884886" cy="2751590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700170" ay="1896058" az="954916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2657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4BAE8B64-2AF7-D92F-D2AE-00E0E29263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9114" y="-358070"/>
                <a:ext cx="2884886" cy="27515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9260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E1EA-414D-4987-6567-033DE8BF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A77A6C-5C39-0FC4-F8D7-B33332CD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Training</a:t>
            </a:r>
          </a:p>
        </p:txBody>
      </p:sp>
      <p:sp>
        <p:nvSpPr>
          <p:cNvPr id="8" name="Google Shape;395;p35">
            <a:extLst>
              <a:ext uri="{FF2B5EF4-FFF2-40B4-BE49-F238E27FC236}">
                <a16:creationId xmlns:a16="http://schemas.microsoft.com/office/drawing/2014/main" id="{D87E179C-0200-DF35-80D9-63BA51BBF4B3}"/>
              </a:ext>
            </a:extLst>
          </p:cNvPr>
          <p:cNvSpPr txBox="1">
            <a:spLocks/>
          </p:cNvSpPr>
          <p:nvPr/>
        </p:nvSpPr>
        <p:spPr>
          <a:xfrm>
            <a:off x="725760" y="988783"/>
            <a:ext cx="8012520" cy="390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8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Training Robot</a:t>
            </a:r>
          </a:p>
        </p:txBody>
      </p:sp>
      <p:sp>
        <p:nvSpPr>
          <p:cNvPr id="9" name="Google Shape;395;p35">
            <a:extLst>
              <a:ext uri="{FF2B5EF4-FFF2-40B4-BE49-F238E27FC236}">
                <a16:creationId xmlns:a16="http://schemas.microsoft.com/office/drawing/2014/main" id="{B405F17A-A134-C12A-7A60-307FBCC506F5}"/>
              </a:ext>
            </a:extLst>
          </p:cNvPr>
          <p:cNvSpPr txBox="1">
            <a:spLocks/>
          </p:cNvSpPr>
          <p:nvPr/>
        </p:nvSpPr>
        <p:spPr>
          <a:xfrm>
            <a:off x="712380" y="1492903"/>
            <a:ext cx="2053923" cy="8665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Plane Surface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500 Iterations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500 parallel agents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Learn Standing and Walking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" name="Google Shape;395;p35">
            <a:extLst>
              <a:ext uri="{FF2B5EF4-FFF2-40B4-BE49-F238E27FC236}">
                <a16:creationId xmlns:a16="http://schemas.microsoft.com/office/drawing/2014/main" id="{B06087AE-0102-9CD5-F7B6-EC12473837D5}"/>
              </a:ext>
            </a:extLst>
          </p:cNvPr>
          <p:cNvSpPr txBox="1">
            <a:spLocks/>
          </p:cNvSpPr>
          <p:nvPr/>
        </p:nvSpPr>
        <p:spPr>
          <a:xfrm>
            <a:off x="3020219" y="1492903"/>
            <a:ext cx="2115661" cy="8665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Rough Surface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100 Iterations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500 parallel agents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Low Penalties Vertical Motion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" name="Google Shape;395;p35">
            <a:extLst>
              <a:ext uri="{FF2B5EF4-FFF2-40B4-BE49-F238E27FC236}">
                <a16:creationId xmlns:a16="http://schemas.microsoft.com/office/drawing/2014/main" id="{C0EC8F7A-B2B8-CF7C-CFD2-D9A6FEBAB944}"/>
              </a:ext>
            </a:extLst>
          </p:cNvPr>
          <p:cNvSpPr txBox="1">
            <a:spLocks/>
          </p:cNvSpPr>
          <p:nvPr/>
        </p:nvSpPr>
        <p:spPr>
          <a:xfrm>
            <a:off x="5317439" y="1492903"/>
            <a:ext cx="2053922" cy="8408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000"/>
            </a:pPr>
            <a:r>
              <a:rPr lang="en-GB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Box Surface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100 Iterations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500 parallel agents</a:t>
            </a:r>
          </a:p>
          <a:p>
            <a:pPr>
              <a:buClr>
                <a:schemeClr val="dk1"/>
              </a:buClr>
              <a:buSzPts val="3000"/>
            </a:pPr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Added Base Height Reward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Model 16">
                <a:extLst>
                  <a:ext uri="{FF2B5EF4-FFF2-40B4-BE49-F238E27FC236}">
                    <a16:creationId xmlns:a16="http://schemas.microsoft.com/office/drawing/2014/main" id="{3F21E2B6-C5F8-216C-6D36-FEB00FD3A5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1856128"/>
                  </p:ext>
                </p:extLst>
              </p:nvPr>
            </p:nvGraphicFramePr>
            <p:xfrm>
              <a:off x="6703769" y="-260631"/>
              <a:ext cx="2440231" cy="270609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440231" cy="2706093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44813" ay="-1981325" az="-862234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200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Model 16">
                <a:extLst>
                  <a:ext uri="{FF2B5EF4-FFF2-40B4-BE49-F238E27FC236}">
                    <a16:creationId xmlns:a16="http://schemas.microsoft.com/office/drawing/2014/main" id="{3F21E2B6-C5F8-216C-6D36-FEB00FD3A5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3769" y="-260631"/>
                <a:ext cx="2440231" cy="2706093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7A7B4D07-9A8F-0A9C-DB29-EC1DBD2A24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9" t="7767" r="19425" b="13192"/>
          <a:stretch>
            <a:fillRect/>
          </a:stretch>
        </p:blipFill>
        <p:spPr>
          <a:xfrm>
            <a:off x="777600" y="2359438"/>
            <a:ext cx="1975104" cy="19751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F06156-734B-E3DD-0FF0-4D1FD9663C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434" t="4535" r="34597" b="28952"/>
          <a:stretch>
            <a:fillRect/>
          </a:stretch>
        </p:blipFill>
        <p:spPr>
          <a:xfrm>
            <a:off x="5378017" y="2333786"/>
            <a:ext cx="1975104" cy="19751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284B19-BF0C-7642-658C-2646B798D7A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647" t="5567" r="27881" b="23948"/>
          <a:stretch>
            <a:fillRect/>
          </a:stretch>
        </p:blipFill>
        <p:spPr>
          <a:xfrm>
            <a:off x="3088800" y="2359438"/>
            <a:ext cx="1975104" cy="19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55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7A96719-A7D7-73DF-2A06-1BAD9E728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460" y="1017725"/>
            <a:ext cx="6924080" cy="3973375"/>
          </a:xfrm>
        </p:spPr>
        <p:txBody>
          <a:bodyPr/>
          <a:lstStyle/>
          <a:p>
            <a:pPr marL="152400" indent="0">
              <a:buNone/>
            </a:pPr>
            <a:r>
              <a:rPr lang="en-US" b="1" dirty="0"/>
              <a:t>1. Mean Reward vs Total Timesteps</a:t>
            </a:r>
          </a:p>
          <a:p>
            <a:pPr marL="152400" indent="0">
              <a:buNone/>
            </a:pPr>
            <a:r>
              <a:rPr lang="en-US" dirty="0"/>
              <a:t>Tracks the average cumulative reward over training to measure overall learning progress and convergence stability.</a:t>
            </a:r>
          </a:p>
          <a:p>
            <a:pPr marL="152400" indent="0">
              <a:buNone/>
            </a:pPr>
            <a:endParaRPr lang="en-US" sz="500" dirty="0"/>
          </a:p>
          <a:p>
            <a:pPr marL="152400" indent="0">
              <a:buNone/>
            </a:pPr>
            <a:r>
              <a:rPr lang="en-US" b="1" dirty="0"/>
              <a:t>2. Episode Length vs Total Timesteps</a:t>
            </a:r>
          </a:p>
          <a:p>
            <a:pPr marL="152400" indent="0">
              <a:buNone/>
            </a:pPr>
            <a:r>
              <a:rPr lang="en-US" dirty="0"/>
              <a:t>Measures how long the robot survives before termination, indicating improvement in balance and stability over time.</a:t>
            </a:r>
          </a:p>
          <a:p>
            <a:pPr marL="152400" indent="0">
              <a:buNone/>
            </a:pPr>
            <a:endParaRPr lang="en-US" sz="500" dirty="0"/>
          </a:p>
          <a:p>
            <a:pPr marL="152400" indent="0">
              <a:buNone/>
            </a:pPr>
            <a:r>
              <a:rPr lang="en-US" b="1" dirty="0"/>
              <a:t>3. Velocity Tracking Performance vs Total Timesteps</a:t>
            </a:r>
          </a:p>
          <a:p>
            <a:pPr marL="152400" indent="0">
              <a:buNone/>
            </a:pPr>
            <a:r>
              <a:rPr lang="en-US" dirty="0"/>
              <a:t>Evaluates how accurately the robot matches commanded linear and angular velocities during training.</a:t>
            </a:r>
            <a:br>
              <a:rPr lang="en-US" dirty="0"/>
            </a:br>
            <a:r>
              <a:rPr lang="en-US" sz="500" dirty="0"/>
              <a:t> </a:t>
            </a:r>
            <a:endParaRPr lang="en-US" dirty="0"/>
          </a:p>
          <a:p>
            <a:pPr marL="152400" indent="0">
              <a:buNone/>
            </a:pPr>
            <a:r>
              <a:rPr lang="en-US" b="1" dirty="0"/>
              <a:t>4. Value Loss Function vs Total Timesteps</a:t>
            </a:r>
          </a:p>
          <a:p>
            <a:pPr marL="152400" indent="0">
              <a:buNone/>
            </a:pPr>
            <a:r>
              <a:rPr lang="en-US" dirty="0"/>
              <a:t>Monitors the critic network’s prediction error to assess stability and correctness of value estimation.</a:t>
            </a:r>
            <a:br>
              <a:rPr lang="en-US" dirty="0"/>
            </a:br>
            <a:r>
              <a:rPr lang="en-US" sz="500" dirty="0"/>
              <a:t> </a:t>
            </a:r>
            <a:endParaRPr lang="en-US" dirty="0"/>
          </a:p>
          <a:p>
            <a:pPr marL="152400" indent="0">
              <a:buNone/>
            </a:pPr>
            <a:r>
              <a:rPr lang="en-US" b="1" dirty="0"/>
              <a:t>5. Noise Standard Deviation (Policy STD)</a:t>
            </a:r>
          </a:p>
          <a:p>
            <a:pPr marL="152400" indent="0">
              <a:buNone/>
            </a:pPr>
            <a:r>
              <a:rPr lang="en-US" dirty="0"/>
              <a:t>Tracks exploration level of the Gaussian policy; decreasing STD indicates increased policy confidence.</a:t>
            </a:r>
            <a:br>
              <a:rPr lang="en-US" dirty="0"/>
            </a:br>
            <a:r>
              <a:rPr lang="en-US" sz="500" dirty="0"/>
              <a:t> </a:t>
            </a:r>
            <a:endParaRPr lang="en-US" dirty="0"/>
          </a:p>
          <a:p>
            <a:pPr marL="152400" indent="0">
              <a:buNone/>
            </a:pPr>
            <a:r>
              <a:rPr lang="en-US" b="1" dirty="0"/>
              <a:t>6. Visual Inspection of Gait Behavior</a:t>
            </a:r>
          </a:p>
          <a:p>
            <a:pPr marL="152400" indent="0">
              <a:buNone/>
            </a:pPr>
            <a:r>
              <a:rPr lang="en-US" dirty="0"/>
              <a:t>Qualitative assessment of stepping pattern, smoothness, and stability through simulation playback.</a:t>
            </a:r>
          </a:p>
          <a:p>
            <a:pPr marL="1524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AA8DF-D04F-619D-5D88-A2AB7869D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FC6EF395-BB8E-7A46-EE1B-28D7B33DB3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6323479"/>
                  </p:ext>
                </p:extLst>
              </p:nvPr>
            </p:nvGraphicFramePr>
            <p:xfrm>
              <a:off x="7514540" y="3959112"/>
              <a:ext cx="1559838" cy="111209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559838" cy="1112095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125464" ay="-23997" az="1077118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8641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FC6EF395-BB8E-7A46-EE1B-28D7B33DB3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4540" y="3959112"/>
                <a:ext cx="1559838" cy="11120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257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9956-EB1E-5253-67D2-556F9D623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068" y="2487045"/>
            <a:ext cx="2071200" cy="762600"/>
          </a:xfrm>
        </p:spPr>
        <p:txBody>
          <a:bodyPr/>
          <a:lstStyle/>
          <a:p>
            <a:r>
              <a:rPr lang="en-US" dirty="0"/>
              <a:t>Multi-Terrain Generalization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98518-801D-76A1-F901-13B94C0B146D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273201" y="2487045"/>
            <a:ext cx="2597598" cy="762600"/>
          </a:xfrm>
        </p:spPr>
        <p:txBody>
          <a:bodyPr/>
          <a:lstStyle/>
          <a:p>
            <a:r>
              <a:rPr lang="en-US" dirty="0"/>
              <a:t>Advanced Perception Integration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FE29D9-62B4-DB65-87AE-8AD092CB8688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1253720" y="2487045"/>
            <a:ext cx="2071200" cy="762600"/>
          </a:xfrm>
        </p:spPr>
        <p:txBody>
          <a:bodyPr/>
          <a:lstStyle/>
          <a:p>
            <a:r>
              <a:rPr lang="en-US" dirty="0"/>
              <a:t>Physical Robot Deployment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4541DA-6A65-5D28-15D0-42CA62EFECF4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pPr algn="ctr"/>
            <a:r>
              <a:rPr lang="en-US" dirty="0"/>
              <a:t>Improvements</a:t>
            </a:r>
          </a:p>
        </p:txBody>
      </p:sp>
      <p:sp>
        <p:nvSpPr>
          <p:cNvPr id="9" name="Google Shape;395;p35">
            <a:extLst>
              <a:ext uri="{FF2B5EF4-FFF2-40B4-BE49-F238E27FC236}">
                <a16:creationId xmlns:a16="http://schemas.microsoft.com/office/drawing/2014/main" id="{56F338D3-BE32-821E-C127-E1244CDD13AE}"/>
              </a:ext>
            </a:extLst>
          </p:cNvPr>
          <p:cNvSpPr txBox="1">
            <a:spLocks/>
          </p:cNvSpPr>
          <p:nvPr/>
        </p:nvSpPr>
        <p:spPr>
          <a:xfrm>
            <a:off x="1147977" y="3355622"/>
            <a:ext cx="2282667" cy="10651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Develop a fully functional quadruped hardware platform powered by a high-performance edge device for real-world execution.</a:t>
            </a:r>
          </a:p>
        </p:txBody>
      </p:sp>
      <p:sp>
        <p:nvSpPr>
          <p:cNvPr id="16" name="Google Shape;395;p35">
            <a:extLst>
              <a:ext uri="{FF2B5EF4-FFF2-40B4-BE49-F238E27FC236}">
                <a16:creationId xmlns:a16="http://schemas.microsoft.com/office/drawing/2014/main" id="{F3550033-BDD9-3F9A-8C75-1D5CC188EBE0}"/>
              </a:ext>
            </a:extLst>
          </p:cNvPr>
          <p:cNvSpPr txBox="1">
            <a:spLocks/>
          </p:cNvSpPr>
          <p:nvPr/>
        </p:nvSpPr>
        <p:spPr>
          <a:xfrm>
            <a:off x="3430667" y="3355620"/>
            <a:ext cx="2282667" cy="10651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Develop a fully functional quadruped hardware platform powered by a high-performance edge device for real-world execution.</a:t>
            </a:r>
          </a:p>
        </p:txBody>
      </p:sp>
      <p:sp>
        <p:nvSpPr>
          <p:cNvPr id="17" name="Google Shape;395;p35">
            <a:extLst>
              <a:ext uri="{FF2B5EF4-FFF2-40B4-BE49-F238E27FC236}">
                <a16:creationId xmlns:a16="http://schemas.microsoft.com/office/drawing/2014/main" id="{C0A20ABC-A4ED-3AE0-E867-82F23557833E}"/>
              </a:ext>
            </a:extLst>
          </p:cNvPr>
          <p:cNvSpPr txBox="1">
            <a:spLocks/>
          </p:cNvSpPr>
          <p:nvPr/>
        </p:nvSpPr>
        <p:spPr>
          <a:xfrm>
            <a:off x="5713334" y="3355621"/>
            <a:ext cx="2282667" cy="10651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Develop a fully functional quadruped hardware platform powered by a high-performance edge device for real-world execution.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 Model 17">
                <a:extLst>
                  <a:ext uri="{FF2B5EF4-FFF2-40B4-BE49-F238E27FC236}">
                    <a16:creationId xmlns:a16="http://schemas.microsoft.com/office/drawing/2014/main" id="{7B0C5B78-260B-D882-2A82-D7AB47E25C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5466536"/>
                  </p:ext>
                </p:extLst>
              </p:nvPr>
            </p:nvGraphicFramePr>
            <p:xfrm>
              <a:off x="3388936" y="772217"/>
              <a:ext cx="2366128" cy="168694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366128" cy="1686943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125464" ay="-23997" az="1077118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278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 Model 17">
                <a:extLst>
                  <a:ext uri="{FF2B5EF4-FFF2-40B4-BE49-F238E27FC236}">
                    <a16:creationId xmlns:a16="http://schemas.microsoft.com/office/drawing/2014/main" id="{7B0C5B78-260B-D882-2A82-D7AB47E25C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8936" y="772217"/>
                <a:ext cx="2366128" cy="16869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6026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9A2D-6E0F-B241-1AA0-40391623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28DA3E-65FF-49EA-DC7B-3252CE5D81F0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20010" y="1463040"/>
            <a:ext cx="2703600" cy="687736"/>
          </a:xfrm>
        </p:spPr>
        <p:txBody>
          <a:bodyPr/>
          <a:lstStyle/>
          <a:p>
            <a:r>
              <a:rPr lang="en-US" dirty="0"/>
              <a:t>Computational Limitations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447AB-F23C-F76A-0CD6-F9472EAA032F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5720390" y="1463040"/>
            <a:ext cx="2703600" cy="687736"/>
          </a:xfrm>
        </p:spPr>
        <p:txBody>
          <a:bodyPr/>
          <a:lstStyle/>
          <a:p>
            <a:pPr algn="r"/>
            <a:r>
              <a:rPr lang="en-US" dirty="0"/>
              <a:t>Reward Design Complexity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90E768-F500-F249-E0CD-5F00447F4C3E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r>
              <a:rPr lang="en-US" dirty="0"/>
              <a:t>Training </a:t>
            </a:r>
            <a:br>
              <a:rPr lang="en-US" dirty="0"/>
            </a:br>
            <a:r>
              <a:rPr lang="en-US" dirty="0"/>
              <a:t>Instability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5E7CEA-AA65-CC91-22C0-D52AFD609D86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5720390" y="2987465"/>
            <a:ext cx="2703600" cy="687736"/>
          </a:xfrm>
        </p:spPr>
        <p:txBody>
          <a:bodyPr/>
          <a:lstStyle/>
          <a:p>
            <a:pPr algn="r"/>
            <a:r>
              <a:rPr lang="en-US" dirty="0"/>
              <a:t>Toolchain Learning Curve</a:t>
            </a:r>
          </a:p>
        </p:txBody>
      </p:sp>
      <p:sp>
        <p:nvSpPr>
          <p:cNvPr id="15" name="Google Shape;395;p35">
            <a:extLst>
              <a:ext uri="{FF2B5EF4-FFF2-40B4-BE49-F238E27FC236}">
                <a16:creationId xmlns:a16="http://schemas.microsoft.com/office/drawing/2014/main" id="{AB3D0589-1855-A8CE-35C9-F008BFF8EA18}"/>
              </a:ext>
            </a:extLst>
          </p:cNvPr>
          <p:cNvSpPr txBox="1">
            <a:spLocks/>
          </p:cNvSpPr>
          <p:nvPr/>
        </p:nvSpPr>
        <p:spPr>
          <a:xfrm>
            <a:off x="720000" y="2150777"/>
            <a:ext cx="2703600" cy="6877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Limited access to high-performance GPUs constrained training speed and experimentation flexibility.</a:t>
            </a:r>
          </a:p>
        </p:txBody>
      </p:sp>
      <p:sp>
        <p:nvSpPr>
          <p:cNvPr id="16" name="Google Shape;395;p35">
            <a:extLst>
              <a:ext uri="{FF2B5EF4-FFF2-40B4-BE49-F238E27FC236}">
                <a16:creationId xmlns:a16="http://schemas.microsoft.com/office/drawing/2014/main" id="{62D7F450-F455-23F1-6EAF-99FDD7372EBC}"/>
              </a:ext>
            </a:extLst>
          </p:cNvPr>
          <p:cNvSpPr txBox="1">
            <a:spLocks/>
          </p:cNvSpPr>
          <p:nvPr/>
        </p:nvSpPr>
        <p:spPr>
          <a:xfrm>
            <a:off x="5720390" y="2150777"/>
            <a:ext cx="2703600" cy="6877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Extensive reward tuning was required to prevent unstable behaviors and reward exploitation.</a:t>
            </a:r>
          </a:p>
        </p:txBody>
      </p:sp>
      <p:sp>
        <p:nvSpPr>
          <p:cNvPr id="17" name="Google Shape;395;p35">
            <a:extLst>
              <a:ext uri="{FF2B5EF4-FFF2-40B4-BE49-F238E27FC236}">
                <a16:creationId xmlns:a16="http://schemas.microsoft.com/office/drawing/2014/main" id="{0EC18084-FC3C-D4F8-B53A-EFE63CD6120E}"/>
              </a:ext>
            </a:extLst>
          </p:cNvPr>
          <p:cNvSpPr txBox="1">
            <a:spLocks/>
          </p:cNvSpPr>
          <p:nvPr/>
        </p:nvSpPr>
        <p:spPr>
          <a:xfrm>
            <a:off x="720000" y="3675201"/>
            <a:ext cx="2703600" cy="6877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Early stages involved frequent falling, torque imbalance, and unintended gait patterns before convergence.</a:t>
            </a:r>
          </a:p>
        </p:txBody>
      </p:sp>
      <p:sp>
        <p:nvSpPr>
          <p:cNvPr id="18" name="Google Shape;395;p35">
            <a:extLst>
              <a:ext uri="{FF2B5EF4-FFF2-40B4-BE49-F238E27FC236}">
                <a16:creationId xmlns:a16="http://schemas.microsoft.com/office/drawing/2014/main" id="{023A7FAF-E45F-1DC0-3DD8-98948821A759}"/>
              </a:ext>
            </a:extLst>
          </p:cNvPr>
          <p:cNvSpPr txBox="1">
            <a:spLocks/>
          </p:cNvSpPr>
          <p:nvPr/>
        </p:nvSpPr>
        <p:spPr>
          <a:xfrm>
            <a:off x="5720380" y="3675200"/>
            <a:ext cx="2703600" cy="858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Understanding and configuring advanced platforms like Isaac Sim and Isaac Lab required significant adaptation.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3D Model 18">
                <a:extLst>
                  <a:ext uri="{FF2B5EF4-FFF2-40B4-BE49-F238E27FC236}">
                    <a16:creationId xmlns:a16="http://schemas.microsoft.com/office/drawing/2014/main" id="{24118425-11C0-A829-534C-A7F72E2898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1711780"/>
                  </p:ext>
                </p:extLst>
              </p:nvPr>
            </p:nvGraphicFramePr>
            <p:xfrm>
              <a:off x="3388936" y="1995040"/>
              <a:ext cx="2366128" cy="168694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366128" cy="1686943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125464" ay="-23997" az="1077118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8278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3D Model 18">
                <a:extLst>
                  <a:ext uri="{FF2B5EF4-FFF2-40B4-BE49-F238E27FC236}">
                    <a16:creationId xmlns:a16="http://schemas.microsoft.com/office/drawing/2014/main" id="{24118425-11C0-A829-534C-A7F72E2898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8936" y="1995040"/>
                <a:ext cx="2366128" cy="16869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3043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D4E7-DA57-0630-0306-7FF4F37B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495" y="1017725"/>
            <a:ext cx="3376200" cy="673379"/>
          </a:xfrm>
        </p:spPr>
        <p:txBody>
          <a:bodyPr/>
          <a:lstStyle/>
          <a:p>
            <a:r>
              <a:rPr lang="en-US" sz="1600" dirty="0">
                <a:solidFill>
                  <a:srgbClr val="3B3A3A"/>
                </a:solidFill>
              </a:rPr>
              <a:t>Successful System Development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C3BCA7-9071-1B0A-AF18-094580EF453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751545" y="1017725"/>
            <a:ext cx="3376200" cy="673379"/>
          </a:xfrm>
        </p:spPr>
        <p:txBody>
          <a:bodyPr/>
          <a:lstStyle/>
          <a:p>
            <a:r>
              <a:rPr lang="en-US" sz="1600" dirty="0">
                <a:solidFill>
                  <a:srgbClr val="3B3A3A"/>
                </a:solidFill>
              </a:rPr>
              <a:t>Stable Multi-Terrain Locomotion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DD2833-AAE9-DD53-898A-A3642BDD6686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4751545" y="2333380"/>
            <a:ext cx="3376200" cy="673379"/>
          </a:xfrm>
        </p:spPr>
        <p:txBody>
          <a:bodyPr/>
          <a:lstStyle/>
          <a:p>
            <a:r>
              <a:rPr lang="en-US" sz="1600" dirty="0">
                <a:solidFill>
                  <a:srgbClr val="3B3A3A"/>
                </a:solidFill>
              </a:rPr>
              <a:t>Foundation for SAR Robotics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CA5EB6-A00E-DE89-08A4-7958011168D7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1031495" y="2333380"/>
            <a:ext cx="3376200" cy="673379"/>
          </a:xfrm>
        </p:spPr>
        <p:txBody>
          <a:bodyPr/>
          <a:lstStyle/>
          <a:p>
            <a:r>
              <a:rPr lang="en-US" sz="1600" dirty="0">
                <a:solidFill>
                  <a:srgbClr val="3B3A3A"/>
                </a:solidFill>
              </a:rPr>
              <a:t>Effective Transfer Learning</a:t>
            </a:r>
          </a:p>
        </p:txBody>
      </p:sp>
      <p:sp>
        <p:nvSpPr>
          <p:cNvPr id="12" name="Google Shape;395;p35">
            <a:extLst>
              <a:ext uri="{FF2B5EF4-FFF2-40B4-BE49-F238E27FC236}">
                <a16:creationId xmlns:a16="http://schemas.microsoft.com/office/drawing/2014/main" id="{9BAFED6D-4F16-7738-2DBD-7CFF7339FC49}"/>
              </a:ext>
            </a:extLst>
          </p:cNvPr>
          <p:cNvSpPr txBox="1">
            <a:spLocks/>
          </p:cNvSpPr>
          <p:nvPr/>
        </p:nvSpPr>
        <p:spPr>
          <a:xfrm>
            <a:off x="1031495" y="1691104"/>
            <a:ext cx="3376200" cy="7421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Designed and integrated a complete 12-DOF quadrupedal robot within a high-fidelity simulation framework.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" name="Google Shape;395;p35">
            <a:extLst>
              <a:ext uri="{FF2B5EF4-FFF2-40B4-BE49-F238E27FC236}">
                <a16:creationId xmlns:a16="http://schemas.microsoft.com/office/drawing/2014/main" id="{9855572C-DB41-BBF4-DD55-B788B1876400}"/>
              </a:ext>
            </a:extLst>
          </p:cNvPr>
          <p:cNvSpPr txBox="1">
            <a:spLocks/>
          </p:cNvSpPr>
          <p:nvPr/>
        </p:nvSpPr>
        <p:spPr>
          <a:xfrm>
            <a:off x="4751545" y="1691104"/>
            <a:ext cx="3376200" cy="7421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Achieved robust walking performance across flat, rough, and obstacle-based terrains using PPO.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" name="Google Shape;395;p35">
            <a:extLst>
              <a:ext uri="{FF2B5EF4-FFF2-40B4-BE49-F238E27FC236}">
                <a16:creationId xmlns:a16="http://schemas.microsoft.com/office/drawing/2014/main" id="{AB1DDA87-7EBC-3027-6ADC-A14E542E4F40}"/>
              </a:ext>
            </a:extLst>
          </p:cNvPr>
          <p:cNvSpPr txBox="1">
            <a:spLocks/>
          </p:cNvSpPr>
          <p:nvPr/>
        </p:nvSpPr>
        <p:spPr>
          <a:xfrm>
            <a:off x="1031495" y="3006759"/>
            <a:ext cx="3376200" cy="7421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Demonstrated improved training efficiency and adaptation by progressively transferring learned policies across environments.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5" name="Google Shape;395;p35">
            <a:extLst>
              <a:ext uri="{FF2B5EF4-FFF2-40B4-BE49-F238E27FC236}">
                <a16:creationId xmlns:a16="http://schemas.microsoft.com/office/drawing/2014/main" id="{1C58DA7D-A90E-9418-2866-607273528155}"/>
              </a:ext>
            </a:extLst>
          </p:cNvPr>
          <p:cNvSpPr txBox="1">
            <a:spLocks/>
          </p:cNvSpPr>
          <p:nvPr/>
        </p:nvSpPr>
        <p:spPr>
          <a:xfrm>
            <a:off x="4751545" y="3006759"/>
            <a:ext cx="3376200" cy="7421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Established a reliable locomotion backbone that enables future integration of perception, navigation, and real-world deployment.</a:t>
            </a:r>
            <a:endParaRPr lang="en-GB" sz="12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58A967B1-CA6E-E9C9-3000-BF9B8C41863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4800" b="1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Font typeface="Inter Tight"/>
              <a:buNone/>
              <a:defRPr sz="10000" b="1" i="0" u="none" strike="noStrik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r>
              <a:rPr lang="en-US" sz="3000" dirty="0">
                <a:solidFill>
                  <a:schemeClr val="dk1"/>
                </a:solidFill>
              </a:rPr>
              <a:t>Conclusion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3D Model 16">
                <a:extLst>
                  <a:ext uri="{FF2B5EF4-FFF2-40B4-BE49-F238E27FC236}">
                    <a16:creationId xmlns:a16="http://schemas.microsoft.com/office/drawing/2014/main" id="{E98430EC-9B70-A7B7-1395-298C67B4AC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2217002"/>
                  </p:ext>
                </p:extLst>
              </p:nvPr>
            </p:nvGraphicFramePr>
            <p:xfrm>
              <a:off x="3580405" y="3429100"/>
              <a:ext cx="1983188" cy="146954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83188" cy="1469548"/>
                    </a:xfrm>
                    <a:prstGeom prst="rect">
                      <a:avLst/>
                    </a:prstGeom>
                  </am3d:spPr>
                  <am3d:camera>
                    <am3d:pos x="0" y="0" z="662135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325" d="1000000"/>
                    <am3d:preTrans dx="0" dy="-29784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71751" ay="-47916" az="1078446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4576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3D Model 16">
                <a:extLst>
                  <a:ext uri="{FF2B5EF4-FFF2-40B4-BE49-F238E27FC236}">
                    <a16:creationId xmlns:a16="http://schemas.microsoft.com/office/drawing/2014/main" id="{E98430EC-9B70-A7B7-1395-298C67B4AC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0405" y="3429100"/>
                <a:ext cx="1983188" cy="14695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8938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4572000" y="2093147"/>
            <a:ext cx="3434400" cy="13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strategy</a:t>
            </a:r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2"/>
          </p:nvPr>
        </p:nvSpPr>
        <p:spPr>
          <a:xfrm>
            <a:off x="4572000" y="1291575"/>
            <a:ext cx="12231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subTitle" idx="1"/>
          </p:nvPr>
        </p:nvSpPr>
        <p:spPr>
          <a:xfrm>
            <a:off x="4572000" y="3447825"/>
            <a:ext cx="34344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enter a subtitle here if you need it</a:t>
            </a:r>
            <a:endParaRPr/>
          </a:p>
        </p:txBody>
      </p:sp>
      <p:pic>
        <p:nvPicPr>
          <p:cNvPr id="324" name="Google Shape;324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812" t="4001" r="2794" b="11410"/>
          <a:stretch/>
        </p:blipFill>
        <p:spPr>
          <a:xfrm>
            <a:off x="979750" y="787350"/>
            <a:ext cx="2937601" cy="3943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map &amp; balanced scorecard</a:t>
            </a:r>
            <a:endParaRPr/>
          </a:p>
        </p:txBody>
      </p:sp>
      <p:graphicFrame>
        <p:nvGraphicFramePr>
          <p:cNvPr id="365" name="Google Shape;365;p33"/>
          <p:cNvGraphicFramePr/>
          <p:nvPr/>
        </p:nvGraphicFramePr>
        <p:xfrm>
          <a:off x="720000" y="1245108"/>
          <a:ext cx="7704000" cy="3274260"/>
        </p:xfrm>
        <a:graphic>
          <a:graphicData uri="http://schemas.openxmlformats.org/drawingml/2006/table">
            <a:tbl>
              <a:tblPr>
                <a:noFill/>
                <a:tableStyleId>{7C53DCA3-0469-43A2-92A7-01D8EBA634FB}</a:tableStyleId>
              </a:tblPr>
              <a:tblGrid>
                <a:gridCol w="16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Perspectives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Strategic objectives</a:t>
                      </a:r>
                      <a:endParaRPr sz="16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Financial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F1 -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F2 -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F3 -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F4 -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Customer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C1 -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C2 -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C3 -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C4 -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Internal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process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I1 -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I2 -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I3 -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I4 -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Learning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and growth</a:t>
                      </a:r>
                      <a:endParaRPr sz="1600"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L1 -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L2 -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L3 -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L4 - insert your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own text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the risks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6414600" y="1805813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Venus</a:t>
            </a:r>
            <a:endParaRPr sz="18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6414600" y="2084508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Venus is the second planet from the Sun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6414600" y="3263596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Mars</a:t>
            </a:r>
            <a:endParaRPr sz="18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6414600" y="3536417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4443300" y="3263596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Jupiter</a:t>
            </a:r>
            <a:endParaRPr sz="18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4443300" y="3536417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Jupiter is a gas giant and the biggest planet 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7" name="Google Shape;377;p34"/>
          <p:cNvSpPr txBox="1"/>
          <p:nvPr/>
        </p:nvSpPr>
        <p:spPr>
          <a:xfrm>
            <a:off x="4443300" y="1805813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Saturn</a:t>
            </a:r>
            <a:endParaRPr sz="18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4443300" y="2084508"/>
            <a:ext cx="197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6414600" y="1309313"/>
            <a:ext cx="79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rPr>
              <a:t>20%</a:t>
            </a:r>
            <a:endParaRPr sz="2500" b="1">
              <a:solidFill>
                <a:schemeClr val="dk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6414600" y="2765713"/>
            <a:ext cx="79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30%</a:t>
            </a:r>
            <a:endParaRPr sz="2500" b="1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4443300" y="2765713"/>
            <a:ext cx="79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1"/>
                </a:solidFill>
                <a:latin typeface="Inter Tight"/>
                <a:ea typeface="Inter Tight"/>
                <a:cs typeface="Inter Tight"/>
                <a:sym typeface="Inter Tight"/>
              </a:rPr>
              <a:t>45%</a:t>
            </a:r>
            <a:endParaRPr sz="2500" b="1">
              <a:solidFill>
                <a:schemeClr val="accen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4443300" y="1309313"/>
            <a:ext cx="79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5"/>
                </a:solidFill>
                <a:latin typeface="Inter Tight"/>
                <a:ea typeface="Inter Tight"/>
                <a:cs typeface="Inter Tight"/>
                <a:sym typeface="Inter Tight"/>
              </a:rPr>
              <a:t>5%</a:t>
            </a:r>
            <a:endParaRPr sz="2500" b="1">
              <a:solidFill>
                <a:schemeClr val="accent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861975" y="4034550"/>
            <a:ext cx="3203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* Follow the link in the graph to modify its data and then paste the new one here. </a:t>
            </a:r>
            <a:r>
              <a:rPr lang="en" sz="8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800" b="1" u="sng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84" name="Google Shape;384;p34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100" y="1533246"/>
            <a:ext cx="3456599" cy="2501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6"/>
          <p:cNvSpPr txBox="1">
            <a:spLocks noGrp="1"/>
          </p:cNvSpPr>
          <p:nvPr>
            <p:ph type="title"/>
          </p:nvPr>
        </p:nvSpPr>
        <p:spPr>
          <a:xfrm>
            <a:off x="4657800" y="1529325"/>
            <a:ext cx="3766200" cy="20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401" name="Google Shape;401;p36"/>
          <p:cNvGrpSpPr/>
          <p:nvPr/>
        </p:nvGrpSpPr>
        <p:grpSpPr>
          <a:xfrm>
            <a:off x="1440018" y="1646688"/>
            <a:ext cx="2587530" cy="3084637"/>
            <a:chOff x="2743920" y="1646640"/>
            <a:chExt cx="867600" cy="1034280"/>
          </a:xfrm>
        </p:grpSpPr>
        <p:sp>
          <p:nvSpPr>
            <p:cNvPr id="402" name="Google Shape;402;p36"/>
            <p:cNvSpPr/>
            <p:nvPr/>
          </p:nvSpPr>
          <p:spPr>
            <a:xfrm>
              <a:off x="3375000" y="2154240"/>
              <a:ext cx="236520" cy="232920"/>
            </a:xfrm>
            <a:custGeom>
              <a:avLst/>
              <a:gdLst/>
              <a:ahLst/>
              <a:cxnLst/>
              <a:rect l="l" t="t" r="r" b="b"/>
              <a:pathLst>
                <a:path w="657" h="647" extrusionOk="0">
                  <a:moveTo>
                    <a:pt x="657" y="647"/>
                  </a:moveTo>
                  <a:lnTo>
                    <a:pt x="0" y="647"/>
                  </a:lnTo>
                  <a:lnTo>
                    <a:pt x="0" y="0"/>
                  </a:lnTo>
                  <a:lnTo>
                    <a:pt x="657" y="0"/>
                  </a:lnTo>
                  <a:lnTo>
                    <a:pt x="657" y="6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3401280" y="217548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3461040" y="236232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3401280" y="2189160"/>
              <a:ext cx="78480" cy="4680"/>
            </a:xfrm>
            <a:custGeom>
              <a:avLst/>
              <a:gdLst/>
              <a:ahLst/>
              <a:cxnLst/>
              <a:rect l="l" t="t" r="r" b="b"/>
              <a:pathLst>
                <a:path w="218" h="13" extrusionOk="0">
                  <a:moveTo>
                    <a:pt x="218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218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3401280" y="220428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461040" y="235224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3486600" y="2154240"/>
              <a:ext cx="21240" cy="94680"/>
            </a:xfrm>
            <a:custGeom>
              <a:avLst/>
              <a:gdLst/>
              <a:ahLst/>
              <a:cxnLst/>
              <a:rect l="l" t="t" r="r" b="b"/>
              <a:pathLst>
                <a:path w="59" h="263" extrusionOk="0">
                  <a:moveTo>
                    <a:pt x="45" y="260"/>
                  </a:moveTo>
                  <a:lnTo>
                    <a:pt x="45" y="260"/>
                  </a:lnTo>
                  <a:cubicBezTo>
                    <a:pt x="43" y="260"/>
                    <a:pt x="42" y="260"/>
                    <a:pt x="41" y="260"/>
                  </a:cubicBezTo>
                  <a:lnTo>
                    <a:pt x="26" y="263"/>
                  </a:lnTo>
                  <a:cubicBezTo>
                    <a:pt x="25" y="263"/>
                    <a:pt x="24" y="263"/>
                    <a:pt x="22" y="263"/>
                  </a:cubicBezTo>
                  <a:lnTo>
                    <a:pt x="11" y="262"/>
                  </a:lnTo>
                  <a:cubicBezTo>
                    <a:pt x="10" y="262"/>
                    <a:pt x="9" y="262"/>
                    <a:pt x="8" y="262"/>
                  </a:cubicBezTo>
                  <a:lnTo>
                    <a:pt x="0" y="263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48"/>
                  </a:lnTo>
                  <a:cubicBezTo>
                    <a:pt x="59" y="255"/>
                    <a:pt x="52" y="261"/>
                    <a:pt x="45" y="2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3565080" y="2239920"/>
              <a:ext cx="41760" cy="18000"/>
            </a:xfrm>
            <a:custGeom>
              <a:avLst/>
              <a:gdLst/>
              <a:ahLst/>
              <a:cxnLst/>
              <a:rect l="l" t="t" r="r" b="b"/>
              <a:pathLst>
                <a:path w="116" h="50" extrusionOk="0">
                  <a:moveTo>
                    <a:pt x="13" y="50"/>
                  </a:moveTo>
                  <a:lnTo>
                    <a:pt x="104" y="50"/>
                  </a:lnTo>
                  <a:cubicBezTo>
                    <a:pt x="111" y="50"/>
                    <a:pt x="116" y="45"/>
                    <a:pt x="116" y="38"/>
                  </a:cubicBezTo>
                  <a:lnTo>
                    <a:pt x="116" y="12"/>
                  </a:lnTo>
                  <a:cubicBezTo>
                    <a:pt x="116" y="5"/>
                    <a:pt x="111" y="0"/>
                    <a:pt x="104" y="0"/>
                  </a:cubicBezTo>
                  <a:lnTo>
                    <a:pt x="13" y="0"/>
                  </a:lnTo>
                  <a:cubicBezTo>
                    <a:pt x="6" y="0"/>
                    <a:pt x="0" y="5"/>
                    <a:pt x="0" y="12"/>
                  </a:cubicBezTo>
                  <a:lnTo>
                    <a:pt x="0" y="38"/>
                  </a:lnTo>
                  <a:cubicBezTo>
                    <a:pt x="0" y="45"/>
                    <a:pt x="6" y="50"/>
                    <a:pt x="1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340128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342792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340128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342792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793" y="0"/>
                  </a:move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220"/>
                  </a:lnTo>
                  <a:cubicBezTo>
                    <a:pt x="1013" y="99"/>
                    <a:pt x="914" y="0"/>
                    <a:pt x="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116" y="227"/>
                  </a:moveTo>
                  <a:cubicBezTo>
                    <a:pt x="116" y="166"/>
                    <a:pt x="160" y="114"/>
                    <a:pt x="220" y="103"/>
                  </a:cubicBezTo>
                  <a:cubicBezTo>
                    <a:pt x="409" y="70"/>
                    <a:pt x="794" y="2"/>
                    <a:pt x="805" y="1"/>
                  </a:cubicBezTo>
                  <a:cubicBezTo>
                    <a:pt x="803" y="1"/>
                    <a:pt x="802" y="1"/>
                    <a:pt x="800" y="1"/>
                  </a:cubicBezTo>
                  <a:lnTo>
                    <a:pt x="790" y="0"/>
                  </a:ln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1423"/>
                  </a:lnTo>
                  <a:lnTo>
                    <a:pt x="169" y="1332"/>
                  </a:lnTo>
                  <a:cubicBezTo>
                    <a:pt x="139" y="1328"/>
                    <a:pt x="116" y="1303"/>
                    <a:pt x="116" y="1273"/>
                  </a:cubicBezTo>
                  <a:lnTo>
                    <a:pt x="116" y="22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2814840" y="1646640"/>
              <a:ext cx="364680" cy="104040"/>
            </a:xfrm>
            <a:custGeom>
              <a:avLst/>
              <a:gdLst/>
              <a:ahLst/>
              <a:cxnLst/>
              <a:rect l="l" t="t" r="r" b="b"/>
              <a:pathLst>
                <a:path w="1013" h="289" extrusionOk="0">
                  <a:moveTo>
                    <a:pt x="868" y="289"/>
                  </a:moveTo>
                  <a:lnTo>
                    <a:pt x="145" y="289"/>
                  </a:lnTo>
                  <a:cubicBezTo>
                    <a:pt x="66" y="289"/>
                    <a:pt x="0" y="224"/>
                    <a:pt x="0" y="145"/>
                  </a:cubicBezTo>
                  <a:cubicBezTo>
                    <a:pt x="0" y="65"/>
                    <a:pt x="66" y="0"/>
                    <a:pt x="145" y="0"/>
                  </a:cubicBezTo>
                  <a:lnTo>
                    <a:pt x="868" y="0"/>
                  </a:lnTo>
                  <a:cubicBezTo>
                    <a:pt x="947" y="0"/>
                    <a:pt x="1013" y="65"/>
                    <a:pt x="1013" y="145"/>
                  </a:cubicBezTo>
                  <a:cubicBezTo>
                    <a:pt x="1013" y="224"/>
                    <a:pt x="947" y="289"/>
                    <a:pt x="868" y="2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856600" y="1665360"/>
              <a:ext cx="289440" cy="33480"/>
            </a:xfrm>
            <a:custGeom>
              <a:avLst/>
              <a:gdLst/>
              <a:ahLst/>
              <a:cxnLst/>
              <a:rect l="l" t="t" r="r" b="b"/>
              <a:pathLst>
                <a:path w="804" h="93" extrusionOk="0">
                  <a:moveTo>
                    <a:pt x="757" y="93"/>
                  </a:moveTo>
                  <a:lnTo>
                    <a:pt x="46" y="93"/>
                  </a:ln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lnTo>
                    <a:pt x="757" y="0"/>
                  </a:lnTo>
                  <a:cubicBezTo>
                    <a:pt x="783" y="0"/>
                    <a:pt x="804" y="21"/>
                    <a:pt x="804" y="46"/>
                  </a:cubicBezTo>
                  <a:cubicBezTo>
                    <a:pt x="804" y="72"/>
                    <a:pt x="783" y="93"/>
                    <a:pt x="757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2939400" y="1715040"/>
              <a:ext cx="120600" cy="13680"/>
            </a:xfrm>
            <a:custGeom>
              <a:avLst/>
              <a:gdLst/>
              <a:ahLst/>
              <a:cxnLst/>
              <a:rect l="l" t="t" r="r" b="b"/>
              <a:pathLst>
                <a:path w="335" h="38" extrusionOk="0">
                  <a:moveTo>
                    <a:pt x="316" y="38"/>
                  </a:moveTo>
                  <a:lnTo>
                    <a:pt x="18" y="38"/>
                  </a:lnTo>
                  <a:cubicBezTo>
                    <a:pt x="8" y="38"/>
                    <a:pt x="0" y="2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316" y="0"/>
                  </a:lnTo>
                  <a:cubicBezTo>
                    <a:pt x="326" y="0"/>
                    <a:pt x="335" y="9"/>
                    <a:pt x="335" y="19"/>
                  </a:cubicBezTo>
                  <a:cubicBezTo>
                    <a:pt x="335" y="29"/>
                    <a:pt x="326" y="38"/>
                    <a:pt x="31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3116880" y="1671840"/>
              <a:ext cx="20160" cy="20520"/>
            </a:xfrm>
            <a:custGeom>
              <a:avLst/>
              <a:gdLst/>
              <a:ahLst/>
              <a:cxnLst/>
              <a:rect l="l" t="t" r="r" b="b"/>
              <a:pathLst>
                <a:path w="56" h="57" extrusionOk="0">
                  <a:moveTo>
                    <a:pt x="56" y="28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12" y="57"/>
                    <a:pt x="0" y="44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2923560" y="1887840"/>
              <a:ext cx="136440" cy="224640"/>
            </a:xfrm>
            <a:custGeom>
              <a:avLst/>
              <a:gdLst/>
              <a:ahLst/>
              <a:cxnLst/>
              <a:rect l="l" t="t" r="r" b="b"/>
              <a:pathLst>
                <a:path w="379" h="624" extrusionOk="0">
                  <a:moveTo>
                    <a:pt x="41" y="0"/>
                  </a:moveTo>
                  <a:lnTo>
                    <a:pt x="0" y="624"/>
                  </a:lnTo>
                  <a:lnTo>
                    <a:pt x="369" y="624"/>
                  </a:lnTo>
                  <a:lnTo>
                    <a:pt x="379" y="59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2941560" y="1904760"/>
              <a:ext cx="118440" cy="197280"/>
            </a:xfrm>
            <a:custGeom>
              <a:avLst/>
              <a:gdLst/>
              <a:ahLst/>
              <a:cxnLst/>
              <a:rect l="l" t="t" r="r" b="b"/>
              <a:pathLst>
                <a:path w="329" h="548" extrusionOk="0">
                  <a:moveTo>
                    <a:pt x="329" y="548"/>
                  </a:moveTo>
                  <a:lnTo>
                    <a:pt x="0" y="548"/>
                  </a:lnTo>
                  <a:lnTo>
                    <a:pt x="0" y="0"/>
                  </a:lnTo>
                  <a:lnTo>
                    <a:pt x="329" y="0"/>
                  </a:lnTo>
                  <a:lnTo>
                    <a:pt x="329" y="5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990520" y="1847880"/>
              <a:ext cx="250200" cy="91440"/>
            </a:xfrm>
            <a:custGeom>
              <a:avLst/>
              <a:gdLst/>
              <a:ahLst/>
              <a:cxnLst/>
              <a:rect l="l" t="t" r="r" b="b"/>
              <a:pathLst>
                <a:path w="695" h="254" extrusionOk="0">
                  <a:moveTo>
                    <a:pt x="695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695" y="0"/>
                  </a:lnTo>
                  <a:lnTo>
                    <a:pt x="695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3060000" y="1932480"/>
              <a:ext cx="119520" cy="36360"/>
            </a:xfrm>
            <a:custGeom>
              <a:avLst/>
              <a:gdLst/>
              <a:ahLst/>
              <a:cxnLst/>
              <a:rect l="l" t="t" r="r" b="b"/>
              <a:pathLst>
                <a:path w="332" h="101" extrusionOk="0">
                  <a:moveTo>
                    <a:pt x="332" y="19"/>
                  </a:moveTo>
                  <a:lnTo>
                    <a:pt x="332" y="63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332" y="19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3300120" y="1847880"/>
              <a:ext cx="194760" cy="91440"/>
            </a:xfrm>
            <a:custGeom>
              <a:avLst/>
              <a:gdLst/>
              <a:ahLst/>
              <a:cxnLst/>
              <a:rect l="l" t="t" r="r" b="b"/>
              <a:pathLst>
                <a:path w="541" h="254" extrusionOk="0">
                  <a:moveTo>
                    <a:pt x="541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541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3449520" y="1893600"/>
              <a:ext cx="91440" cy="122760"/>
            </a:xfrm>
            <a:custGeom>
              <a:avLst/>
              <a:gdLst/>
              <a:ahLst/>
              <a:cxnLst/>
              <a:rect l="l" t="t" r="r" b="b"/>
              <a:pathLst>
                <a:path w="254" h="341" extrusionOk="0">
                  <a:moveTo>
                    <a:pt x="0" y="0"/>
                  </a:moveTo>
                  <a:lnTo>
                    <a:pt x="254" y="0"/>
                  </a:lnTo>
                  <a:lnTo>
                    <a:pt x="254" y="341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3002400" y="1925640"/>
              <a:ext cx="508680" cy="13680"/>
            </a:xfrm>
            <a:custGeom>
              <a:avLst/>
              <a:gdLst/>
              <a:ahLst/>
              <a:cxnLst/>
              <a:rect l="l" t="t" r="r" b="b"/>
              <a:pathLst>
                <a:path w="1413" h="38" extrusionOk="0">
                  <a:moveTo>
                    <a:pt x="141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413" y="38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9379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6"/>
                  </a:moveTo>
                  <a:cubicBezTo>
                    <a:pt x="351" y="273"/>
                    <a:pt x="273" y="351"/>
                    <a:pt x="176" y="351"/>
                  </a:cubicBezTo>
                  <a:cubicBezTo>
                    <a:pt x="79" y="351"/>
                    <a:pt x="0" y="273"/>
                    <a:pt x="0" y="176"/>
                  </a:cubicBezTo>
                  <a:cubicBezTo>
                    <a:pt x="0" y="79"/>
                    <a:pt x="79" y="0"/>
                    <a:pt x="176" y="0"/>
                  </a:cubicBezTo>
                  <a:cubicBezTo>
                    <a:pt x="273" y="0"/>
                    <a:pt x="351" y="79"/>
                    <a:pt x="351" y="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31845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5"/>
                  </a:moveTo>
                  <a:cubicBezTo>
                    <a:pt x="351" y="272"/>
                    <a:pt x="273" y="351"/>
                    <a:pt x="176" y="351"/>
                  </a:cubicBezTo>
                  <a:cubicBezTo>
                    <a:pt x="79" y="351"/>
                    <a:pt x="0" y="272"/>
                    <a:pt x="0" y="175"/>
                  </a:cubicBezTo>
                  <a:cubicBezTo>
                    <a:pt x="0" y="78"/>
                    <a:pt x="79" y="0"/>
                    <a:pt x="176" y="0"/>
                  </a:cubicBezTo>
                  <a:cubicBezTo>
                    <a:pt x="273" y="0"/>
                    <a:pt x="351" y="78"/>
                    <a:pt x="351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3435480" y="2012040"/>
              <a:ext cx="119520" cy="142200"/>
            </a:xfrm>
            <a:custGeom>
              <a:avLst/>
              <a:gdLst/>
              <a:ahLst/>
              <a:cxnLst/>
              <a:rect l="l" t="t" r="r" b="b"/>
              <a:pathLst>
                <a:path w="332" h="395" extrusionOk="0">
                  <a:moveTo>
                    <a:pt x="0" y="0"/>
                  </a:moveTo>
                  <a:lnTo>
                    <a:pt x="332" y="0"/>
                  </a:lnTo>
                  <a:lnTo>
                    <a:pt x="332" y="395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3449520" y="1925640"/>
              <a:ext cx="21600" cy="86400"/>
            </a:xfrm>
            <a:custGeom>
              <a:avLst/>
              <a:gdLst/>
              <a:ahLst/>
              <a:cxnLst/>
              <a:rect l="l" t="t" r="r" b="b"/>
              <a:pathLst>
                <a:path w="60" h="240" extrusionOk="0">
                  <a:moveTo>
                    <a:pt x="60" y="240"/>
                  </a:moveTo>
                  <a:lnTo>
                    <a:pt x="0" y="2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4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1400" rIns="90000" bIns="41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3432240" y="1830600"/>
              <a:ext cx="126000" cy="126360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350" y="175"/>
                  </a:moveTo>
                  <a:cubicBezTo>
                    <a:pt x="350" y="272"/>
                    <a:pt x="271" y="351"/>
                    <a:pt x="174" y="351"/>
                  </a:cubicBezTo>
                  <a:cubicBezTo>
                    <a:pt x="78" y="351"/>
                    <a:pt x="0" y="272"/>
                    <a:pt x="0" y="175"/>
                  </a:cubicBezTo>
                  <a:cubicBezTo>
                    <a:pt x="0" y="78"/>
                    <a:pt x="78" y="0"/>
                    <a:pt x="174" y="0"/>
                  </a:cubicBezTo>
                  <a:cubicBezTo>
                    <a:pt x="271" y="0"/>
                    <a:pt x="350" y="78"/>
                    <a:pt x="350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2765880" y="2594880"/>
              <a:ext cx="36360" cy="86040"/>
            </a:xfrm>
            <a:custGeom>
              <a:avLst/>
              <a:gdLst/>
              <a:ahLst/>
              <a:cxnLst/>
              <a:rect l="l" t="t" r="r" b="b"/>
              <a:pathLst>
                <a:path w="101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1" y="23"/>
                    <a:pt x="101" y="51"/>
                  </a:cubicBezTo>
                  <a:lnTo>
                    <a:pt x="101" y="188"/>
                  </a:lnTo>
                  <a:cubicBezTo>
                    <a:pt x="101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3192120" y="2594880"/>
              <a:ext cx="36720" cy="86040"/>
            </a:xfrm>
            <a:custGeom>
              <a:avLst/>
              <a:gdLst/>
              <a:ahLst/>
              <a:cxnLst/>
              <a:rect l="l" t="t" r="r" b="b"/>
              <a:pathLst>
                <a:path w="102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2" y="23"/>
                    <a:pt x="102" y="51"/>
                  </a:cubicBezTo>
                  <a:lnTo>
                    <a:pt x="102" y="188"/>
                  </a:lnTo>
                  <a:cubicBezTo>
                    <a:pt x="102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743920" y="2413800"/>
              <a:ext cx="506520" cy="216720"/>
            </a:xfrm>
            <a:custGeom>
              <a:avLst/>
              <a:gdLst/>
              <a:ahLst/>
              <a:cxnLst/>
              <a:rect l="l" t="t" r="r" b="b"/>
              <a:pathLst>
                <a:path w="1407" h="602" extrusionOk="0">
                  <a:moveTo>
                    <a:pt x="1357" y="602"/>
                  </a:moveTo>
                  <a:lnTo>
                    <a:pt x="50" y="602"/>
                  </a:lnTo>
                  <a:cubicBezTo>
                    <a:pt x="22" y="602"/>
                    <a:pt x="0" y="579"/>
                    <a:pt x="0" y="552"/>
                  </a:cubicBezTo>
                  <a:lnTo>
                    <a:pt x="0" y="0"/>
                  </a:lnTo>
                  <a:lnTo>
                    <a:pt x="1407" y="0"/>
                  </a:lnTo>
                  <a:lnTo>
                    <a:pt x="1407" y="552"/>
                  </a:lnTo>
                  <a:cubicBezTo>
                    <a:pt x="1407" y="579"/>
                    <a:pt x="1385" y="602"/>
                    <a:pt x="1357" y="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2743920" y="236520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407" y="135"/>
                  </a:moveTo>
                  <a:lnTo>
                    <a:pt x="0" y="135"/>
                  </a:lnTo>
                  <a:lnTo>
                    <a:pt x="0" y="44"/>
                  </a:lnTo>
                  <a:cubicBezTo>
                    <a:pt x="0" y="20"/>
                    <a:pt x="20" y="0"/>
                    <a:pt x="44" y="0"/>
                  </a:cubicBezTo>
                  <a:lnTo>
                    <a:pt x="1363" y="0"/>
                  </a:lnTo>
                  <a:cubicBezTo>
                    <a:pt x="1387" y="0"/>
                    <a:pt x="1407" y="20"/>
                    <a:pt x="1407" y="44"/>
                  </a:cubicBezTo>
                  <a:lnTo>
                    <a:pt x="1407" y="1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2757240" y="2316960"/>
              <a:ext cx="478800" cy="48240"/>
            </a:xfrm>
            <a:custGeom>
              <a:avLst/>
              <a:gdLst/>
              <a:ahLst/>
              <a:cxnLst/>
              <a:rect l="l" t="t" r="r" b="b"/>
              <a:pathLst>
                <a:path w="1330" h="134" extrusionOk="0">
                  <a:moveTo>
                    <a:pt x="1330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330" y="0"/>
                  </a:lnTo>
                  <a:lnTo>
                    <a:pt x="1330" y="1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2743920" y="226836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365" y="135"/>
                  </a:moveTo>
                  <a:lnTo>
                    <a:pt x="42" y="135"/>
                  </a:lnTo>
                  <a:cubicBezTo>
                    <a:pt x="19" y="135"/>
                    <a:pt x="0" y="116"/>
                    <a:pt x="0" y="93"/>
                  </a:cubicBezTo>
                  <a:lnTo>
                    <a:pt x="0" y="42"/>
                  </a:lnTo>
                  <a:cubicBezTo>
                    <a:pt x="0" y="19"/>
                    <a:pt x="19" y="0"/>
                    <a:pt x="42" y="0"/>
                  </a:cubicBezTo>
                  <a:lnTo>
                    <a:pt x="1365" y="0"/>
                  </a:lnTo>
                  <a:cubicBezTo>
                    <a:pt x="1388" y="0"/>
                    <a:pt x="1407" y="19"/>
                    <a:pt x="1407" y="42"/>
                  </a:cubicBezTo>
                  <a:lnTo>
                    <a:pt x="1407" y="93"/>
                  </a:lnTo>
                  <a:cubicBezTo>
                    <a:pt x="1407" y="116"/>
                    <a:pt x="1388" y="135"/>
                    <a:pt x="1365" y="1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446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446" y="2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939760" y="2474280"/>
              <a:ext cx="116280" cy="47520"/>
            </a:xfrm>
            <a:custGeom>
              <a:avLst/>
              <a:gdLst/>
              <a:ahLst/>
              <a:cxnLst/>
              <a:rect l="l" t="t" r="r" b="b"/>
              <a:pathLst>
                <a:path w="323" h="132" extrusionOk="0">
                  <a:moveTo>
                    <a:pt x="323" y="132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500" rIns="90000" bIns="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939760" y="2316960"/>
              <a:ext cx="116640" cy="48240"/>
            </a:xfrm>
            <a:custGeom>
              <a:avLst/>
              <a:gdLst/>
              <a:ahLst/>
              <a:cxnLst/>
              <a:rect l="l" t="t" r="r" b="b"/>
              <a:pathLst>
                <a:path w="324" h="134" extrusionOk="0">
                  <a:moveTo>
                    <a:pt x="324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2980440" y="2323800"/>
              <a:ext cx="34920" cy="34560"/>
            </a:xfrm>
            <a:custGeom>
              <a:avLst/>
              <a:gdLst/>
              <a:ahLst/>
              <a:cxnLst/>
              <a:rect l="l" t="t" r="r" b="b"/>
              <a:pathLst>
                <a:path w="97" h="96" extrusionOk="0">
                  <a:moveTo>
                    <a:pt x="97" y="48"/>
                  </a:moveTo>
                  <a:cubicBezTo>
                    <a:pt x="97" y="75"/>
                    <a:pt x="75" y="96"/>
                    <a:pt x="49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5" y="0"/>
                    <a:pt x="97" y="22"/>
                    <a:pt x="9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2757240" y="2316960"/>
              <a:ext cx="478800" cy="24120"/>
            </a:xfrm>
            <a:custGeom>
              <a:avLst/>
              <a:gdLst/>
              <a:ahLst/>
              <a:cxnLst/>
              <a:rect l="l" t="t" r="r" b="b"/>
              <a:pathLst>
                <a:path w="1330" h="67" extrusionOk="0">
                  <a:moveTo>
                    <a:pt x="1328" y="0"/>
                  </a:moveTo>
                  <a:lnTo>
                    <a:pt x="1330" y="19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974320" y="2481840"/>
              <a:ext cx="68760" cy="30960"/>
            </a:xfrm>
            <a:custGeom>
              <a:avLst/>
              <a:gdLst/>
              <a:ahLst/>
              <a:cxnLst/>
              <a:rect l="l" t="t" r="r" b="b"/>
              <a:pathLst>
                <a:path w="191" h="86" extrusionOk="0">
                  <a:moveTo>
                    <a:pt x="19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43920" y="2413800"/>
              <a:ext cx="506520" cy="24120"/>
            </a:xfrm>
            <a:custGeom>
              <a:avLst/>
              <a:gdLst/>
              <a:ahLst/>
              <a:cxnLst/>
              <a:rect l="l" t="t" r="r" b="b"/>
              <a:pathLst>
                <a:path w="1407" h="67" extrusionOk="0">
                  <a:moveTo>
                    <a:pt x="1407" y="0"/>
                  </a:moveTo>
                  <a:lnTo>
                    <a:pt x="1407" y="25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0" y="0"/>
                  </a:moveTo>
                  <a:lnTo>
                    <a:pt x="446" y="204"/>
                  </a:lnTo>
                  <a:lnTo>
                    <a:pt x="4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2990520" y="233388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0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951280" y="249804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1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10" y="41"/>
                    <a:pt x="0" y="32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model</a:t>
            </a:r>
            <a:endParaRPr/>
          </a:p>
        </p:txBody>
      </p:sp>
      <p:graphicFrame>
        <p:nvGraphicFramePr>
          <p:cNvPr id="453" name="Google Shape;453;p37"/>
          <p:cNvGraphicFramePr/>
          <p:nvPr/>
        </p:nvGraphicFramePr>
        <p:xfrm>
          <a:off x="720000" y="1129780"/>
          <a:ext cx="7704000" cy="3405575"/>
        </p:xfrm>
        <a:graphic>
          <a:graphicData uri="http://schemas.openxmlformats.org/drawingml/2006/table">
            <a:tbl>
              <a:tblPr>
                <a:noFill/>
                <a:tableStyleId>{7C53DCA3-0469-43A2-92A7-01D8EBA634FB}</a:tableStyleId>
              </a:tblPr>
              <a:tblGrid>
                <a:gridCol w="138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9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3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Historical results</a:t>
                      </a:r>
                      <a:endParaRPr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Forecast period</a:t>
                      </a:r>
                      <a:endParaRPr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Inc model</a:t>
                      </a:r>
                      <a:endParaRPr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20xx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25">
                <a:tc gridSpan="10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Balance sheet</a:t>
                      </a:r>
                      <a:endParaRPr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00">
                <a:tc gridSpan="10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Assets</a:t>
                      </a:r>
                      <a:endParaRPr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Cash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Accounts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Inventory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Current assets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Property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Goodwill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Total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Xx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 and supporting arguments</a:t>
            </a:r>
            <a:endParaRPr/>
          </a:p>
        </p:txBody>
      </p:sp>
      <p:sp>
        <p:nvSpPr>
          <p:cNvPr id="459" name="Google Shape;459;p38"/>
          <p:cNvSpPr/>
          <p:nvPr/>
        </p:nvSpPr>
        <p:spPr>
          <a:xfrm>
            <a:off x="3133650" y="3817204"/>
            <a:ext cx="2876700" cy="6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700" rIns="9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Reduce costs by $5 million through operational improvements </a:t>
            </a:r>
            <a:endParaRPr sz="12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946025" y="2022641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Select non-core functions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946133" y="1475116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Evaluate cost and service level of potential partners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946123" y="2570166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Choose one partner for each function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3590850" y="1475116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Design current processes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3590850" y="2022640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Compare current process to best-in-class benchmarks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3590850" y="2570166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Adopt best practices based on benchmarks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6" name="Google Shape;466;p38"/>
          <p:cNvSpPr/>
          <p:nvPr/>
        </p:nvSpPr>
        <p:spPr>
          <a:xfrm>
            <a:off x="6185068" y="1475116"/>
            <a:ext cx="22389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Select and review current supplier costs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6185062" y="2022641"/>
            <a:ext cx="22389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Evaluate cost of potential alternative suppliers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8" name="Google Shape;468;p38"/>
          <p:cNvSpPr/>
          <p:nvPr/>
        </p:nvSpPr>
        <p:spPr>
          <a:xfrm>
            <a:off x="720000" y="3153716"/>
            <a:ext cx="2414100" cy="546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Outsource non-core</a:t>
            </a:r>
            <a:endParaRPr sz="12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functions to save $3 million</a:t>
            </a:r>
            <a:endParaRPr sz="12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69" name="Google Shape;469;p38"/>
          <p:cNvSpPr/>
          <p:nvPr/>
        </p:nvSpPr>
        <p:spPr>
          <a:xfrm>
            <a:off x="3364950" y="3153716"/>
            <a:ext cx="2414100" cy="546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Simplify core functions processes to save $1 million</a:t>
            </a:r>
            <a:endParaRPr sz="12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70" name="Google Shape;470;p38"/>
          <p:cNvSpPr/>
          <p:nvPr/>
        </p:nvSpPr>
        <p:spPr>
          <a:xfrm>
            <a:off x="6009949" y="3153716"/>
            <a:ext cx="2414100" cy="546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Review supplier cost</a:t>
            </a:r>
            <a:endParaRPr sz="12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to save $1 million </a:t>
            </a:r>
            <a:endParaRPr sz="1200" b="1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6185050" y="2570166"/>
            <a:ext cx="22389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Negotiate supplier contracts/choose options</a:t>
            </a:r>
            <a:endParaRPr sz="12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72" name="Google Shape;472;p38"/>
          <p:cNvSpPr txBox="1"/>
          <p:nvPr/>
        </p:nvSpPr>
        <p:spPr>
          <a:xfrm>
            <a:off x="1587150" y="1068500"/>
            <a:ext cx="596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How can the company reduce its cost by 10%?</a:t>
            </a:r>
            <a:endParaRPr sz="16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cxnSp>
        <p:nvCxnSpPr>
          <p:cNvPr id="473" name="Google Shape;473;p38"/>
          <p:cNvCxnSpPr>
            <a:stCxn id="459" idx="1"/>
            <a:endCxn id="468" idx="2"/>
          </p:cNvCxnSpPr>
          <p:nvPr/>
        </p:nvCxnSpPr>
        <p:spPr>
          <a:xfrm rot="10800000">
            <a:off x="1927050" y="3700654"/>
            <a:ext cx="1206600" cy="4347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4" name="Google Shape;474;p38"/>
          <p:cNvCxnSpPr>
            <a:stCxn id="459" idx="3"/>
            <a:endCxn id="470" idx="2"/>
          </p:cNvCxnSpPr>
          <p:nvPr/>
        </p:nvCxnSpPr>
        <p:spPr>
          <a:xfrm rot="10800000" flipH="1">
            <a:off x="6010350" y="3700654"/>
            <a:ext cx="1206600" cy="4347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8"/>
          <p:cNvCxnSpPr>
            <a:stCxn id="459" idx="0"/>
            <a:endCxn id="469" idx="2"/>
          </p:cNvCxnSpPr>
          <p:nvPr/>
        </p:nvCxnSpPr>
        <p:spPr>
          <a:xfrm rot="10800000">
            <a:off x="4572000" y="3700504"/>
            <a:ext cx="0" cy="11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8"/>
          <p:cNvSpPr/>
          <p:nvPr/>
        </p:nvSpPr>
        <p:spPr>
          <a:xfrm>
            <a:off x="720000" y="1475116"/>
            <a:ext cx="119400" cy="15633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8"/>
          <p:cNvSpPr/>
          <p:nvPr/>
        </p:nvSpPr>
        <p:spPr>
          <a:xfrm>
            <a:off x="3364950" y="1475116"/>
            <a:ext cx="119400" cy="15633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8"/>
          <p:cNvSpPr/>
          <p:nvPr/>
        </p:nvSpPr>
        <p:spPr>
          <a:xfrm>
            <a:off x="6010350" y="1475116"/>
            <a:ext cx="119400" cy="15633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Initiative prioritization matrix</a:t>
            </a:r>
            <a:endParaRPr/>
          </a:p>
        </p:txBody>
      </p:sp>
      <p:sp>
        <p:nvSpPr>
          <p:cNvPr id="484" name="Google Shape;484;p39"/>
          <p:cNvSpPr txBox="1">
            <a:spLocks noGrp="1"/>
          </p:cNvSpPr>
          <p:nvPr>
            <p:ph type="title" idx="2"/>
          </p:nvPr>
        </p:nvSpPr>
        <p:spPr>
          <a:xfrm>
            <a:off x="974003" y="1549850"/>
            <a:ext cx="3290100" cy="4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485" name="Google Shape;485;p39"/>
          <p:cNvSpPr txBox="1">
            <a:spLocks noGrp="1"/>
          </p:cNvSpPr>
          <p:nvPr>
            <p:ph type="title" idx="3"/>
          </p:nvPr>
        </p:nvSpPr>
        <p:spPr>
          <a:xfrm>
            <a:off x="4879895" y="2159450"/>
            <a:ext cx="3290100" cy="4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Effort</a:t>
            </a:r>
            <a:endParaRPr/>
          </a:p>
        </p:txBody>
      </p:sp>
      <p:sp>
        <p:nvSpPr>
          <p:cNvPr id="486" name="Google Shape;486;p39"/>
          <p:cNvSpPr txBox="1">
            <a:spLocks noGrp="1"/>
          </p:cNvSpPr>
          <p:nvPr>
            <p:ph type="subTitle" idx="1"/>
          </p:nvPr>
        </p:nvSpPr>
        <p:spPr>
          <a:xfrm>
            <a:off x="974003" y="2009700"/>
            <a:ext cx="3290100" cy="14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initiative with a high impact would mean one of the following: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⎼"/>
            </a:pPr>
            <a:r>
              <a:rPr lang="en"/>
              <a:t>The initiative needs to happen in order to achieve the desired future state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⎼"/>
            </a:pPr>
            <a:r>
              <a:rPr lang="en"/>
              <a:t>The initiative will significantly reduce the cost or increase our revenue</a:t>
            </a:r>
            <a:endParaRPr/>
          </a:p>
        </p:txBody>
      </p:sp>
      <p:sp>
        <p:nvSpPr>
          <p:cNvPr id="487" name="Google Shape;487;p39"/>
          <p:cNvSpPr txBox="1">
            <a:spLocks noGrp="1"/>
          </p:cNvSpPr>
          <p:nvPr>
            <p:ph type="subTitle" idx="4"/>
          </p:nvPr>
        </p:nvSpPr>
        <p:spPr>
          <a:xfrm>
            <a:off x="4879897" y="2619300"/>
            <a:ext cx="3290100" cy="14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“effort” criteria is assessed based on the following concepts: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⎼"/>
            </a:pPr>
            <a:r>
              <a:rPr lang="en"/>
              <a:t>Ease of implementation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⎼"/>
            </a:pPr>
            <a:r>
              <a:rPr lang="en"/>
              <a:t>Time frame required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⎼"/>
            </a:pPr>
            <a:r>
              <a:rPr lang="en"/>
              <a:t>Resources required (number of people, capital investment, etc.)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comparison table</a:t>
            </a:r>
            <a:endParaRPr/>
          </a:p>
        </p:txBody>
      </p:sp>
      <p:graphicFrame>
        <p:nvGraphicFramePr>
          <p:cNvPr id="493" name="Google Shape;493;p40"/>
          <p:cNvGraphicFramePr/>
          <p:nvPr/>
        </p:nvGraphicFramePr>
        <p:xfrm>
          <a:off x="720000" y="1389300"/>
          <a:ext cx="7704000" cy="2822700"/>
        </p:xfrm>
        <a:graphic>
          <a:graphicData uri="http://schemas.openxmlformats.org/drawingml/2006/table">
            <a:tbl>
              <a:tblPr>
                <a:noFill/>
                <a:tableStyleId>{7C53DCA3-0469-43A2-92A7-01D8EBA634FB}</a:tableStyleId>
              </a:tblPr>
              <a:tblGrid>
                <a:gridCol w="19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Attributes</a:t>
                      </a:r>
                      <a:endParaRPr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Competitor A</a:t>
                      </a:r>
                      <a:endParaRPr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Competitor B</a:t>
                      </a:r>
                      <a:endParaRPr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My business</a:t>
                      </a:r>
                      <a:endParaRPr b="1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Price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$360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$320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$300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Quality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Low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Medium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High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Customer age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20-40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18-45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18-50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Reputation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Bad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Average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Good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Location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Spain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Italy</a:t>
                      </a:r>
                      <a:endParaRPr sz="12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USA</a:t>
                      </a:r>
                      <a:endParaRPr sz="12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management strategy &amp; plan</a:t>
            </a:r>
            <a:endParaRPr/>
          </a:p>
        </p:txBody>
      </p:sp>
      <p:graphicFrame>
        <p:nvGraphicFramePr>
          <p:cNvPr id="499" name="Google Shape;499;p41"/>
          <p:cNvGraphicFramePr/>
          <p:nvPr/>
        </p:nvGraphicFramePr>
        <p:xfrm>
          <a:off x="555250" y="1020456"/>
          <a:ext cx="7868750" cy="3460050"/>
        </p:xfrm>
        <a:graphic>
          <a:graphicData uri="http://schemas.openxmlformats.org/drawingml/2006/table">
            <a:tbl>
              <a:tblPr>
                <a:noFill/>
                <a:tableStyleId>{7C53DCA3-0469-43A2-92A7-01D8EBA634FB}</a:tableStyleId>
              </a:tblPr>
              <a:tblGrid>
                <a:gridCol w="97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350"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Size of the change 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0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Extreme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High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Medium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Insert name of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the change</a:t>
                      </a: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Moderate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Low</a:t>
                      </a:r>
                      <a:endParaRPr sz="1200" b="1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 team 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 business unit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1 division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Half company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Extreme</a:t>
                      </a:r>
                      <a:endParaRPr sz="1000"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0" name="Google Shape;500;p41"/>
          <p:cNvSpPr/>
          <p:nvPr/>
        </p:nvSpPr>
        <p:spPr>
          <a:xfrm rot="5400000">
            <a:off x="6747225" y="2815131"/>
            <a:ext cx="29943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88900" rIns="180975" bIns="88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Complexity of the change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2"/>
          <p:cNvSpPr txBox="1">
            <a:spLocks noGrp="1"/>
          </p:cNvSpPr>
          <p:nvPr>
            <p:ph type="title"/>
          </p:nvPr>
        </p:nvSpPr>
        <p:spPr>
          <a:xfrm>
            <a:off x="856075" y="1845875"/>
            <a:ext cx="4126500" cy="108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$489,300</a:t>
            </a:r>
            <a:endParaRPr/>
          </a:p>
        </p:txBody>
      </p:sp>
      <p:sp>
        <p:nvSpPr>
          <p:cNvPr id="506" name="Google Shape;506;p42"/>
          <p:cNvSpPr txBox="1">
            <a:spLocks noGrp="1"/>
          </p:cNvSpPr>
          <p:nvPr>
            <p:ph type="subTitle" idx="1"/>
          </p:nvPr>
        </p:nvSpPr>
        <p:spPr>
          <a:xfrm>
            <a:off x="856075" y="2866225"/>
            <a:ext cx="4126500" cy="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507" name="Google Shape;507;p42"/>
          <p:cNvGrpSpPr/>
          <p:nvPr/>
        </p:nvGrpSpPr>
        <p:grpSpPr>
          <a:xfrm flipH="1">
            <a:off x="5440794" y="980219"/>
            <a:ext cx="2694051" cy="3748177"/>
            <a:chOff x="3945600" y="4378320"/>
            <a:chExt cx="1146600" cy="1595240"/>
          </a:xfrm>
        </p:grpSpPr>
        <p:sp>
          <p:nvSpPr>
            <p:cNvPr id="508" name="Google Shape;508;p42"/>
            <p:cNvSpPr/>
            <p:nvPr/>
          </p:nvSpPr>
          <p:spPr>
            <a:xfrm>
              <a:off x="4015078" y="4917588"/>
              <a:ext cx="318958" cy="996201"/>
            </a:xfrm>
            <a:custGeom>
              <a:avLst/>
              <a:gdLst/>
              <a:ahLst/>
              <a:cxnLst/>
              <a:rect l="l" t="t" r="r" b="b"/>
              <a:pathLst>
                <a:path w="886" h="1177" extrusionOk="0">
                  <a:moveTo>
                    <a:pt x="0" y="1177"/>
                  </a:moveTo>
                  <a:lnTo>
                    <a:pt x="886" y="1177"/>
                  </a:lnTo>
                  <a:lnTo>
                    <a:pt x="886" y="0"/>
                  </a:lnTo>
                  <a:lnTo>
                    <a:pt x="0" y="0"/>
                  </a:lnTo>
                  <a:lnTo>
                    <a:pt x="0" y="11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2"/>
            <p:cNvSpPr/>
            <p:nvPr/>
          </p:nvSpPr>
          <p:spPr>
            <a:xfrm>
              <a:off x="4015078" y="4917588"/>
              <a:ext cx="318958" cy="996201"/>
            </a:xfrm>
            <a:custGeom>
              <a:avLst/>
              <a:gdLst/>
              <a:ahLst/>
              <a:cxnLst/>
              <a:rect l="l" t="t" r="r" b="b"/>
              <a:pathLst>
                <a:path w="886" h="1177" extrusionOk="0">
                  <a:moveTo>
                    <a:pt x="886" y="0"/>
                  </a:moveTo>
                  <a:lnTo>
                    <a:pt x="886" y="53"/>
                  </a:lnTo>
                  <a:lnTo>
                    <a:pt x="194" y="128"/>
                  </a:lnTo>
                  <a:lnTo>
                    <a:pt x="194" y="1138"/>
                  </a:lnTo>
                  <a:lnTo>
                    <a:pt x="886" y="1177"/>
                  </a:lnTo>
                  <a:lnTo>
                    <a:pt x="0" y="1177"/>
                  </a:lnTo>
                  <a:lnTo>
                    <a:pt x="0" y="0"/>
                  </a:lnTo>
                  <a:lnTo>
                    <a:pt x="886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2"/>
            <p:cNvSpPr/>
            <p:nvPr/>
          </p:nvSpPr>
          <p:spPr>
            <a:xfrm>
              <a:off x="3984840" y="4881240"/>
              <a:ext cx="379440" cy="38880"/>
            </a:xfrm>
            <a:custGeom>
              <a:avLst/>
              <a:gdLst/>
              <a:ahLst/>
              <a:cxnLst/>
              <a:rect l="l" t="t" r="r" b="b"/>
              <a:pathLst>
                <a:path w="1054" h="108" extrusionOk="0">
                  <a:moveTo>
                    <a:pt x="0" y="108"/>
                  </a:moveTo>
                  <a:lnTo>
                    <a:pt x="1054" y="108"/>
                  </a:lnTo>
                  <a:lnTo>
                    <a:pt x="1054" y="0"/>
                  </a:lnTo>
                  <a:lnTo>
                    <a:pt x="0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3984840" y="5913800"/>
              <a:ext cx="379440" cy="59760"/>
            </a:xfrm>
            <a:custGeom>
              <a:avLst/>
              <a:gdLst/>
              <a:ahLst/>
              <a:cxnLst/>
              <a:rect l="l" t="t" r="r" b="b"/>
              <a:pathLst>
                <a:path w="1054" h="166" extrusionOk="0">
                  <a:moveTo>
                    <a:pt x="0" y="166"/>
                  </a:moveTo>
                  <a:lnTo>
                    <a:pt x="1054" y="166"/>
                  </a:lnTo>
                  <a:lnTo>
                    <a:pt x="1054" y="0"/>
                  </a:lnTo>
                  <a:lnTo>
                    <a:pt x="0" y="0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4750" rIns="90000" bIns="147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3945600" y="4534560"/>
              <a:ext cx="306000" cy="94680"/>
            </a:xfrm>
            <a:custGeom>
              <a:avLst/>
              <a:gdLst/>
              <a:ahLst/>
              <a:cxnLst/>
              <a:rect l="l" t="t" r="r" b="b"/>
              <a:pathLst>
                <a:path w="850" h="263" extrusionOk="0">
                  <a:moveTo>
                    <a:pt x="121" y="263"/>
                  </a:moveTo>
                  <a:lnTo>
                    <a:pt x="850" y="263"/>
                  </a:lnTo>
                  <a:lnTo>
                    <a:pt x="850" y="0"/>
                  </a:lnTo>
                  <a:lnTo>
                    <a:pt x="121" y="0"/>
                  </a:lnTo>
                  <a:cubicBezTo>
                    <a:pt x="54" y="0"/>
                    <a:pt x="0" y="54"/>
                    <a:pt x="0" y="120"/>
                  </a:cubicBezTo>
                  <a:lnTo>
                    <a:pt x="0" y="142"/>
                  </a:lnTo>
                  <a:cubicBezTo>
                    <a:pt x="0" y="208"/>
                    <a:pt x="54" y="263"/>
                    <a:pt x="121" y="2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3945600" y="4534560"/>
              <a:ext cx="248760" cy="94680"/>
            </a:xfrm>
            <a:custGeom>
              <a:avLst/>
              <a:gdLst/>
              <a:ahLst/>
              <a:cxnLst/>
              <a:rect l="l" t="t" r="r" b="b"/>
              <a:pathLst>
                <a:path w="691" h="263" extrusionOk="0">
                  <a:moveTo>
                    <a:pt x="632" y="0"/>
                  </a:moveTo>
                  <a:cubicBezTo>
                    <a:pt x="632" y="0"/>
                    <a:pt x="484" y="150"/>
                    <a:pt x="334" y="189"/>
                  </a:cubicBezTo>
                  <a:cubicBezTo>
                    <a:pt x="52" y="263"/>
                    <a:pt x="2" y="129"/>
                    <a:pt x="1" y="124"/>
                  </a:cubicBezTo>
                  <a:cubicBezTo>
                    <a:pt x="1" y="126"/>
                    <a:pt x="0" y="128"/>
                    <a:pt x="0" y="131"/>
                  </a:cubicBezTo>
                  <a:cubicBezTo>
                    <a:pt x="0" y="204"/>
                    <a:pt x="50" y="263"/>
                    <a:pt x="111" y="263"/>
                  </a:cubicBezTo>
                  <a:lnTo>
                    <a:pt x="680" y="263"/>
                  </a:lnTo>
                  <a:lnTo>
                    <a:pt x="691" y="0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4332600" y="4567680"/>
              <a:ext cx="575640" cy="122760"/>
            </a:xfrm>
            <a:custGeom>
              <a:avLst/>
              <a:gdLst/>
              <a:ahLst/>
              <a:cxnLst/>
              <a:rect l="l" t="t" r="r" b="b"/>
              <a:pathLst>
                <a:path w="1599" h="341" extrusionOk="0">
                  <a:moveTo>
                    <a:pt x="1599" y="0"/>
                  </a:moveTo>
                  <a:lnTo>
                    <a:pt x="0" y="0"/>
                  </a:lnTo>
                  <a:lnTo>
                    <a:pt x="0" y="341"/>
                  </a:lnTo>
                  <a:lnTo>
                    <a:pt x="1231" y="341"/>
                  </a:lnTo>
                  <a:cubicBezTo>
                    <a:pt x="1253" y="341"/>
                    <a:pt x="1275" y="335"/>
                    <a:pt x="1295" y="323"/>
                  </a:cubicBezTo>
                  <a:lnTo>
                    <a:pt x="1599" y="147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4400640" y="4567680"/>
              <a:ext cx="507600" cy="123480"/>
            </a:xfrm>
            <a:custGeom>
              <a:avLst/>
              <a:gdLst/>
              <a:ahLst/>
              <a:cxnLst/>
              <a:rect l="l" t="t" r="r" b="b"/>
              <a:pathLst>
                <a:path w="1410" h="343" extrusionOk="0">
                  <a:moveTo>
                    <a:pt x="0" y="0"/>
                  </a:moveTo>
                  <a:cubicBezTo>
                    <a:pt x="0" y="0"/>
                    <a:pt x="49" y="11"/>
                    <a:pt x="87" y="109"/>
                  </a:cubicBezTo>
                  <a:cubicBezTo>
                    <a:pt x="125" y="206"/>
                    <a:pt x="123" y="274"/>
                    <a:pt x="139" y="274"/>
                  </a:cubicBezTo>
                  <a:lnTo>
                    <a:pt x="1039" y="274"/>
                  </a:lnTo>
                  <a:cubicBezTo>
                    <a:pt x="1042" y="274"/>
                    <a:pt x="1044" y="274"/>
                    <a:pt x="1047" y="273"/>
                  </a:cubicBezTo>
                  <a:lnTo>
                    <a:pt x="1243" y="173"/>
                  </a:lnTo>
                  <a:cubicBezTo>
                    <a:pt x="1243" y="173"/>
                    <a:pt x="1152" y="174"/>
                    <a:pt x="1125" y="151"/>
                  </a:cubicBezTo>
                  <a:cubicBezTo>
                    <a:pt x="1096" y="126"/>
                    <a:pt x="1077" y="12"/>
                    <a:pt x="1154" y="0"/>
                  </a:cubicBezTo>
                  <a:cubicBezTo>
                    <a:pt x="1232" y="-11"/>
                    <a:pt x="1410" y="147"/>
                    <a:pt x="1410" y="147"/>
                  </a:cubicBezTo>
                  <a:lnTo>
                    <a:pt x="1092" y="332"/>
                  </a:lnTo>
                  <a:cubicBezTo>
                    <a:pt x="1083" y="338"/>
                    <a:pt x="1072" y="341"/>
                    <a:pt x="1062" y="341"/>
                  </a:cubicBezTo>
                  <a:lnTo>
                    <a:pt x="0" y="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4013640" y="4378320"/>
              <a:ext cx="1050480" cy="502920"/>
            </a:xfrm>
            <a:custGeom>
              <a:avLst/>
              <a:gdLst/>
              <a:ahLst/>
              <a:cxnLst/>
              <a:rect l="l" t="t" r="r" b="b"/>
              <a:pathLst>
                <a:path w="2918" h="1397" extrusionOk="0">
                  <a:moveTo>
                    <a:pt x="2392" y="48"/>
                  </a:moveTo>
                  <a:cubicBezTo>
                    <a:pt x="2358" y="17"/>
                    <a:pt x="2317" y="0"/>
                    <a:pt x="2274" y="0"/>
                  </a:cubicBezTo>
                  <a:lnTo>
                    <a:pt x="1045" y="0"/>
                  </a:lnTo>
                  <a:cubicBezTo>
                    <a:pt x="999" y="0"/>
                    <a:pt x="954" y="19"/>
                    <a:pt x="917" y="52"/>
                  </a:cubicBezTo>
                  <a:lnTo>
                    <a:pt x="364" y="560"/>
                  </a:lnTo>
                  <a:cubicBezTo>
                    <a:pt x="302" y="617"/>
                    <a:pt x="229" y="654"/>
                    <a:pt x="151" y="669"/>
                  </a:cubicBezTo>
                  <a:lnTo>
                    <a:pt x="0" y="697"/>
                  </a:lnTo>
                  <a:lnTo>
                    <a:pt x="0" y="867"/>
                  </a:lnTo>
                  <a:lnTo>
                    <a:pt x="0" y="1397"/>
                  </a:lnTo>
                  <a:lnTo>
                    <a:pt x="886" y="1397"/>
                  </a:lnTo>
                  <a:lnTo>
                    <a:pt x="886" y="867"/>
                  </a:lnTo>
                  <a:lnTo>
                    <a:pt x="886" y="867"/>
                  </a:lnTo>
                  <a:lnTo>
                    <a:pt x="956" y="283"/>
                  </a:lnTo>
                  <a:cubicBezTo>
                    <a:pt x="966" y="195"/>
                    <a:pt x="1029" y="130"/>
                    <a:pt x="1104" y="130"/>
                  </a:cubicBezTo>
                  <a:lnTo>
                    <a:pt x="2258" y="130"/>
                  </a:lnTo>
                  <a:cubicBezTo>
                    <a:pt x="2275" y="130"/>
                    <a:pt x="2293" y="137"/>
                    <a:pt x="2307" y="150"/>
                  </a:cubicBezTo>
                  <a:lnTo>
                    <a:pt x="2427" y="267"/>
                  </a:lnTo>
                  <a:cubicBezTo>
                    <a:pt x="2444" y="284"/>
                    <a:pt x="2452" y="309"/>
                    <a:pt x="2449" y="335"/>
                  </a:cubicBezTo>
                  <a:lnTo>
                    <a:pt x="2438" y="433"/>
                  </a:lnTo>
                  <a:cubicBezTo>
                    <a:pt x="2435" y="455"/>
                    <a:pt x="2421" y="473"/>
                    <a:pt x="2402" y="478"/>
                  </a:cubicBezTo>
                  <a:lnTo>
                    <a:pt x="2252" y="515"/>
                  </a:lnTo>
                  <a:cubicBezTo>
                    <a:pt x="2224" y="521"/>
                    <a:pt x="2203" y="551"/>
                    <a:pt x="2203" y="585"/>
                  </a:cubicBezTo>
                  <a:lnTo>
                    <a:pt x="2203" y="601"/>
                  </a:lnTo>
                  <a:cubicBezTo>
                    <a:pt x="2203" y="641"/>
                    <a:pt x="2230" y="673"/>
                    <a:pt x="2264" y="673"/>
                  </a:cubicBezTo>
                  <a:lnTo>
                    <a:pt x="2485" y="673"/>
                  </a:lnTo>
                  <a:lnTo>
                    <a:pt x="2918" y="673"/>
                  </a:lnTo>
                  <a:lnTo>
                    <a:pt x="2918" y="526"/>
                  </a:lnTo>
                  <a:lnTo>
                    <a:pt x="2392" y="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4241160" y="4534200"/>
              <a:ext cx="109800" cy="347040"/>
            </a:xfrm>
            <a:custGeom>
              <a:avLst/>
              <a:gdLst/>
              <a:ahLst/>
              <a:cxnLst/>
              <a:rect l="l" t="t" r="r" b="b"/>
              <a:pathLst>
                <a:path w="305" h="964" extrusionOk="0">
                  <a:moveTo>
                    <a:pt x="305" y="6"/>
                  </a:moveTo>
                  <a:cubicBezTo>
                    <a:pt x="305" y="6"/>
                    <a:pt x="149" y="-44"/>
                    <a:pt x="44" y="143"/>
                  </a:cubicBezTo>
                  <a:cubicBezTo>
                    <a:pt x="-58" y="324"/>
                    <a:pt x="47" y="481"/>
                    <a:pt x="76" y="514"/>
                  </a:cubicBezTo>
                  <a:cubicBezTo>
                    <a:pt x="104" y="546"/>
                    <a:pt x="233" y="650"/>
                    <a:pt x="240" y="720"/>
                  </a:cubicBezTo>
                  <a:cubicBezTo>
                    <a:pt x="247" y="790"/>
                    <a:pt x="248" y="964"/>
                    <a:pt x="248" y="964"/>
                  </a:cubicBezTo>
                  <a:lnTo>
                    <a:pt x="254" y="964"/>
                  </a:lnTo>
                  <a:lnTo>
                    <a:pt x="254" y="525"/>
                  </a:lnTo>
                  <a:lnTo>
                    <a:pt x="305" y="6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4257360" y="4536360"/>
              <a:ext cx="187200" cy="187200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260"/>
                  </a:moveTo>
                  <a:cubicBezTo>
                    <a:pt x="0" y="403"/>
                    <a:pt x="116" y="520"/>
                    <a:pt x="260" y="520"/>
                  </a:cubicBezTo>
                  <a:cubicBezTo>
                    <a:pt x="404" y="520"/>
                    <a:pt x="520" y="403"/>
                    <a:pt x="520" y="260"/>
                  </a:cubicBezTo>
                  <a:cubicBezTo>
                    <a:pt x="520" y="116"/>
                    <a:pt x="404" y="0"/>
                    <a:pt x="260" y="0"/>
                  </a:cubicBezTo>
                  <a:cubicBezTo>
                    <a:pt x="116" y="0"/>
                    <a:pt x="0" y="116"/>
                    <a:pt x="0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4980240" y="4676400"/>
              <a:ext cx="66600" cy="440280"/>
            </a:xfrm>
            <a:custGeom>
              <a:avLst/>
              <a:gdLst/>
              <a:ahLst/>
              <a:cxnLst/>
              <a:rect l="l" t="t" r="r" b="b"/>
              <a:pathLst>
                <a:path w="185" h="1223" extrusionOk="0">
                  <a:moveTo>
                    <a:pt x="0" y="1223"/>
                  </a:moveTo>
                  <a:lnTo>
                    <a:pt x="185" y="1223"/>
                  </a:lnTo>
                  <a:lnTo>
                    <a:pt x="185" y="0"/>
                  </a:lnTo>
                  <a:lnTo>
                    <a:pt x="0" y="0"/>
                  </a:lnTo>
                  <a:lnTo>
                    <a:pt x="0" y="12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4980240" y="4676400"/>
              <a:ext cx="66600" cy="440280"/>
            </a:xfrm>
            <a:custGeom>
              <a:avLst/>
              <a:gdLst/>
              <a:ahLst/>
              <a:cxnLst/>
              <a:rect l="l" t="t" r="r" b="b"/>
              <a:pathLst>
                <a:path w="185" h="1223" extrusionOk="0">
                  <a:moveTo>
                    <a:pt x="185" y="25"/>
                  </a:moveTo>
                  <a:cubicBezTo>
                    <a:pt x="185" y="25"/>
                    <a:pt x="139" y="81"/>
                    <a:pt x="107" y="101"/>
                  </a:cubicBezTo>
                  <a:cubicBezTo>
                    <a:pt x="74" y="122"/>
                    <a:pt x="56" y="122"/>
                    <a:pt x="49" y="174"/>
                  </a:cubicBezTo>
                  <a:cubicBezTo>
                    <a:pt x="41" y="226"/>
                    <a:pt x="49" y="1223"/>
                    <a:pt x="49" y="1223"/>
                  </a:cubicBezTo>
                  <a:lnTo>
                    <a:pt x="0" y="1223"/>
                  </a:lnTo>
                  <a:lnTo>
                    <a:pt x="0" y="0"/>
                  </a:lnTo>
                  <a:lnTo>
                    <a:pt x="185" y="25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4934160" y="4537800"/>
              <a:ext cx="158040" cy="158400"/>
            </a:xfrm>
            <a:custGeom>
              <a:avLst/>
              <a:gdLst/>
              <a:ahLst/>
              <a:cxnLst/>
              <a:rect l="l" t="t" r="r" b="b"/>
              <a:pathLst>
                <a:path w="439" h="440" extrusionOk="0">
                  <a:moveTo>
                    <a:pt x="0" y="220"/>
                  </a:moveTo>
                  <a:cubicBezTo>
                    <a:pt x="0" y="341"/>
                    <a:pt x="99" y="440"/>
                    <a:pt x="220" y="440"/>
                  </a:cubicBezTo>
                  <a:cubicBezTo>
                    <a:pt x="342" y="440"/>
                    <a:pt x="439" y="341"/>
                    <a:pt x="439" y="220"/>
                  </a:cubicBezTo>
                  <a:cubicBezTo>
                    <a:pt x="439" y="98"/>
                    <a:pt x="342" y="0"/>
                    <a:pt x="220" y="0"/>
                  </a:cubicBezTo>
                  <a:cubicBezTo>
                    <a:pt x="99" y="0"/>
                    <a:pt x="0" y="98"/>
                    <a:pt x="0" y="2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4997880" y="5116680"/>
              <a:ext cx="31320" cy="53640"/>
            </a:xfrm>
            <a:custGeom>
              <a:avLst/>
              <a:gdLst/>
              <a:ahLst/>
              <a:cxnLst/>
              <a:rect l="l" t="t" r="r" b="b"/>
              <a:pathLst>
                <a:path w="87" h="149" extrusionOk="0">
                  <a:moveTo>
                    <a:pt x="0" y="149"/>
                  </a:moveTo>
                  <a:lnTo>
                    <a:pt x="87" y="149"/>
                  </a:lnTo>
                  <a:lnTo>
                    <a:pt x="87" y="0"/>
                  </a:lnTo>
                  <a:lnTo>
                    <a:pt x="0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4980240" y="5200560"/>
              <a:ext cx="66600" cy="89640"/>
            </a:xfrm>
            <a:custGeom>
              <a:avLst/>
              <a:gdLst/>
              <a:ahLst/>
              <a:cxnLst/>
              <a:rect l="l" t="t" r="r" b="b"/>
              <a:pathLst>
                <a:path w="185" h="249" extrusionOk="0">
                  <a:moveTo>
                    <a:pt x="0" y="249"/>
                  </a:moveTo>
                  <a:lnTo>
                    <a:pt x="185" y="249"/>
                  </a:lnTo>
                  <a:lnTo>
                    <a:pt x="185" y="0"/>
                  </a:lnTo>
                  <a:lnTo>
                    <a:pt x="0" y="0"/>
                  </a:lnTo>
                  <a:lnTo>
                    <a:pt x="0" y="2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4625" rIns="90000" bIns="44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4962600" y="5143680"/>
              <a:ext cx="101880" cy="101520"/>
            </a:xfrm>
            <a:custGeom>
              <a:avLst/>
              <a:gdLst/>
              <a:ahLst/>
              <a:cxnLst/>
              <a:rect l="l" t="t" r="r" b="b"/>
              <a:pathLst>
                <a:path w="283" h="282" extrusionOk="0">
                  <a:moveTo>
                    <a:pt x="0" y="141"/>
                  </a:moveTo>
                  <a:cubicBezTo>
                    <a:pt x="0" y="219"/>
                    <a:pt x="63" y="282"/>
                    <a:pt x="141" y="282"/>
                  </a:cubicBezTo>
                  <a:cubicBezTo>
                    <a:pt x="219" y="282"/>
                    <a:pt x="283" y="219"/>
                    <a:pt x="283" y="141"/>
                  </a:cubicBezTo>
                  <a:cubicBezTo>
                    <a:pt x="283" y="63"/>
                    <a:pt x="219" y="0"/>
                    <a:pt x="141" y="0"/>
                  </a:cubicBezTo>
                  <a:cubicBezTo>
                    <a:pt x="63" y="0"/>
                    <a:pt x="0" y="63"/>
                    <a:pt x="0" y="1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4013640" y="4629240"/>
              <a:ext cx="318960" cy="252000"/>
            </a:xfrm>
            <a:custGeom>
              <a:avLst/>
              <a:gdLst/>
              <a:ahLst/>
              <a:cxnLst/>
              <a:rect l="l" t="t" r="r" b="b"/>
              <a:pathLst>
                <a:path w="886" h="700" extrusionOk="0">
                  <a:moveTo>
                    <a:pt x="0" y="0"/>
                  </a:moveTo>
                  <a:lnTo>
                    <a:pt x="97" y="607"/>
                  </a:lnTo>
                  <a:lnTo>
                    <a:pt x="886" y="700"/>
                  </a:lnTo>
                  <a:lnTo>
                    <a:pt x="0" y="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4827600" y="4577400"/>
              <a:ext cx="28080" cy="28080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78" y="39"/>
                  </a:moveTo>
                  <a:cubicBezTo>
                    <a:pt x="78" y="60"/>
                    <a:pt x="60" y="78"/>
                    <a:pt x="39" y="78"/>
                  </a:cubicBezTo>
                  <a:cubicBezTo>
                    <a:pt x="17" y="78"/>
                    <a:pt x="0" y="60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cubicBezTo>
                    <a:pt x="60" y="0"/>
                    <a:pt x="78" y="17"/>
                    <a:pt x="78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4962600" y="5290200"/>
              <a:ext cx="101880" cy="19440"/>
            </a:xfrm>
            <a:custGeom>
              <a:avLst/>
              <a:gdLst/>
              <a:ahLst/>
              <a:cxnLst/>
              <a:rect l="l" t="t" r="r" b="b"/>
              <a:pathLst>
                <a:path w="283" h="54" extrusionOk="0">
                  <a:moveTo>
                    <a:pt x="255" y="54"/>
                  </a:moveTo>
                  <a:lnTo>
                    <a:pt x="27" y="54"/>
                  </a:ln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55" y="0"/>
                  </a:lnTo>
                  <a:cubicBezTo>
                    <a:pt x="270" y="0"/>
                    <a:pt x="283" y="12"/>
                    <a:pt x="283" y="27"/>
                  </a:cubicBezTo>
                  <a:cubicBezTo>
                    <a:pt x="283" y="42"/>
                    <a:pt x="270" y="54"/>
                    <a:pt x="255" y="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3"/>
          <p:cNvSpPr txBox="1">
            <a:spLocks noGrp="1"/>
          </p:cNvSpPr>
          <p:nvPr>
            <p:ph type="title"/>
          </p:nvPr>
        </p:nvSpPr>
        <p:spPr>
          <a:xfrm>
            <a:off x="102387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$20,000</a:t>
            </a:r>
            <a:endParaRPr/>
          </a:p>
        </p:txBody>
      </p:sp>
      <p:sp>
        <p:nvSpPr>
          <p:cNvPr id="533" name="Google Shape;533;p43"/>
          <p:cNvSpPr txBox="1">
            <a:spLocks noGrp="1"/>
          </p:cNvSpPr>
          <p:nvPr>
            <p:ph type="subTitle" idx="1"/>
          </p:nvPr>
        </p:nvSpPr>
        <p:spPr>
          <a:xfrm>
            <a:off x="102387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Mars is full of iron oxide dust</a:t>
            </a:r>
            <a:endParaRPr/>
          </a:p>
        </p:txBody>
      </p:sp>
      <p:sp>
        <p:nvSpPr>
          <p:cNvPr id="534" name="Google Shape;534;p43"/>
          <p:cNvSpPr txBox="1">
            <a:spLocks noGrp="1"/>
          </p:cNvSpPr>
          <p:nvPr>
            <p:ph type="title" idx="2"/>
          </p:nvPr>
        </p:nvSpPr>
        <p:spPr>
          <a:xfrm>
            <a:off x="474392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$15,000</a:t>
            </a:r>
            <a:endParaRPr/>
          </a:p>
        </p:txBody>
      </p:sp>
      <p:sp>
        <p:nvSpPr>
          <p:cNvPr id="535" name="Google Shape;535;p43"/>
          <p:cNvSpPr txBox="1">
            <a:spLocks noGrp="1"/>
          </p:cNvSpPr>
          <p:nvPr>
            <p:ph type="subTitle" idx="3"/>
          </p:nvPr>
        </p:nvSpPr>
        <p:spPr>
          <a:xfrm>
            <a:off x="474392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536" name="Google Shape;536;p43"/>
          <p:cNvSpPr txBox="1">
            <a:spLocks noGrp="1"/>
          </p:cNvSpPr>
          <p:nvPr>
            <p:ph type="title" idx="4"/>
          </p:nvPr>
        </p:nvSpPr>
        <p:spPr>
          <a:xfrm>
            <a:off x="474392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$45,000</a:t>
            </a:r>
            <a:endParaRPr/>
          </a:p>
        </p:txBody>
      </p:sp>
      <p:sp>
        <p:nvSpPr>
          <p:cNvPr id="537" name="Google Shape;537;p43"/>
          <p:cNvSpPr txBox="1">
            <a:spLocks noGrp="1"/>
          </p:cNvSpPr>
          <p:nvPr>
            <p:ph type="subTitle" idx="5"/>
          </p:nvPr>
        </p:nvSpPr>
        <p:spPr>
          <a:xfrm>
            <a:off x="474392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Saturn has several rings</a:t>
            </a:r>
            <a:endParaRPr/>
          </a:p>
        </p:txBody>
      </p:sp>
      <p:sp>
        <p:nvSpPr>
          <p:cNvPr id="538" name="Google Shape;538;p43"/>
          <p:cNvSpPr txBox="1">
            <a:spLocks noGrp="1"/>
          </p:cNvSpPr>
          <p:nvPr>
            <p:ph type="title" idx="6"/>
          </p:nvPr>
        </p:nvSpPr>
        <p:spPr>
          <a:xfrm>
            <a:off x="102387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$10,000</a:t>
            </a:r>
            <a:endParaRPr/>
          </a:p>
        </p:txBody>
      </p:sp>
      <p:sp>
        <p:nvSpPr>
          <p:cNvPr id="539" name="Google Shape;539;p43"/>
          <p:cNvSpPr txBox="1">
            <a:spLocks noGrp="1"/>
          </p:cNvSpPr>
          <p:nvPr>
            <p:ph type="subTitle" idx="7"/>
          </p:nvPr>
        </p:nvSpPr>
        <p:spPr>
          <a:xfrm>
            <a:off x="102387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Mercury is the smallest planet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Maturity model</a:t>
            </a:r>
            <a:endParaRPr/>
          </a:p>
        </p:txBody>
      </p:sp>
      <p:sp>
        <p:nvSpPr>
          <p:cNvPr id="727" name="Google Shape;727;p45"/>
          <p:cNvSpPr/>
          <p:nvPr/>
        </p:nvSpPr>
        <p:spPr>
          <a:xfrm>
            <a:off x="1760185" y="1474375"/>
            <a:ext cx="10848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30%</a:t>
            </a:r>
            <a:endParaRPr sz="2500" b="1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4053967" y="1779175"/>
            <a:ext cx="10362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50%</a:t>
            </a:r>
            <a:endParaRPr sz="2500" b="1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6323407" y="2083975"/>
            <a:ext cx="10362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rPr>
              <a:t>70%</a:t>
            </a:r>
            <a:endParaRPr sz="2500" b="1"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30" name="Google Shape;730;p45"/>
          <p:cNvSpPr txBox="1">
            <a:spLocks noGrp="1"/>
          </p:cNvSpPr>
          <p:nvPr>
            <p:ph type="title"/>
          </p:nvPr>
        </p:nvSpPr>
        <p:spPr>
          <a:xfrm>
            <a:off x="5811865" y="2877400"/>
            <a:ext cx="2059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</a:t>
            </a:r>
            <a:endParaRPr/>
          </a:p>
        </p:txBody>
      </p:sp>
      <p:sp>
        <p:nvSpPr>
          <p:cNvPr id="731" name="Google Shape;731;p45"/>
          <p:cNvSpPr txBox="1">
            <a:spLocks noGrp="1"/>
          </p:cNvSpPr>
          <p:nvPr>
            <p:ph type="title" idx="2"/>
          </p:nvPr>
        </p:nvSpPr>
        <p:spPr>
          <a:xfrm>
            <a:off x="3542398" y="2572600"/>
            <a:ext cx="2059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</a:t>
            </a:r>
            <a:endParaRPr/>
          </a:p>
        </p:txBody>
      </p:sp>
      <p:sp>
        <p:nvSpPr>
          <p:cNvPr id="732" name="Google Shape;732;p45"/>
          <p:cNvSpPr txBox="1">
            <a:spLocks noGrp="1"/>
          </p:cNvSpPr>
          <p:nvPr>
            <p:ph type="subTitle" idx="1"/>
          </p:nvPr>
        </p:nvSpPr>
        <p:spPr>
          <a:xfrm>
            <a:off x="1272935" y="2861925"/>
            <a:ext cx="20592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the smallest in the Solar System</a:t>
            </a:r>
            <a:endParaRPr/>
          </a:p>
        </p:txBody>
      </p:sp>
      <p:sp>
        <p:nvSpPr>
          <p:cNvPr id="733" name="Google Shape;733;p45"/>
          <p:cNvSpPr txBox="1">
            <a:spLocks noGrp="1"/>
          </p:cNvSpPr>
          <p:nvPr>
            <p:ph type="subTitle" idx="3"/>
          </p:nvPr>
        </p:nvSpPr>
        <p:spPr>
          <a:xfrm>
            <a:off x="3542392" y="3166725"/>
            <a:ext cx="20592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734" name="Google Shape;734;p45"/>
          <p:cNvSpPr txBox="1">
            <a:spLocks noGrp="1"/>
          </p:cNvSpPr>
          <p:nvPr>
            <p:ph type="title" idx="4"/>
          </p:nvPr>
        </p:nvSpPr>
        <p:spPr>
          <a:xfrm>
            <a:off x="1272936" y="2267800"/>
            <a:ext cx="2059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</a:t>
            </a:r>
            <a:endParaRPr/>
          </a:p>
        </p:txBody>
      </p:sp>
      <p:sp>
        <p:nvSpPr>
          <p:cNvPr id="735" name="Google Shape;735;p45"/>
          <p:cNvSpPr txBox="1">
            <a:spLocks noGrp="1"/>
          </p:cNvSpPr>
          <p:nvPr>
            <p:ph type="subTitle" idx="5"/>
          </p:nvPr>
        </p:nvSpPr>
        <p:spPr>
          <a:xfrm>
            <a:off x="5811864" y="3471525"/>
            <a:ext cx="20592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cxnSp>
        <p:nvCxnSpPr>
          <p:cNvPr id="736" name="Google Shape;736;p45"/>
          <p:cNvCxnSpPr>
            <a:stCxn id="734" idx="0"/>
            <a:endCxn id="727" idx="2"/>
          </p:cNvCxnSpPr>
          <p:nvPr/>
        </p:nvCxnSpPr>
        <p:spPr>
          <a:xfrm rot="10800000">
            <a:off x="2302536" y="2008900"/>
            <a:ext cx="0" cy="25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37;p45"/>
          <p:cNvCxnSpPr>
            <a:stCxn id="731" idx="0"/>
            <a:endCxn id="728" idx="2"/>
          </p:cNvCxnSpPr>
          <p:nvPr/>
        </p:nvCxnSpPr>
        <p:spPr>
          <a:xfrm rot="10800000">
            <a:off x="4571998" y="2313700"/>
            <a:ext cx="0" cy="25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" name="Google Shape;738;p45"/>
          <p:cNvCxnSpPr>
            <a:stCxn id="730" idx="0"/>
            <a:endCxn id="729" idx="2"/>
          </p:cNvCxnSpPr>
          <p:nvPr/>
        </p:nvCxnSpPr>
        <p:spPr>
          <a:xfrm rot="10800000">
            <a:off x="6841465" y="2618500"/>
            <a:ext cx="0" cy="25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9" name="Google Shape;739;p45"/>
          <p:cNvCxnSpPr>
            <a:stCxn id="732" idx="0"/>
            <a:endCxn id="734" idx="2"/>
          </p:cNvCxnSpPr>
          <p:nvPr/>
        </p:nvCxnSpPr>
        <p:spPr>
          <a:xfrm rot="10800000">
            <a:off x="2302535" y="2661525"/>
            <a:ext cx="0" cy="20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5"/>
          <p:cNvCxnSpPr>
            <a:stCxn id="733" idx="0"/>
            <a:endCxn id="731" idx="2"/>
          </p:cNvCxnSpPr>
          <p:nvPr/>
        </p:nvCxnSpPr>
        <p:spPr>
          <a:xfrm rot="10800000">
            <a:off x="4571992" y="2966325"/>
            <a:ext cx="0" cy="20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1" name="Google Shape;741;p45"/>
          <p:cNvCxnSpPr>
            <a:stCxn id="735" idx="0"/>
            <a:endCxn id="730" idx="2"/>
          </p:cNvCxnSpPr>
          <p:nvPr/>
        </p:nvCxnSpPr>
        <p:spPr>
          <a:xfrm rot="10800000">
            <a:off x="6841464" y="3271125"/>
            <a:ext cx="0" cy="20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6"/>
          <p:cNvSpPr txBox="1">
            <a:spLocks noGrp="1"/>
          </p:cNvSpPr>
          <p:nvPr>
            <p:ph type="title"/>
          </p:nvPr>
        </p:nvSpPr>
        <p:spPr>
          <a:xfrm>
            <a:off x="891644" y="1653150"/>
            <a:ext cx="3413100" cy="10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software and app</a:t>
            </a:r>
            <a:endParaRPr/>
          </a:p>
        </p:txBody>
      </p:sp>
      <p:grpSp>
        <p:nvGrpSpPr>
          <p:cNvPr id="747" name="Google Shape;747;p46"/>
          <p:cNvGrpSpPr/>
          <p:nvPr/>
        </p:nvGrpSpPr>
        <p:grpSpPr>
          <a:xfrm>
            <a:off x="4743646" y="1360624"/>
            <a:ext cx="3508711" cy="2897954"/>
            <a:chOff x="4311144" y="1401685"/>
            <a:chExt cx="3876600" cy="3201805"/>
          </a:xfrm>
        </p:grpSpPr>
        <p:sp>
          <p:nvSpPr>
            <p:cNvPr id="748" name="Google Shape;748;p46"/>
            <p:cNvSpPr/>
            <p:nvPr/>
          </p:nvSpPr>
          <p:spPr>
            <a:xfrm>
              <a:off x="5673106" y="3940378"/>
              <a:ext cx="1157606" cy="610233"/>
            </a:xfrm>
            <a:custGeom>
              <a:avLst/>
              <a:gdLst/>
              <a:ahLst/>
              <a:cxnLst/>
              <a:rect l="l" t="t" r="r" b="b"/>
              <a:pathLst>
                <a:path w="37258" h="19639" extrusionOk="0">
                  <a:moveTo>
                    <a:pt x="4302" y="0"/>
                  </a:moveTo>
                  <a:lnTo>
                    <a:pt x="4302" y="9523"/>
                  </a:lnTo>
                  <a:cubicBezTo>
                    <a:pt x="4302" y="12638"/>
                    <a:pt x="3229" y="15653"/>
                    <a:pt x="1262" y="18087"/>
                  </a:cubicBezTo>
                  <a:lnTo>
                    <a:pt x="0" y="19638"/>
                  </a:lnTo>
                  <a:lnTo>
                    <a:pt x="37258" y="19638"/>
                  </a:lnTo>
                  <a:lnTo>
                    <a:pt x="35996" y="18087"/>
                  </a:lnTo>
                  <a:cubicBezTo>
                    <a:pt x="34029" y="15653"/>
                    <a:pt x="32957" y="12638"/>
                    <a:pt x="32957" y="9523"/>
                  </a:cubicBezTo>
                  <a:lnTo>
                    <a:pt x="329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4311144" y="1401685"/>
              <a:ext cx="3876600" cy="2646900"/>
            </a:xfrm>
            <a:prstGeom prst="roundRect">
              <a:avLst>
                <a:gd name="adj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6"/>
            <p:cNvSpPr/>
            <p:nvPr/>
          </p:nvSpPr>
          <p:spPr>
            <a:xfrm rot="10800000">
              <a:off x="4312964" y="3631599"/>
              <a:ext cx="3873000" cy="4161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5673106" y="4550573"/>
              <a:ext cx="1157606" cy="52916"/>
            </a:xfrm>
            <a:custGeom>
              <a:avLst/>
              <a:gdLst/>
              <a:ahLst/>
              <a:cxnLst/>
              <a:rect l="l" t="t" r="r" b="b"/>
              <a:pathLst>
                <a:path w="37258" h="1703" extrusionOk="0">
                  <a:moveTo>
                    <a:pt x="0" y="0"/>
                  </a:moveTo>
                  <a:lnTo>
                    <a:pt x="0" y="1703"/>
                  </a:lnTo>
                  <a:lnTo>
                    <a:pt x="37258" y="1703"/>
                  </a:lnTo>
                  <a:lnTo>
                    <a:pt x="372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6"/>
            <p:cNvSpPr/>
            <p:nvPr/>
          </p:nvSpPr>
          <p:spPr>
            <a:xfrm>
              <a:off x="6104505" y="3786475"/>
              <a:ext cx="290700" cy="105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3" name="Google Shape;753;p46"/>
          <p:cNvSpPr txBox="1">
            <a:spLocks noGrp="1"/>
          </p:cNvSpPr>
          <p:nvPr>
            <p:ph type="subTitle" idx="1"/>
          </p:nvPr>
        </p:nvSpPr>
        <p:spPr>
          <a:xfrm>
            <a:off x="891644" y="2716649"/>
            <a:ext cx="34131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replace the image on the screen with your own work. Just right-click on it and select “replace image”</a:t>
            </a:r>
            <a:endParaRPr/>
          </a:p>
        </p:txBody>
      </p:sp>
      <p:pic>
        <p:nvPicPr>
          <p:cNvPr id="754" name="Google Shape;75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593" y="1477140"/>
            <a:ext cx="3226800" cy="18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an assortment of alternative resources whose style fits that of this template: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Vectors:</a:t>
            </a:r>
            <a:endParaRPr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hlinkClick r:id="rId3"/>
              </a:rPr>
              <a:t>Automation icons set</a:t>
            </a:r>
            <a:endParaRPr/>
          </a:p>
        </p:txBody>
      </p:sp>
      <p:sp>
        <p:nvSpPr>
          <p:cNvPr id="760" name="Google Shape;760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761" name="Google Shape;761;p47"/>
          <p:cNvGrpSpPr/>
          <p:nvPr/>
        </p:nvGrpSpPr>
        <p:grpSpPr>
          <a:xfrm>
            <a:off x="3825864" y="2605961"/>
            <a:ext cx="987920" cy="1714940"/>
            <a:chOff x="5513040" y="4355640"/>
            <a:chExt cx="602280" cy="1045440"/>
          </a:xfrm>
        </p:grpSpPr>
        <p:sp>
          <p:nvSpPr>
            <p:cNvPr id="762" name="Google Shape;762;p47"/>
            <p:cNvSpPr/>
            <p:nvPr/>
          </p:nvSpPr>
          <p:spPr>
            <a:xfrm>
              <a:off x="5513040" y="4389480"/>
              <a:ext cx="602280" cy="960480"/>
            </a:xfrm>
            <a:custGeom>
              <a:avLst/>
              <a:gdLst/>
              <a:ahLst/>
              <a:cxnLst/>
              <a:rect l="l" t="t" r="r" b="b"/>
              <a:pathLst>
                <a:path w="1673" h="2668" extrusionOk="0">
                  <a:moveTo>
                    <a:pt x="1673" y="2668"/>
                  </a:moveTo>
                  <a:lnTo>
                    <a:pt x="0" y="2668"/>
                  </a:lnTo>
                  <a:lnTo>
                    <a:pt x="0" y="0"/>
                  </a:lnTo>
                  <a:lnTo>
                    <a:pt x="1673" y="0"/>
                  </a:lnTo>
                  <a:lnTo>
                    <a:pt x="1673" y="26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594720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599652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604584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594720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599652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604584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594720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599652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604584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594720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7"/>
            <p:cNvSpPr/>
            <p:nvPr/>
          </p:nvSpPr>
          <p:spPr>
            <a:xfrm>
              <a:off x="599652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7"/>
            <p:cNvSpPr/>
            <p:nvPr/>
          </p:nvSpPr>
          <p:spPr>
            <a:xfrm>
              <a:off x="604584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7"/>
            <p:cNvSpPr/>
            <p:nvPr/>
          </p:nvSpPr>
          <p:spPr>
            <a:xfrm>
              <a:off x="562824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7" y="178"/>
                    <a:pt x="88" y="178"/>
                  </a:cubicBezTo>
                  <a:cubicBezTo>
                    <a:pt x="39" y="178"/>
                    <a:pt x="0" y="138"/>
                    <a:pt x="0" y="89"/>
                  </a:cubicBezTo>
                  <a:cubicBezTo>
                    <a:pt x="0" y="40"/>
                    <a:pt x="39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5721120" y="4734360"/>
              <a:ext cx="64080" cy="64080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78" y="89"/>
                  </a:moveTo>
                  <a:cubicBezTo>
                    <a:pt x="178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8" y="40"/>
                    <a:pt x="178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7"/>
            <p:cNvSpPr/>
            <p:nvPr/>
          </p:nvSpPr>
          <p:spPr>
            <a:xfrm>
              <a:off x="581436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7"/>
            <p:cNvSpPr/>
            <p:nvPr/>
          </p:nvSpPr>
          <p:spPr>
            <a:xfrm>
              <a:off x="5907240" y="4734360"/>
              <a:ext cx="64080" cy="64080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78" y="89"/>
                  </a:moveTo>
                  <a:cubicBezTo>
                    <a:pt x="178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8" y="40"/>
                    <a:pt x="178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600048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5513040" y="4355640"/>
              <a:ext cx="83160" cy="994320"/>
            </a:xfrm>
            <a:custGeom>
              <a:avLst/>
              <a:gdLst/>
              <a:ahLst/>
              <a:cxnLst/>
              <a:rect l="l" t="t" r="r" b="b"/>
              <a:pathLst>
                <a:path w="231" h="2762" extrusionOk="0">
                  <a:moveTo>
                    <a:pt x="231" y="2762"/>
                  </a:moveTo>
                  <a:lnTo>
                    <a:pt x="0" y="2762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31" y="27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5542920" y="4389480"/>
              <a:ext cx="23760" cy="921240"/>
            </a:xfrm>
            <a:custGeom>
              <a:avLst/>
              <a:gdLst/>
              <a:ahLst/>
              <a:cxnLst/>
              <a:rect l="l" t="t" r="r" b="b"/>
              <a:pathLst>
                <a:path w="66" h="2559" extrusionOk="0">
                  <a:moveTo>
                    <a:pt x="66" y="2559"/>
                  </a:moveTo>
                  <a:lnTo>
                    <a:pt x="0" y="2559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25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643360" y="48852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5643360" y="4912200"/>
              <a:ext cx="415080" cy="12240"/>
            </a:xfrm>
            <a:custGeom>
              <a:avLst/>
              <a:gdLst/>
              <a:ahLst/>
              <a:cxnLst/>
              <a:rect l="l" t="t" r="r" b="b"/>
              <a:pathLst>
                <a:path w="1153" h="34" extrusionOk="0">
                  <a:moveTo>
                    <a:pt x="1153" y="34"/>
                  </a:moveTo>
                  <a:lnTo>
                    <a:pt x="0" y="34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643360" y="493956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5643360" y="49669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5643360" y="4993920"/>
              <a:ext cx="415080" cy="12240"/>
            </a:xfrm>
            <a:custGeom>
              <a:avLst/>
              <a:gdLst/>
              <a:ahLst/>
              <a:cxnLst/>
              <a:rect l="l" t="t" r="r" b="b"/>
              <a:pathLst>
                <a:path w="1153" h="34" extrusionOk="0">
                  <a:moveTo>
                    <a:pt x="1153" y="34"/>
                  </a:moveTo>
                  <a:lnTo>
                    <a:pt x="0" y="34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5643360" y="502128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5643360" y="504864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5643360" y="50760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643360" y="51030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643360" y="513036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643360" y="51577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643360" y="51847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643360" y="521208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5643360" y="523944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5554800" y="5349960"/>
              <a:ext cx="41400" cy="51120"/>
            </a:xfrm>
            <a:custGeom>
              <a:avLst/>
              <a:gdLst/>
              <a:ahLst/>
              <a:cxnLst/>
              <a:rect l="l" t="t" r="r" b="b"/>
              <a:pathLst>
                <a:path w="115" h="142" extrusionOk="0">
                  <a:moveTo>
                    <a:pt x="115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15" y="0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037920" y="5349960"/>
              <a:ext cx="41400" cy="51120"/>
            </a:xfrm>
            <a:custGeom>
              <a:avLst/>
              <a:gdLst/>
              <a:ahLst/>
              <a:cxnLst/>
              <a:rect l="l" t="t" r="r" b="b"/>
              <a:pathLst>
                <a:path w="115" h="142" extrusionOk="0">
                  <a:moveTo>
                    <a:pt x="115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15" y="0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5628240" y="4464000"/>
              <a:ext cx="287280" cy="20088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798" y="558"/>
                  </a:moveTo>
                  <a:lnTo>
                    <a:pt x="0" y="558"/>
                  </a:lnTo>
                  <a:lnTo>
                    <a:pt x="0" y="0"/>
                  </a:lnTo>
                  <a:lnTo>
                    <a:pt x="798" y="0"/>
                  </a:lnTo>
                  <a:lnTo>
                    <a:pt x="798" y="5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5628240" y="4464000"/>
              <a:ext cx="287280" cy="20088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0" y="0"/>
                  </a:moveTo>
                  <a:lnTo>
                    <a:pt x="712" y="74"/>
                  </a:lnTo>
                  <a:lnTo>
                    <a:pt x="798" y="558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47"/>
          <p:cNvGrpSpPr/>
          <p:nvPr/>
        </p:nvGrpSpPr>
        <p:grpSpPr>
          <a:xfrm>
            <a:off x="5484258" y="2746991"/>
            <a:ext cx="1406000" cy="1573800"/>
            <a:chOff x="6615360" y="1721520"/>
            <a:chExt cx="857160" cy="959400"/>
          </a:xfrm>
        </p:grpSpPr>
        <p:sp>
          <p:nvSpPr>
            <p:cNvPr id="801" name="Google Shape;801;p47"/>
            <p:cNvSpPr/>
            <p:nvPr/>
          </p:nvSpPr>
          <p:spPr>
            <a:xfrm>
              <a:off x="6642360" y="1901880"/>
              <a:ext cx="317880" cy="651960"/>
            </a:xfrm>
            <a:custGeom>
              <a:avLst/>
              <a:gdLst/>
              <a:ahLst/>
              <a:cxnLst/>
              <a:rect l="l" t="t" r="r" b="b"/>
              <a:pathLst>
                <a:path w="883" h="1811" extrusionOk="0">
                  <a:moveTo>
                    <a:pt x="883" y="1789"/>
                  </a:moveTo>
                  <a:lnTo>
                    <a:pt x="834" y="1811"/>
                  </a:lnTo>
                  <a:lnTo>
                    <a:pt x="0" y="23"/>
                  </a:lnTo>
                  <a:lnTo>
                    <a:pt x="49" y="0"/>
                  </a:lnTo>
                  <a:lnTo>
                    <a:pt x="883" y="17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6651360" y="1901520"/>
              <a:ext cx="309600" cy="648360"/>
            </a:xfrm>
            <a:custGeom>
              <a:avLst/>
              <a:gdLst/>
              <a:ahLst/>
              <a:cxnLst/>
              <a:rect l="l" t="t" r="r" b="b"/>
              <a:pathLst>
                <a:path w="860" h="1801" extrusionOk="0">
                  <a:moveTo>
                    <a:pt x="860" y="1788"/>
                  </a:moveTo>
                  <a:lnTo>
                    <a:pt x="833" y="1801"/>
                  </a:lnTo>
                  <a:lnTo>
                    <a:pt x="0" y="12"/>
                  </a:lnTo>
                  <a:lnTo>
                    <a:pt x="27" y="0"/>
                  </a:lnTo>
                  <a:lnTo>
                    <a:pt x="860" y="17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7"/>
            <p:cNvSpPr/>
            <p:nvPr/>
          </p:nvSpPr>
          <p:spPr>
            <a:xfrm>
              <a:off x="6615360" y="1852200"/>
              <a:ext cx="48960" cy="64440"/>
            </a:xfrm>
            <a:custGeom>
              <a:avLst/>
              <a:gdLst/>
              <a:ahLst/>
              <a:cxnLst/>
              <a:rect l="l" t="t" r="r" b="b"/>
              <a:pathLst>
                <a:path w="136" h="179" extrusionOk="0">
                  <a:moveTo>
                    <a:pt x="6" y="78"/>
                  </a:moveTo>
                  <a:cubicBezTo>
                    <a:pt x="9" y="84"/>
                    <a:pt x="13" y="90"/>
                    <a:pt x="18" y="94"/>
                  </a:cubicBezTo>
                  <a:lnTo>
                    <a:pt x="79" y="179"/>
                  </a:lnTo>
                  <a:lnTo>
                    <a:pt x="136" y="153"/>
                  </a:lnTo>
                  <a:lnTo>
                    <a:pt x="111" y="51"/>
                  </a:lnTo>
                  <a:cubicBezTo>
                    <a:pt x="110" y="45"/>
                    <a:pt x="109" y="38"/>
                    <a:pt x="106" y="31"/>
                  </a:cubicBezTo>
                  <a:cubicBezTo>
                    <a:pt x="93" y="4"/>
                    <a:pt x="60" y="-8"/>
                    <a:pt x="33" y="5"/>
                  </a:cubicBezTo>
                  <a:cubicBezTo>
                    <a:pt x="5" y="18"/>
                    <a:pt x="-7" y="50"/>
                    <a:pt x="6" y="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7"/>
            <p:cNvSpPr/>
            <p:nvPr/>
          </p:nvSpPr>
          <p:spPr>
            <a:xfrm>
              <a:off x="6619680" y="1856160"/>
              <a:ext cx="31320" cy="31320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26" y="4"/>
                  </a:moveTo>
                  <a:cubicBezTo>
                    <a:pt x="47" y="-6"/>
                    <a:pt x="73" y="4"/>
                    <a:pt x="83" y="25"/>
                  </a:cubicBezTo>
                  <a:cubicBezTo>
                    <a:pt x="93" y="47"/>
                    <a:pt x="84" y="73"/>
                    <a:pt x="62" y="83"/>
                  </a:cubicBezTo>
                  <a:cubicBezTo>
                    <a:pt x="41" y="93"/>
                    <a:pt x="15" y="84"/>
                    <a:pt x="5" y="62"/>
                  </a:cubicBezTo>
                  <a:cubicBezTo>
                    <a:pt x="-5" y="40"/>
                    <a:pt x="4" y="15"/>
                    <a:pt x="26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7"/>
            <p:cNvSpPr/>
            <p:nvPr/>
          </p:nvSpPr>
          <p:spPr>
            <a:xfrm>
              <a:off x="6934680" y="2531160"/>
              <a:ext cx="48960" cy="64800"/>
            </a:xfrm>
            <a:custGeom>
              <a:avLst/>
              <a:gdLst/>
              <a:ahLst/>
              <a:cxnLst/>
              <a:rect l="l" t="t" r="r" b="b"/>
              <a:pathLst>
                <a:path w="136" h="180" extrusionOk="0">
                  <a:moveTo>
                    <a:pt x="130" y="102"/>
                  </a:moveTo>
                  <a:cubicBezTo>
                    <a:pt x="127" y="95"/>
                    <a:pt x="123" y="90"/>
                    <a:pt x="118" y="85"/>
                  </a:cubicBezTo>
                  <a:lnTo>
                    <a:pt x="57" y="0"/>
                  </a:lnTo>
                  <a:lnTo>
                    <a:pt x="0" y="27"/>
                  </a:lnTo>
                  <a:lnTo>
                    <a:pt x="25" y="128"/>
                  </a:lnTo>
                  <a:cubicBezTo>
                    <a:pt x="26" y="135"/>
                    <a:pt x="27" y="142"/>
                    <a:pt x="30" y="148"/>
                  </a:cubicBezTo>
                  <a:cubicBezTo>
                    <a:pt x="43" y="176"/>
                    <a:pt x="76" y="187"/>
                    <a:pt x="103" y="175"/>
                  </a:cubicBezTo>
                  <a:cubicBezTo>
                    <a:pt x="131" y="162"/>
                    <a:pt x="143" y="129"/>
                    <a:pt x="130" y="1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7"/>
            <p:cNvSpPr/>
            <p:nvPr/>
          </p:nvSpPr>
          <p:spPr>
            <a:xfrm>
              <a:off x="6948000" y="2560680"/>
              <a:ext cx="30960" cy="30960"/>
            </a:xfrm>
            <a:custGeom>
              <a:avLst/>
              <a:gdLst/>
              <a:ahLst/>
              <a:cxnLst/>
              <a:rect l="l" t="t" r="r" b="b"/>
              <a:pathLst>
                <a:path w="86" h="86" extrusionOk="0">
                  <a:moveTo>
                    <a:pt x="61" y="82"/>
                  </a:moveTo>
                  <a:cubicBezTo>
                    <a:pt x="40" y="92"/>
                    <a:pt x="14" y="83"/>
                    <a:pt x="4" y="61"/>
                  </a:cubicBezTo>
                  <a:cubicBezTo>
                    <a:pt x="-6" y="39"/>
                    <a:pt x="3" y="14"/>
                    <a:pt x="25" y="4"/>
                  </a:cubicBezTo>
                  <a:cubicBezTo>
                    <a:pt x="46" y="-7"/>
                    <a:pt x="72" y="3"/>
                    <a:pt x="82" y="24"/>
                  </a:cubicBezTo>
                  <a:cubicBezTo>
                    <a:pt x="92" y="46"/>
                    <a:pt x="83" y="72"/>
                    <a:pt x="61" y="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7"/>
            <p:cNvSpPr/>
            <p:nvPr/>
          </p:nvSpPr>
          <p:spPr>
            <a:xfrm>
              <a:off x="7083000" y="1837080"/>
              <a:ext cx="142560" cy="703080"/>
            </a:xfrm>
            <a:custGeom>
              <a:avLst/>
              <a:gdLst/>
              <a:ahLst/>
              <a:cxnLst/>
              <a:rect l="l" t="t" r="r" b="b"/>
              <a:pathLst>
                <a:path w="396" h="1953" extrusionOk="0">
                  <a:moveTo>
                    <a:pt x="53" y="1953"/>
                  </a:moveTo>
                  <a:lnTo>
                    <a:pt x="0" y="1944"/>
                  </a:lnTo>
                  <a:lnTo>
                    <a:pt x="343" y="0"/>
                  </a:lnTo>
                  <a:lnTo>
                    <a:pt x="396" y="9"/>
                  </a:lnTo>
                  <a:lnTo>
                    <a:pt x="53" y="19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7"/>
            <p:cNvSpPr/>
            <p:nvPr/>
          </p:nvSpPr>
          <p:spPr>
            <a:xfrm>
              <a:off x="7092360" y="1838880"/>
              <a:ext cx="134280" cy="701640"/>
            </a:xfrm>
            <a:custGeom>
              <a:avLst/>
              <a:gdLst/>
              <a:ahLst/>
              <a:cxnLst/>
              <a:rect l="l" t="t" r="r" b="b"/>
              <a:pathLst>
                <a:path w="373" h="1949" extrusionOk="0">
                  <a:moveTo>
                    <a:pt x="30" y="1949"/>
                  </a:moveTo>
                  <a:lnTo>
                    <a:pt x="0" y="1943"/>
                  </a:lnTo>
                  <a:lnTo>
                    <a:pt x="343" y="0"/>
                  </a:lnTo>
                  <a:lnTo>
                    <a:pt x="373" y="5"/>
                  </a:lnTo>
                  <a:lnTo>
                    <a:pt x="30" y="19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7"/>
            <p:cNvSpPr/>
            <p:nvPr/>
          </p:nvSpPr>
          <p:spPr>
            <a:xfrm>
              <a:off x="7202520" y="1782360"/>
              <a:ext cx="39600" cy="64800"/>
            </a:xfrm>
            <a:custGeom>
              <a:avLst/>
              <a:gdLst/>
              <a:ahLst/>
              <a:cxnLst/>
              <a:rect l="l" t="t" r="r" b="b"/>
              <a:pathLst>
                <a:path w="110" h="180" extrusionOk="0">
                  <a:moveTo>
                    <a:pt x="1" y="44"/>
                  </a:moveTo>
                  <a:cubicBezTo>
                    <a:pt x="0" y="51"/>
                    <a:pt x="0" y="58"/>
                    <a:pt x="1" y="65"/>
                  </a:cubicBezTo>
                  <a:lnTo>
                    <a:pt x="3" y="169"/>
                  </a:lnTo>
                  <a:lnTo>
                    <a:pt x="65" y="180"/>
                  </a:lnTo>
                  <a:lnTo>
                    <a:pt x="102" y="83"/>
                  </a:lnTo>
                  <a:cubicBezTo>
                    <a:pt x="106" y="77"/>
                    <a:pt x="108" y="70"/>
                    <a:pt x="109" y="63"/>
                  </a:cubicBezTo>
                  <a:cubicBezTo>
                    <a:pt x="115" y="34"/>
                    <a:pt x="95" y="5"/>
                    <a:pt x="65" y="0"/>
                  </a:cubicBezTo>
                  <a:cubicBezTo>
                    <a:pt x="35" y="-5"/>
                    <a:pt x="6" y="15"/>
                    <a:pt x="1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7"/>
            <p:cNvSpPr/>
            <p:nvPr/>
          </p:nvSpPr>
          <p:spPr>
            <a:xfrm>
              <a:off x="7207200" y="1786320"/>
              <a:ext cx="30960" cy="31320"/>
            </a:xfrm>
            <a:custGeom>
              <a:avLst/>
              <a:gdLst/>
              <a:ahLst/>
              <a:cxnLst/>
              <a:rect l="l" t="t" r="r" b="b"/>
              <a:pathLst>
                <a:path w="86" h="87" extrusionOk="0">
                  <a:moveTo>
                    <a:pt x="50" y="0"/>
                  </a:moveTo>
                  <a:cubicBezTo>
                    <a:pt x="73" y="4"/>
                    <a:pt x="89" y="27"/>
                    <a:pt x="85" y="50"/>
                  </a:cubicBezTo>
                  <a:cubicBezTo>
                    <a:pt x="81" y="74"/>
                    <a:pt x="58" y="90"/>
                    <a:pt x="35" y="86"/>
                  </a:cubicBezTo>
                  <a:cubicBezTo>
                    <a:pt x="11" y="81"/>
                    <a:pt x="-4" y="59"/>
                    <a:pt x="0" y="35"/>
                  </a:cubicBezTo>
                  <a:cubicBezTo>
                    <a:pt x="4" y="12"/>
                    <a:pt x="26" y="-4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7067520" y="2521440"/>
              <a:ext cx="39960" cy="65520"/>
            </a:xfrm>
            <a:custGeom>
              <a:avLst/>
              <a:gdLst/>
              <a:ahLst/>
              <a:cxnLst/>
              <a:rect l="l" t="t" r="r" b="b"/>
              <a:pathLst>
                <a:path w="111" h="182" extrusionOk="0">
                  <a:moveTo>
                    <a:pt x="110" y="136"/>
                  </a:moveTo>
                  <a:cubicBezTo>
                    <a:pt x="111" y="129"/>
                    <a:pt x="111" y="122"/>
                    <a:pt x="109" y="116"/>
                  </a:cubicBezTo>
                  <a:lnTo>
                    <a:pt x="108" y="11"/>
                  </a:lnTo>
                  <a:lnTo>
                    <a:pt x="46" y="0"/>
                  </a:lnTo>
                  <a:lnTo>
                    <a:pt x="9" y="98"/>
                  </a:lnTo>
                  <a:cubicBezTo>
                    <a:pt x="5" y="104"/>
                    <a:pt x="3" y="110"/>
                    <a:pt x="1" y="117"/>
                  </a:cubicBezTo>
                  <a:cubicBezTo>
                    <a:pt x="-4" y="147"/>
                    <a:pt x="16" y="175"/>
                    <a:pt x="46" y="181"/>
                  </a:cubicBezTo>
                  <a:cubicBezTo>
                    <a:pt x="76" y="186"/>
                    <a:pt x="104" y="166"/>
                    <a:pt x="110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0500" rIns="90000" bIns="20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7072200" y="2551320"/>
              <a:ext cx="30960" cy="31320"/>
            </a:xfrm>
            <a:custGeom>
              <a:avLst/>
              <a:gdLst/>
              <a:ahLst/>
              <a:cxnLst/>
              <a:rect l="l" t="t" r="r" b="b"/>
              <a:pathLst>
                <a:path w="86" h="87" extrusionOk="0">
                  <a:moveTo>
                    <a:pt x="35" y="86"/>
                  </a:moveTo>
                  <a:cubicBezTo>
                    <a:pt x="11" y="82"/>
                    <a:pt x="-4" y="59"/>
                    <a:pt x="0" y="36"/>
                  </a:cubicBezTo>
                  <a:cubicBezTo>
                    <a:pt x="4" y="12"/>
                    <a:pt x="26" y="-3"/>
                    <a:pt x="50" y="1"/>
                  </a:cubicBezTo>
                  <a:cubicBezTo>
                    <a:pt x="74" y="5"/>
                    <a:pt x="89" y="27"/>
                    <a:pt x="85" y="51"/>
                  </a:cubicBezTo>
                  <a:cubicBezTo>
                    <a:pt x="81" y="74"/>
                    <a:pt x="59" y="90"/>
                    <a:pt x="35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7047720" y="1837080"/>
              <a:ext cx="142560" cy="703080"/>
            </a:xfrm>
            <a:custGeom>
              <a:avLst/>
              <a:gdLst/>
              <a:ahLst/>
              <a:cxnLst/>
              <a:rect l="l" t="t" r="r" b="b"/>
              <a:pathLst>
                <a:path w="396" h="1953" extrusionOk="0">
                  <a:moveTo>
                    <a:pt x="53" y="1953"/>
                  </a:moveTo>
                  <a:lnTo>
                    <a:pt x="0" y="1944"/>
                  </a:lnTo>
                  <a:lnTo>
                    <a:pt x="342" y="0"/>
                  </a:lnTo>
                  <a:lnTo>
                    <a:pt x="396" y="9"/>
                  </a:lnTo>
                  <a:lnTo>
                    <a:pt x="53" y="19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7057080" y="1838880"/>
              <a:ext cx="133920" cy="701640"/>
            </a:xfrm>
            <a:custGeom>
              <a:avLst/>
              <a:gdLst/>
              <a:ahLst/>
              <a:cxnLst/>
              <a:rect l="l" t="t" r="r" b="b"/>
              <a:pathLst>
                <a:path w="372" h="1949" extrusionOk="0">
                  <a:moveTo>
                    <a:pt x="30" y="1949"/>
                  </a:moveTo>
                  <a:lnTo>
                    <a:pt x="0" y="1943"/>
                  </a:lnTo>
                  <a:lnTo>
                    <a:pt x="343" y="0"/>
                  </a:lnTo>
                  <a:lnTo>
                    <a:pt x="372" y="5"/>
                  </a:lnTo>
                  <a:lnTo>
                    <a:pt x="30" y="19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7167240" y="1782360"/>
              <a:ext cx="39600" cy="64800"/>
            </a:xfrm>
            <a:custGeom>
              <a:avLst/>
              <a:gdLst/>
              <a:ahLst/>
              <a:cxnLst/>
              <a:rect l="l" t="t" r="r" b="b"/>
              <a:pathLst>
                <a:path w="110" h="180" extrusionOk="0">
                  <a:moveTo>
                    <a:pt x="1" y="44"/>
                  </a:moveTo>
                  <a:cubicBezTo>
                    <a:pt x="0" y="51"/>
                    <a:pt x="0" y="58"/>
                    <a:pt x="1" y="65"/>
                  </a:cubicBezTo>
                  <a:lnTo>
                    <a:pt x="3" y="169"/>
                  </a:lnTo>
                  <a:lnTo>
                    <a:pt x="65" y="180"/>
                  </a:lnTo>
                  <a:lnTo>
                    <a:pt x="102" y="83"/>
                  </a:lnTo>
                  <a:cubicBezTo>
                    <a:pt x="105" y="77"/>
                    <a:pt x="108" y="70"/>
                    <a:pt x="109" y="63"/>
                  </a:cubicBezTo>
                  <a:cubicBezTo>
                    <a:pt x="114" y="34"/>
                    <a:pt x="94" y="5"/>
                    <a:pt x="65" y="0"/>
                  </a:cubicBezTo>
                  <a:cubicBezTo>
                    <a:pt x="35" y="-5"/>
                    <a:pt x="6" y="15"/>
                    <a:pt x="1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7"/>
            <p:cNvSpPr/>
            <p:nvPr/>
          </p:nvSpPr>
          <p:spPr>
            <a:xfrm>
              <a:off x="7171560" y="1786320"/>
              <a:ext cx="31320" cy="31320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51" y="0"/>
                  </a:moveTo>
                  <a:cubicBezTo>
                    <a:pt x="74" y="4"/>
                    <a:pt x="90" y="27"/>
                    <a:pt x="86" y="50"/>
                  </a:cubicBezTo>
                  <a:cubicBezTo>
                    <a:pt x="81" y="74"/>
                    <a:pt x="59" y="90"/>
                    <a:pt x="36" y="86"/>
                  </a:cubicBezTo>
                  <a:cubicBezTo>
                    <a:pt x="12" y="81"/>
                    <a:pt x="-4" y="59"/>
                    <a:pt x="0" y="35"/>
                  </a:cubicBezTo>
                  <a:cubicBezTo>
                    <a:pt x="5" y="12"/>
                    <a:pt x="27" y="-4"/>
                    <a:pt x="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7"/>
            <p:cNvSpPr/>
            <p:nvPr/>
          </p:nvSpPr>
          <p:spPr>
            <a:xfrm>
              <a:off x="7032600" y="2521440"/>
              <a:ext cx="39240" cy="65520"/>
            </a:xfrm>
            <a:custGeom>
              <a:avLst/>
              <a:gdLst/>
              <a:ahLst/>
              <a:cxnLst/>
              <a:rect l="l" t="t" r="r" b="b"/>
              <a:pathLst>
                <a:path w="109" h="182" extrusionOk="0">
                  <a:moveTo>
                    <a:pt x="108" y="136"/>
                  </a:moveTo>
                  <a:cubicBezTo>
                    <a:pt x="110" y="129"/>
                    <a:pt x="109" y="122"/>
                    <a:pt x="108" y="116"/>
                  </a:cubicBezTo>
                  <a:lnTo>
                    <a:pt x="107" y="11"/>
                  </a:lnTo>
                  <a:lnTo>
                    <a:pt x="44" y="0"/>
                  </a:lnTo>
                  <a:lnTo>
                    <a:pt x="7" y="98"/>
                  </a:lnTo>
                  <a:cubicBezTo>
                    <a:pt x="4" y="104"/>
                    <a:pt x="1" y="110"/>
                    <a:pt x="0" y="117"/>
                  </a:cubicBezTo>
                  <a:cubicBezTo>
                    <a:pt x="-5" y="147"/>
                    <a:pt x="15" y="175"/>
                    <a:pt x="45" y="181"/>
                  </a:cubicBezTo>
                  <a:cubicBezTo>
                    <a:pt x="75" y="186"/>
                    <a:pt x="103" y="166"/>
                    <a:pt x="108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0500" rIns="90000" bIns="20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7036560" y="2551320"/>
              <a:ext cx="31320" cy="31320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6" y="86"/>
                  </a:moveTo>
                  <a:cubicBezTo>
                    <a:pt x="12" y="82"/>
                    <a:pt x="-4" y="59"/>
                    <a:pt x="1" y="36"/>
                  </a:cubicBezTo>
                  <a:cubicBezTo>
                    <a:pt x="5" y="12"/>
                    <a:pt x="27" y="-3"/>
                    <a:pt x="51" y="1"/>
                  </a:cubicBezTo>
                  <a:cubicBezTo>
                    <a:pt x="74" y="5"/>
                    <a:pt x="90" y="27"/>
                    <a:pt x="86" y="51"/>
                  </a:cubicBezTo>
                  <a:cubicBezTo>
                    <a:pt x="82" y="74"/>
                    <a:pt x="59" y="90"/>
                    <a:pt x="36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7022160" y="2414880"/>
              <a:ext cx="105840" cy="203760"/>
            </a:xfrm>
            <a:custGeom>
              <a:avLst/>
              <a:gdLst/>
              <a:ahLst/>
              <a:cxnLst/>
              <a:rect l="l" t="t" r="r" b="b"/>
              <a:pathLst>
                <a:path w="294" h="566" extrusionOk="0">
                  <a:moveTo>
                    <a:pt x="203" y="566"/>
                  </a:moveTo>
                  <a:lnTo>
                    <a:pt x="91" y="566"/>
                  </a:lnTo>
                  <a:cubicBezTo>
                    <a:pt x="41" y="566"/>
                    <a:pt x="0" y="525"/>
                    <a:pt x="0" y="475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lnTo>
                    <a:pt x="203" y="0"/>
                  </a:lnTo>
                  <a:cubicBezTo>
                    <a:pt x="253" y="0"/>
                    <a:pt x="294" y="41"/>
                    <a:pt x="294" y="91"/>
                  </a:cubicBezTo>
                  <a:lnTo>
                    <a:pt x="294" y="475"/>
                  </a:lnTo>
                  <a:cubicBezTo>
                    <a:pt x="294" y="525"/>
                    <a:pt x="253" y="566"/>
                    <a:pt x="203" y="5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7060680" y="2624400"/>
              <a:ext cx="28800" cy="56520"/>
            </a:xfrm>
            <a:custGeom>
              <a:avLst/>
              <a:gdLst/>
              <a:ahLst/>
              <a:cxnLst/>
              <a:rect l="l" t="t" r="r" b="b"/>
              <a:pathLst>
                <a:path w="80" h="157" extrusionOk="0">
                  <a:moveTo>
                    <a:pt x="80" y="157"/>
                  </a:moveTo>
                  <a:lnTo>
                    <a:pt x="0" y="157"/>
                  </a:lnTo>
                  <a:lnTo>
                    <a:pt x="0" y="0"/>
                  </a:lnTo>
                  <a:lnTo>
                    <a:pt x="80" y="0"/>
                  </a:lnTo>
                  <a:lnTo>
                    <a:pt x="80" y="15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1500" rIns="90000" bIns="11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7074000" y="2414880"/>
              <a:ext cx="30960" cy="203760"/>
            </a:xfrm>
            <a:custGeom>
              <a:avLst/>
              <a:gdLst/>
              <a:ahLst/>
              <a:cxnLst/>
              <a:rect l="l" t="t" r="r" b="b"/>
              <a:pathLst>
                <a:path w="86" h="566" extrusionOk="0">
                  <a:moveTo>
                    <a:pt x="43" y="566"/>
                  </a:moveTo>
                  <a:lnTo>
                    <a:pt x="43" y="566"/>
                  </a:lnTo>
                  <a:cubicBezTo>
                    <a:pt x="20" y="566"/>
                    <a:pt x="0" y="546"/>
                    <a:pt x="0" y="523"/>
                  </a:cubicBezTo>
                  <a:lnTo>
                    <a:pt x="0" y="43"/>
                  </a:lnTo>
                  <a:cubicBezTo>
                    <a:pt x="0" y="19"/>
                    <a:pt x="20" y="0"/>
                    <a:pt x="43" y="0"/>
                  </a:cubicBezTo>
                  <a:cubicBezTo>
                    <a:pt x="67" y="0"/>
                    <a:pt x="86" y="19"/>
                    <a:pt x="86" y="43"/>
                  </a:cubicBezTo>
                  <a:lnTo>
                    <a:pt x="86" y="523"/>
                  </a:lnTo>
                  <a:cubicBezTo>
                    <a:pt x="86" y="546"/>
                    <a:pt x="67" y="566"/>
                    <a:pt x="43" y="5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7043040" y="2543040"/>
              <a:ext cx="64080" cy="123840"/>
            </a:xfrm>
            <a:custGeom>
              <a:avLst/>
              <a:gdLst/>
              <a:ahLst/>
              <a:cxnLst/>
              <a:rect l="l" t="t" r="r" b="b"/>
              <a:pathLst>
                <a:path w="178" h="344" extrusionOk="0">
                  <a:moveTo>
                    <a:pt x="144" y="344"/>
                  </a:moveTo>
                  <a:lnTo>
                    <a:pt x="34" y="344"/>
                  </a:lnTo>
                  <a:cubicBezTo>
                    <a:pt x="15" y="344"/>
                    <a:pt x="0" y="329"/>
                    <a:pt x="0" y="310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lnTo>
                    <a:pt x="144" y="0"/>
                  </a:lnTo>
                  <a:cubicBezTo>
                    <a:pt x="163" y="0"/>
                    <a:pt x="178" y="15"/>
                    <a:pt x="178" y="34"/>
                  </a:cubicBezTo>
                  <a:lnTo>
                    <a:pt x="178" y="310"/>
                  </a:lnTo>
                  <a:cubicBezTo>
                    <a:pt x="178" y="329"/>
                    <a:pt x="163" y="344"/>
                    <a:pt x="144" y="3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7"/>
            <p:cNvSpPr/>
            <p:nvPr/>
          </p:nvSpPr>
          <p:spPr>
            <a:xfrm>
              <a:off x="6945120" y="2543040"/>
              <a:ext cx="259920" cy="75600"/>
            </a:xfrm>
            <a:custGeom>
              <a:avLst/>
              <a:gdLst/>
              <a:ahLst/>
              <a:cxnLst/>
              <a:rect l="l" t="t" r="r" b="b"/>
              <a:pathLst>
                <a:path w="722" h="210" extrusionOk="0">
                  <a:moveTo>
                    <a:pt x="631" y="210"/>
                  </a:moveTo>
                  <a:lnTo>
                    <a:pt x="91" y="210"/>
                  </a:lnTo>
                  <a:cubicBezTo>
                    <a:pt x="41" y="210"/>
                    <a:pt x="0" y="169"/>
                    <a:pt x="0" y="119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lnTo>
                    <a:pt x="631" y="0"/>
                  </a:lnTo>
                  <a:cubicBezTo>
                    <a:pt x="681" y="0"/>
                    <a:pt x="722" y="41"/>
                    <a:pt x="722" y="91"/>
                  </a:cubicBezTo>
                  <a:lnTo>
                    <a:pt x="722" y="119"/>
                  </a:lnTo>
                  <a:cubicBezTo>
                    <a:pt x="722" y="169"/>
                    <a:pt x="681" y="210"/>
                    <a:pt x="63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0600" rIns="90000" bIns="30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7"/>
            <p:cNvSpPr/>
            <p:nvPr/>
          </p:nvSpPr>
          <p:spPr>
            <a:xfrm>
              <a:off x="7147800" y="1741320"/>
              <a:ext cx="177120" cy="450720"/>
            </a:xfrm>
            <a:custGeom>
              <a:avLst/>
              <a:gdLst/>
              <a:ahLst/>
              <a:cxnLst/>
              <a:rect l="l" t="t" r="r" b="b"/>
              <a:pathLst>
                <a:path w="492" h="1252" extrusionOk="0">
                  <a:moveTo>
                    <a:pt x="246" y="1252"/>
                  </a:moveTo>
                  <a:lnTo>
                    <a:pt x="246" y="1252"/>
                  </a:lnTo>
                  <a:cubicBezTo>
                    <a:pt x="110" y="1252"/>
                    <a:pt x="0" y="1141"/>
                    <a:pt x="0" y="1006"/>
                  </a:cubicBezTo>
                  <a:lnTo>
                    <a:pt x="0" y="119"/>
                  </a:lnTo>
                  <a:cubicBezTo>
                    <a:pt x="0" y="-17"/>
                    <a:pt x="110" y="0"/>
                    <a:pt x="246" y="0"/>
                  </a:cubicBezTo>
                  <a:cubicBezTo>
                    <a:pt x="381" y="0"/>
                    <a:pt x="492" y="-17"/>
                    <a:pt x="492" y="119"/>
                  </a:cubicBezTo>
                  <a:lnTo>
                    <a:pt x="492" y="1006"/>
                  </a:lnTo>
                  <a:cubicBezTo>
                    <a:pt x="492" y="1141"/>
                    <a:pt x="381" y="1252"/>
                    <a:pt x="246" y="1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7"/>
            <p:cNvSpPr/>
            <p:nvPr/>
          </p:nvSpPr>
          <p:spPr>
            <a:xfrm>
              <a:off x="6809760" y="1741320"/>
              <a:ext cx="177120" cy="450720"/>
            </a:xfrm>
            <a:custGeom>
              <a:avLst/>
              <a:gdLst/>
              <a:ahLst/>
              <a:cxnLst/>
              <a:rect l="l" t="t" r="r" b="b"/>
              <a:pathLst>
                <a:path w="492" h="1252" extrusionOk="0">
                  <a:moveTo>
                    <a:pt x="246" y="1252"/>
                  </a:moveTo>
                  <a:lnTo>
                    <a:pt x="246" y="1252"/>
                  </a:lnTo>
                  <a:cubicBezTo>
                    <a:pt x="111" y="1252"/>
                    <a:pt x="0" y="1141"/>
                    <a:pt x="0" y="1006"/>
                  </a:cubicBezTo>
                  <a:lnTo>
                    <a:pt x="0" y="119"/>
                  </a:lnTo>
                  <a:cubicBezTo>
                    <a:pt x="0" y="-17"/>
                    <a:pt x="111" y="0"/>
                    <a:pt x="246" y="0"/>
                  </a:cubicBezTo>
                  <a:cubicBezTo>
                    <a:pt x="381" y="0"/>
                    <a:pt x="492" y="-17"/>
                    <a:pt x="492" y="119"/>
                  </a:cubicBezTo>
                  <a:lnTo>
                    <a:pt x="492" y="1006"/>
                  </a:lnTo>
                  <a:cubicBezTo>
                    <a:pt x="492" y="1141"/>
                    <a:pt x="381" y="1252"/>
                    <a:pt x="246" y="1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7"/>
            <p:cNvSpPr/>
            <p:nvPr/>
          </p:nvSpPr>
          <p:spPr>
            <a:xfrm>
              <a:off x="7147800" y="1852200"/>
              <a:ext cx="177120" cy="338040"/>
            </a:xfrm>
            <a:custGeom>
              <a:avLst/>
              <a:gdLst/>
              <a:ahLst/>
              <a:cxnLst/>
              <a:rect l="l" t="t" r="r" b="b"/>
              <a:pathLst>
                <a:path w="492" h="939" extrusionOk="0">
                  <a:moveTo>
                    <a:pt x="492" y="538"/>
                  </a:moveTo>
                  <a:lnTo>
                    <a:pt x="492" y="0"/>
                  </a:lnTo>
                  <a:lnTo>
                    <a:pt x="0" y="447"/>
                  </a:lnTo>
                  <a:lnTo>
                    <a:pt x="196" y="939"/>
                  </a:lnTo>
                  <a:cubicBezTo>
                    <a:pt x="196" y="939"/>
                    <a:pt x="268" y="939"/>
                    <a:pt x="338" y="823"/>
                  </a:cubicBezTo>
                  <a:cubicBezTo>
                    <a:pt x="397" y="727"/>
                    <a:pt x="492" y="538"/>
                    <a:pt x="492" y="5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7"/>
            <p:cNvSpPr/>
            <p:nvPr/>
          </p:nvSpPr>
          <p:spPr>
            <a:xfrm>
              <a:off x="6752880" y="1721520"/>
              <a:ext cx="644400" cy="371880"/>
            </a:xfrm>
            <a:custGeom>
              <a:avLst/>
              <a:gdLst/>
              <a:ahLst/>
              <a:cxnLst/>
              <a:rect l="l" t="t" r="r" b="b"/>
              <a:pathLst>
                <a:path w="1790" h="1033" extrusionOk="0">
                  <a:moveTo>
                    <a:pt x="1790" y="0"/>
                  </a:moveTo>
                  <a:cubicBezTo>
                    <a:pt x="1790" y="493"/>
                    <a:pt x="1497" y="1033"/>
                    <a:pt x="895" y="1033"/>
                  </a:cubicBezTo>
                  <a:cubicBezTo>
                    <a:pt x="302" y="1033"/>
                    <a:pt x="0" y="493"/>
                    <a:pt x="0" y="0"/>
                  </a:cubicBezTo>
                  <a:lnTo>
                    <a:pt x="17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7"/>
            <p:cNvSpPr/>
            <p:nvPr/>
          </p:nvSpPr>
          <p:spPr>
            <a:xfrm>
              <a:off x="7197840" y="1877040"/>
              <a:ext cx="236160" cy="236160"/>
            </a:xfrm>
            <a:custGeom>
              <a:avLst/>
              <a:gdLst/>
              <a:ahLst/>
              <a:cxnLst/>
              <a:rect l="l" t="t" r="r" b="b"/>
              <a:pathLst>
                <a:path w="656" h="656" extrusionOk="0">
                  <a:moveTo>
                    <a:pt x="79" y="656"/>
                  </a:moveTo>
                  <a:lnTo>
                    <a:pt x="656" y="80"/>
                  </a:lnTo>
                  <a:lnTo>
                    <a:pt x="576" y="0"/>
                  </a:lnTo>
                  <a:lnTo>
                    <a:pt x="0" y="576"/>
                  </a:lnTo>
                  <a:lnTo>
                    <a:pt x="79" y="6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7"/>
            <p:cNvSpPr/>
            <p:nvPr/>
          </p:nvSpPr>
          <p:spPr>
            <a:xfrm>
              <a:off x="7214400" y="1877040"/>
              <a:ext cx="205200" cy="205200"/>
            </a:xfrm>
            <a:custGeom>
              <a:avLst/>
              <a:gdLst/>
              <a:ahLst/>
              <a:cxnLst/>
              <a:rect l="l" t="t" r="r" b="b"/>
              <a:pathLst>
                <a:path w="570" h="570" extrusionOk="0">
                  <a:moveTo>
                    <a:pt x="40" y="570"/>
                  </a:moveTo>
                  <a:lnTo>
                    <a:pt x="570" y="40"/>
                  </a:lnTo>
                  <a:lnTo>
                    <a:pt x="530" y="0"/>
                  </a:lnTo>
                  <a:lnTo>
                    <a:pt x="0" y="530"/>
                  </a:lnTo>
                  <a:lnTo>
                    <a:pt x="40" y="5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7"/>
            <p:cNvSpPr/>
            <p:nvPr/>
          </p:nvSpPr>
          <p:spPr>
            <a:xfrm>
              <a:off x="7151760" y="2053800"/>
              <a:ext cx="105480" cy="105840"/>
            </a:xfrm>
            <a:custGeom>
              <a:avLst/>
              <a:gdLst/>
              <a:ahLst/>
              <a:cxnLst/>
              <a:rect l="l" t="t" r="r" b="b"/>
              <a:pathLst>
                <a:path w="293" h="294" extrusionOk="0">
                  <a:moveTo>
                    <a:pt x="29" y="125"/>
                  </a:moveTo>
                  <a:cubicBezTo>
                    <a:pt x="37" y="116"/>
                    <a:pt x="48" y="110"/>
                    <a:pt x="59" y="105"/>
                  </a:cubicBezTo>
                  <a:lnTo>
                    <a:pt x="213" y="0"/>
                  </a:lnTo>
                  <a:lnTo>
                    <a:pt x="293" y="80"/>
                  </a:lnTo>
                  <a:lnTo>
                    <a:pt x="188" y="234"/>
                  </a:lnTo>
                  <a:cubicBezTo>
                    <a:pt x="183" y="245"/>
                    <a:pt x="176" y="255"/>
                    <a:pt x="167" y="264"/>
                  </a:cubicBezTo>
                  <a:cubicBezTo>
                    <a:pt x="129" y="303"/>
                    <a:pt x="67" y="303"/>
                    <a:pt x="29" y="264"/>
                  </a:cubicBezTo>
                  <a:cubicBezTo>
                    <a:pt x="-10" y="226"/>
                    <a:pt x="-10" y="164"/>
                    <a:pt x="29" y="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7"/>
            <p:cNvSpPr/>
            <p:nvPr/>
          </p:nvSpPr>
          <p:spPr>
            <a:xfrm>
              <a:off x="7384680" y="1838520"/>
              <a:ext cx="87840" cy="87840"/>
            </a:xfrm>
            <a:custGeom>
              <a:avLst/>
              <a:gdLst/>
              <a:ahLst/>
              <a:cxnLst/>
              <a:rect l="l" t="t" r="r" b="b"/>
              <a:pathLst>
                <a:path w="244" h="244" extrusionOk="0">
                  <a:moveTo>
                    <a:pt x="227" y="156"/>
                  </a:moveTo>
                  <a:cubicBezTo>
                    <a:pt x="220" y="163"/>
                    <a:pt x="212" y="167"/>
                    <a:pt x="203" y="170"/>
                  </a:cubicBezTo>
                  <a:lnTo>
                    <a:pt x="80" y="244"/>
                  </a:lnTo>
                  <a:lnTo>
                    <a:pt x="0" y="164"/>
                  </a:lnTo>
                  <a:lnTo>
                    <a:pt x="74" y="41"/>
                  </a:lnTo>
                  <a:cubicBezTo>
                    <a:pt x="77" y="32"/>
                    <a:pt x="81" y="24"/>
                    <a:pt x="88" y="17"/>
                  </a:cubicBezTo>
                  <a:cubicBezTo>
                    <a:pt x="117" y="-12"/>
                    <a:pt x="172" y="-5"/>
                    <a:pt x="210" y="34"/>
                  </a:cubicBezTo>
                  <a:cubicBezTo>
                    <a:pt x="248" y="72"/>
                    <a:pt x="256" y="127"/>
                    <a:pt x="227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7"/>
            <p:cNvSpPr/>
            <p:nvPr/>
          </p:nvSpPr>
          <p:spPr>
            <a:xfrm>
              <a:off x="7159320" y="2096280"/>
              <a:ext cx="55800" cy="55800"/>
            </a:xfrm>
            <a:custGeom>
              <a:avLst/>
              <a:gdLst/>
              <a:ahLst/>
              <a:cxnLst/>
              <a:rect l="l" t="t" r="r" b="b"/>
              <a:pathLst>
                <a:path w="155" h="155" extrusionOk="0">
                  <a:moveTo>
                    <a:pt x="22" y="132"/>
                  </a:moveTo>
                  <a:cubicBezTo>
                    <a:pt x="53" y="162"/>
                    <a:pt x="101" y="162"/>
                    <a:pt x="132" y="132"/>
                  </a:cubicBezTo>
                  <a:cubicBezTo>
                    <a:pt x="162" y="101"/>
                    <a:pt x="162" y="52"/>
                    <a:pt x="132" y="22"/>
                  </a:cubicBezTo>
                  <a:cubicBezTo>
                    <a:pt x="101" y="-8"/>
                    <a:pt x="53" y="-8"/>
                    <a:pt x="22" y="22"/>
                  </a:cubicBezTo>
                  <a:cubicBezTo>
                    <a:pt x="-8" y="52"/>
                    <a:pt x="-8" y="101"/>
                    <a:pt x="22" y="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0800" rIns="90000" bIns="10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7"/>
            <p:cNvSpPr/>
            <p:nvPr/>
          </p:nvSpPr>
          <p:spPr>
            <a:xfrm>
              <a:off x="7075080" y="1758600"/>
              <a:ext cx="177120" cy="450720"/>
            </a:xfrm>
            <a:custGeom>
              <a:avLst/>
              <a:gdLst/>
              <a:ahLst/>
              <a:cxnLst/>
              <a:rect l="l" t="t" r="r" b="b"/>
              <a:pathLst>
                <a:path w="492" h="1252" extrusionOk="0">
                  <a:moveTo>
                    <a:pt x="246" y="1252"/>
                  </a:moveTo>
                  <a:lnTo>
                    <a:pt x="246" y="1252"/>
                  </a:lnTo>
                  <a:cubicBezTo>
                    <a:pt x="111" y="1252"/>
                    <a:pt x="0" y="1142"/>
                    <a:pt x="0" y="1006"/>
                  </a:cubicBezTo>
                  <a:lnTo>
                    <a:pt x="0" y="119"/>
                  </a:lnTo>
                  <a:cubicBezTo>
                    <a:pt x="0" y="-16"/>
                    <a:pt x="111" y="0"/>
                    <a:pt x="246" y="0"/>
                  </a:cubicBezTo>
                  <a:cubicBezTo>
                    <a:pt x="381" y="0"/>
                    <a:pt x="492" y="-16"/>
                    <a:pt x="492" y="119"/>
                  </a:cubicBezTo>
                  <a:lnTo>
                    <a:pt x="492" y="1006"/>
                  </a:lnTo>
                  <a:cubicBezTo>
                    <a:pt x="492" y="1142"/>
                    <a:pt x="381" y="1252"/>
                    <a:pt x="246" y="12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7"/>
            <p:cNvSpPr/>
            <p:nvPr/>
          </p:nvSpPr>
          <p:spPr>
            <a:xfrm>
              <a:off x="6654600" y="1866240"/>
              <a:ext cx="235800" cy="236160"/>
            </a:xfrm>
            <a:custGeom>
              <a:avLst/>
              <a:gdLst/>
              <a:ahLst/>
              <a:cxnLst/>
              <a:rect l="l" t="t" r="r" b="b"/>
              <a:pathLst>
                <a:path w="655" h="656" extrusionOk="0">
                  <a:moveTo>
                    <a:pt x="575" y="656"/>
                  </a:moveTo>
                  <a:lnTo>
                    <a:pt x="0" y="80"/>
                  </a:lnTo>
                  <a:lnTo>
                    <a:pt x="78" y="0"/>
                  </a:lnTo>
                  <a:lnTo>
                    <a:pt x="655" y="576"/>
                  </a:lnTo>
                  <a:lnTo>
                    <a:pt x="575" y="6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6669000" y="1866240"/>
              <a:ext cx="204480" cy="205200"/>
            </a:xfrm>
            <a:custGeom>
              <a:avLst/>
              <a:gdLst/>
              <a:ahLst/>
              <a:cxnLst/>
              <a:rect l="l" t="t" r="r" b="b"/>
              <a:pathLst>
                <a:path w="568" h="570" extrusionOk="0">
                  <a:moveTo>
                    <a:pt x="528" y="570"/>
                  </a:moveTo>
                  <a:lnTo>
                    <a:pt x="0" y="40"/>
                  </a:lnTo>
                  <a:lnTo>
                    <a:pt x="38" y="0"/>
                  </a:lnTo>
                  <a:lnTo>
                    <a:pt x="568" y="530"/>
                  </a:lnTo>
                  <a:lnTo>
                    <a:pt x="528" y="5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6830640" y="2043000"/>
              <a:ext cx="105840" cy="105840"/>
            </a:xfrm>
            <a:custGeom>
              <a:avLst/>
              <a:gdLst/>
              <a:ahLst/>
              <a:cxnLst/>
              <a:rect l="l" t="t" r="r" b="b"/>
              <a:pathLst>
                <a:path w="294" h="294" extrusionOk="0">
                  <a:moveTo>
                    <a:pt x="265" y="125"/>
                  </a:moveTo>
                  <a:cubicBezTo>
                    <a:pt x="256" y="116"/>
                    <a:pt x="246" y="110"/>
                    <a:pt x="235" y="105"/>
                  </a:cubicBezTo>
                  <a:lnTo>
                    <a:pt x="80" y="0"/>
                  </a:lnTo>
                  <a:lnTo>
                    <a:pt x="0" y="79"/>
                  </a:lnTo>
                  <a:lnTo>
                    <a:pt x="106" y="234"/>
                  </a:lnTo>
                  <a:cubicBezTo>
                    <a:pt x="110" y="245"/>
                    <a:pt x="117" y="255"/>
                    <a:pt x="126" y="264"/>
                  </a:cubicBezTo>
                  <a:cubicBezTo>
                    <a:pt x="164" y="303"/>
                    <a:pt x="227" y="303"/>
                    <a:pt x="265" y="264"/>
                  </a:cubicBezTo>
                  <a:cubicBezTo>
                    <a:pt x="303" y="226"/>
                    <a:pt x="303" y="164"/>
                    <a:pt x="265" y="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7"/>
            <p:cNvSpPr/>
            <p:nvPr/>
          </p:nvSpPr>
          <p:spPr>
            <a:xfrm>
              <a:off x="6615720" y="1827720"/>
              <a:ext cx="87480" cy="87840"/>
            </a:xfrm>
            <a:custGeom>
              <a:avLst/>
              <a:gdLst/>
              <a:ahLst/>
              <a:cxnLst/>
              <a:rect l="l" t="t" r="r" b="b"/>
              <a:pathLst>
                <a:path w="243" h="244" extrusionOk="0">
                  <a:moveTo>
                    <a:pt x="18" y="156"/>
                  </a:moveTo>
                  <a:cubicBezTo>
                    <a:pt x="24" y="162"/>
                    <a:pt x="32" y="167"/>
                    <a:pt x="42" y="170"/>
                  </a:cubicBezTo>
                  <a:lnTo>
                    <a:pt x="165" y="244"/>
                  </a:lnTo>
                  <a:lnTo>
                    <a:pt x="243" y="164"/>
                  </a:lnTo>
                  <a:lnTo>
                    <a:pt x="170" y="41"/>
                  </a:lnTo>
                  <a:cubicBezTo>
                    <a:pt x="168" y="32"/>
                    <a:pt x="163" y="24"/>
                    <a:pt x="156" y="17"/>
                  </a:cubicBezTo>
                  <a:cubicBezTo>
                    <a:pt x="127" y="-12"/>
                    <a:pt x="73" y="-5"/>
                    <a:pt x="34" y="34"/>
                  </a:cubicBezTo>
                  <a:cubicBezTo>
                    <a:pt x="-4" y="72"/>
                    <a:pt x="-11" y="127"/>
                    <a:pt x="18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7"/>
            <p:cNvSpPr/>
            <p:nvPr/>
          </p:nvSpPr>
          <p:spPr>
            <a:xfrm>
              <a:off x="6873480" y="2085480"/>
              <a:ext cx="55440" cy="55800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131" y="131"/>
                  </a:moveTo>
                  <a:cubicBezTo>
                    <a:pt x="101" y="162"/>
                    <a:pt x="52" y="162"/>
                    <a:pt x="22" y="131"/>
                  </a:cubicBezTo>
                  <a:cubicBezTo>
                    <a:pt x="-8" y="101"/>
                    <a:pt x="-8" y="52"/>
                    <a:pt x="22" y="22"/>
                  </a:cubicBezTo>
                  <a:cubicBezTo>
                    <a:pt x="52" y="-8"/>
                    <a:pt x="101" y="-8"/>
                    <a:pt x="131" y="22"/>
                  </a:cubicBezTo>
                  <a:cubicBezTo>
                    <a:pt x="161" y="52"/>
                    <a:pt x="161" y="101"/>
                    <a:pt x="131" y="1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0800" rIns="90000" bIns="10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6660000" y="1893960"/>
              <a:ext cx="317880" cy="652320"/>
            </a:xfrm>
            <a:custGeom>
              <a:avLst/>
              <a:gdLst/>
              <a:ahLst/>
              <a:cxnLst/>
              <a:rect l="l" t="t" r="r" b="b"/>
              <a:pathLst>
                <a:path w="883" h="1812" extrusionOk="0">
                  <a:moveTo>
                    <a:pt x="883" y="1789"/>
                  </a:moveTo>
                  <a:lnTo>
                    <a:pt x="833" y="1812"/>
                  </a:lnTo>
                  <a:lnTo>
                    <a:pt x="0" y="23"/>
                  </a:lnTo>
                  <a:lnTo>
                    <a:pt x="48" y="0"/>
                  </a:lnTo>
                  <a:lnTo>
                    <a:pt x="883" y="17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7"/>
            <p:cNvSpPr/>
            <p:nvPr/>
          </p:nvSpPr>
          <p:spPr>
            <a:xfrm>
              <a:off x="6669000" y="1893600"/>
              <a:ext cx="309600" cy="648360"/>
            </a:xfrm>
            <a:custGeom>
              <a:avLst/>
              <a:gdLst/>
              <a:ahLst/>
              <a:cxnLst/>
              <a:rect l="l" t="t" r="r" b="b"/>
              <a:pathLst>
                <a:path w="860" h="1801" extrusionOk="0">
                  <a:moveTo>
                    <a:pt x="860" y="1789"/>
                  </a:moveTo>
                  <a:lnTo>
                    <a:pt x="833" y="1801"/>
                  </a:lnTo>
                  <a:lnTo>
                    <a:pt x="0" y="12"/>
                  </a:lnTo>
                  <a:lnTo>
                    <a:pt x="26" y="0"/>
                  </a:lnTo>
                  <a:lnTo>
                    <a:pt x="860" y="17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7"/>
            <p:cNvSpPr/>
            <p:nvPr/>
          </p:nvSpPr>
          <p:spPr>
            <a:xfrm>
              <a:off x="6633000" y="1844280"/>
              <a:ext cx="48600" cy="64800"/>
            </a:xfrm>
            <a:custGeom>
              <a:avLst/>
              <a:gdLst/>
              <a:ahLst/>
              <a:cxnLst/>
              <a:rect l="l" t="t" r="r" b="b"/>
              <a:pathLst>
                <a:path w="135" h="180" extrusionOk="0">
                  <a:moveTo>
                    <a:pt x="6" y="78"/>
                  </a:moveTo>
                  <a:cubicBezTo>
                    <a:pt x="9" y="85"/>
                    <a:pt x="13" y="90"/>
                    <a:pt x="18" y="95"/>
                  </a:cubicBezTo>
                  <a:lnTo>
                    <a:pt x="79" y="180"/>
                  </a:lnTo>
                  <a:lnTo>
                    <a:pt x="135" y="153"/>
                  </a:lnTo>
                  <a:lnTo>
                    <a:pt x="111" y="52"/>
                  </a:lnTo>
                  <a:cubicBezTo>
                    <a:pt x="110" y="45"/>
                    <a:pt x="109" y="38"/>
                    <a:pt x="106" y="32"/>
                  </a:cubicBezTo>
                  <a:cubicBezTo>
                    <a:pt x="93" y="4"/>
                    <a:pt x="60" y="-8"/>
                    <a:pt x="33" y="5"/>
                  </a:cubicBezTo>
                  <a:cubicBezTo>
                    <a:pt x="5" y="18"/>
                    <a:pt x="-7" y="51"/>
                    <a:pt x="6" y="7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7"/>
            <p:cNvSpPr/>
            <p:nvPr/>
          </p:nvSpPr>
          <p:spPr>
            <a:xfrm>
              <a:off x="6637320" y="1848600"/>
              <a:ext cx="31320" cy="30960"/>
            </a:xfrm>
            <a:custGeom>
              <a:avLst/>
              <a:gdLst/>
              <a:ahLst/>
              <a:cxnLst/>
              <a:rect l="l" t="t" r="r" b="b"/>
              <a:pathLst>
                <a:path w="87" h="86" extrusionOk="0">
                  <a:moveTo>
                    <a:pt x="25" y="4"/>
                  </a:moveTo>
                  <a:cubicBezTo>
                    <a:pt x="47" y="-6"/>
                    <a:pt x="73" y="3"/>
                    <a:pt x="83" y="25"/>
                  </a:cubicBezTo>
                  <a:cubicBezTo>
                    <a:pt x="93" y="46"/>
                    <a:pt x="84" y="72"/>
                    <a:pt x="62" y="82"/>
                  </a:cubicBezTo>
                  <a:cubicBezTo>
                    <a:pt x="40" y="92"/>
                    <a:pt x="15" y="83"/>
                    <a:pt x="5" y="61"/>
                  </a:cubicBezTo>
                  <a:cubicBezTo>
                    <a:pt x="-6" y="40"/>
                    <a:pt x="4" y="14"/>
                    <a:pt x="25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7"/>
            <p:cNvSpPr/>
            <p:nvPr/>
          </p:nvSpPr>
          <p:spPr>
            <a:xfrm>
              <a:off x="6951960" y="2523600"/>
              <a:ext cx="49320" cy="64440"/>
            </a:xfrm>
            <a:custGeom>
              <a:avLst/>
              <a:gdLst/>
              <a:ahLst/>
              <a:cxnLst/>
              <a:rect l="l" t="t" r="r" b="b"/>
              <a:pathLst>
                <a:path w="137" h="179" extrusionOk="0">
                  <a:moveTo>
                    <a:pt x="131" y="101"/>
                  </a:moveTo>
                  <a:cubicBezTo>
                    <a:pt x="128" y="95"/>
                    <a:pt x="124" y="89"/>
                    <a:pt x="119" y="84"/>
                  </a:cubicBezTo>
                  <a:lnTo>
                    <a:pt x="58" y="0"/>
                  </a:lnTo>
                  <a:lnTo>
                    <a:pt x="0" y="26"/>
                  </a:lnTo>
                  <a:lnTo>
                    <a:pt x="26" y="128"/>
                  </a:lnTo>
                  <a:cubicBezTo>
                    <a:pt x="26" y="134"/>
                    <a:pt x="28" y="141"/>
                    <a:pt x="31" y="147"/>
                  </a:cubicBezTo>
                  <a:cubicBezTo>
                    <a:pt x="44" y="175"/>
                    <a:pt x="77" y="187"/>
                    <a:pt x="104" y="174"/>
                  </a:cubicBezTo>
                  <a:cubicBezTo>
                    <a:pt x="132" y="161"/>
                    <a:pt x="144" y="128"/>
                    <a:pt x="131" y="1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6965640" y="2552760"/>
              <a:ext cx="30960" cy="30960"/>
            </a:xfrm>
            <a:custGeom>
              <a:avLst/>
              <a:gdLst/>
              <a:ahLst/>
              <a:cxnLst/>
              <a:rect l="l" t="t" r="r" b="b"/>
              <a:pathLst>
                <a:path w="86" h="86" extrusionOk="0">
                  <a:moveTo>
                    <a:pt x="61" y="82"/>
                  </a:moveTo>
                  <a:cubicBezTo>
                    <a:pt x="39" y="92"/>
                    <a:pt x="14" y="83"/>
                    <a:pt x="4" y="61"/>
                  </a:cubicBezTo>
                  <a:cubicBezTo>
                    <a:pt x="-6" y="40"/>
                    <a:pt x="3" y="14"/>
                    <a:pt x="25" y="4"/>
                  </a:cubicBezTo>
                  <a:cubicBezTo>
                    <a:pt x="46" y="-6"/>
                    <a:pt x="72" y="3"/>
                    <a:pt x="82" y="25"/>
                  </a:cubicBezTo>
                  <a:cubicBezTo>
                    <a:pt x="92" y="47"/>
                    <a:pt x="83" y="72"/>
                    <a:pt x="61" y="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7182000" y="1901880"/>
              <a:ext cx="252360" cy="651240"/>
            </a:xfrm>
            <a:custGeom>
              <a:avLst/>
              <a:gdLst/>
              <a:ahLst/>
              <a:cxnLst/>
              <a:rect l="l" t="t" r="r" b="b"/>
              <a:pathLst>
                <a:path w="701" h="1809" extrusionOk="0">
                  <a:moveTo>
                    <a:pt x="0" y="1791"/>
                  </a:moveTo>
                  <a:lnTo>
                    <a:pt x="49" y="1809"/>
                  </a:lnTo>
                  <a:lnTo>
                    <a:pt x="701" y="18"/>
                  </a:lnTo>
                  <a:lnTo>
                    <a:pt x="652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7181280" y="1901520"/>
              <a:ext cx="244080" cy="648360"/>
            </a:xfrm>
            <a:custGeom>
              <a:avLst/>
              <a:gdLst/>
              <a:ahLst/>
              <a:cxnLst/>
              <a:rect l="l" t="t" r="r" b="b"/>
              <a:pathLst>
                <a:path w="678" h="1801" extrusionOk="0">
                  <a:moveTo>
                    <a:pt x="0" y="1791"/>
                  </a:moveTo>
                  <a:lnTo>
                    <a:pt x="27" y="1801"/>
                  </a:lnTo>
                  <a:lnTo>
                    <a:pt x="678" y="10"/>
                  </a:lnTo>
                  <a:lnTo>
                    <a:pt x="651" y="0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7"/>
            <p:cNvSpPr/>
            <p:nvPr/>
          </p:nvSpPr>
          <p:spPr>
            <a:xfrm>
              <a:off x="7413120" y="1852200"/>
              <a:ext cx="43920" cy="63000"/>
            </a:xfrm>
            <a:custGeom>
              <a:avLst/>
              <a:gdLst/>
              <a:ahLst/>
              <a:cxnLst/>
              <a:rect l="l" t="t" r="r" b="b"/>
              <a:pathLst>
                <a:path w="122" h="175" extrusionOk="0">
                  <a:moveTo>
                    <a:pt x="119" y="71"/>
                  </a:moveTo>
                  <a:cubicBezTo>
                    <a:pt x="116" y="77"/>
                    <a:pt x="113" y="83"/>
                    <a:pt x="109" y="88"/>
                  </a:cubicBezTo>
                  <a:lnTo>
                    <a:pt x="57" y="175"/>
                  </a:lnTo>
                  <a:lnTo>
                    <a:pt x="0" y="154"/>
                  </a:lnTo>
                  <a:lnTo>
                    <a:pt x="16" y="54"/>
                  </a:lnTo>
                  <a:cubicBezTo>
                    <a:pt x="16" y="48"/>
                    <a:pt x="17" y="41"/>
                    <a:pt x="19" y="35"/>
                  </a:cubicBezTo>
                  <a:cubicBezTo>
                    <a:pt x="29" y="7"/>
                    <a:pt x="59" y="-7"/>
                    <a:pt x="87" y="3"/>
                  </a:cubicBezTo>
                  <a:cubicBezTo>
                    <a:pt x="115" y="13"/>
                    <a:pt x="129" y="43"/>
                    <a:pt x="119" y="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8000" rIns="90000" bIns="18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7422840" y="1856520"/>
              <a:ext cx="30240" cy="29880"/>
            </a:xfrm>
            <a:custGeom>
              <a:avLst/>
              <a:gdLst/>
              <a:ahLst/>
              <a:cxnLst/>
              <a:rect l="l" t="t" r="r" b="b"/>
              <a:pathLst>
                <a:path w="84" h="83" extrusionOk="0">
                  <a:moveTo>
                    <a:pt x="56" y="2"/>
                  </a:moveTo>
                  <a:cubicBezTo>
                    <a:pt x="34" y="-6"/>
                    <a:pt x="10" y="5"/>
                    <a:pt x="3" y="27"/>
                  </a:cubicBezTo>
                  <a:cubicBezTo>
                    <a:pt x="-5" y="48"/>
                    <a:pt x="6" y="72"/>
                    <a:pt x="28" y="80"/>
                  </a:cubicBezTo>
                  <a:cubicBezTo>
                    <a:pt x="49" y="88"/>
                    <a:pt x="73" y="77"/>
                    <a:pt x="81" y="55"/>
                  </a:cubicBezTo>
                  <a:cubicBezTo>
                    <a:pt x="89" y="33"/>
                    <a:pt x="78" y="9"/>
                    <a:pt x="56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7162200" y="2532240"/>
              <a:ext cx="43920" cy="63000"/>
            </a:xfrm>
            <a:custGeom>
              <a:avLst/>
              <a:gdLst/>
              <a:ahLst/>
              <a:cxnLst/>
              <a:rect l="l" t="t" r="r" b="b"/>
              <a:pathLst>
                <a:path w="122" h="175" extrusionOk="0">
                  <a:moveTo>
                    <a:pt x="3" y="104"/>
                  </a:moveTo>
                  <a:cubicBezTo>
                    <a:pt x="6" y="98"/>
                    <a:pt x="9" y="92"/>
                    <a:pt x="13" y="87"/>
                  </a:cubicBezTo>
                  <a:lnTo>
                    <a:pt x="65" y="0"/>
                  </a:lnTo>
                  <a:lnTo>
                    <a:pt x="122" y="21"/>
                  </a:lnTo>
                  <a:lnTo>
                    <a:pt x="106" y="121"/>
                  </a:lnTo>
                  <a:cubicBezTo>
                    <a:pt x="106" y="127"/>
                    <a:pt x="105" y="134"/>
                    <a:pt x="103" y="140"/>
                  </a:cubicBezTo>
                  <a:cubicBezTo>
                    <a:pt x="93" y="168"/>
                    <a:pt x="62" y="182"/>
                    <a:pt x="35" y="172"/>
                  </a:cubicBezTo>
                  <a:cubicBezTo>
                    <a:pt x="7" y="162"/>
                    <a:pt x="-7" y="132"/>
                    <a:pt x="3" y="1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18000" rIns="90000" bIns="18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7166520" y="2561400"/>
              <a:ext cx="29880" cy="29880"/>
            </a:xfrm>
            <a:custGeom>
              <a:avLst/>
              <a:gdLst/>
              <a:ahLst/>
              <a:cxnLst/>
              <a:rect l="l" t="t" r="r" b="b"/>
              <a:pathLst>
                <a:path w="83" h="83" extrusionOk="0">
                  <a:moveTo>
                    <a:pt x="27" y="80"/>
                  </a:moveTo>
                  <a:cubicBezTo>
                    <a:pt x="48" y="88"/>
                    <a:pt x="72" y="77"/>
                    <a:pt x="80" y="55"/>
                  </a:cubicBezTo>
                  <a:cubicBezTo>
                    <a:pt x="88" y="34"/>
                    <a:pt x="77" y="10"/>
                    <a:pt x="55" y="2"/>
                  </a:cubicBezTo>
                  <a:cubicBezTo>
                    <a:pt x="34" y="-6"/>
                    <a:pt x="10" y="5"/>
                    <a:pt x="2" y="27"/>
                  </a:cubicBezTo>
                  <a:cubicBezTo>
                    <a:pt x="-6" y="49"/>
                    <a:pt x="5" y="72"/>
                    <a:pt x="27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7110720" y="1903320"/>
              <a:ext cx="317880" cy="652320"/>
            </a:xfrm>
            <a:custGeom>
              <a:avLst/>
              <a:gdLst/>
              <a:ahLst/>
              <a:cxnLst/>
              <a:rect l="l" t="t" r="r" b="b"/>
              <a:pathLst>
                <a:path w="883" h="1812" extrusionOk="0">
                  <a:moveTo>
                    <a:pt x="0" y="1789"/>
                  </a:moveTo>
                  <a:lnTo>
                    <a:pt x="49" y="1812"/>
                  </a:lnTo>
                  <a:lnTo>
                    <a:pt x="883" y="23"/>
                  </a:lnTo>
                  <a:lnTo>
                    <a:pt x="834" y="0"/>
                  </a:lnTo>
                  <a:lnTo>
                    <a:pt x="0" y="17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7"/>
            <p:cNvSpPr/>
            <p:nvPr/>
          </p:nvSpPr>
          <p:spPr>
            <a:xfrm>
              <a:off x="7109640" y="1902960"/>
              <a:ext cx="310320" cy="648720"/>
            </a:xfrm>
            <a:custGeom>
              <a:avLst/>
              <a:gdLst/>
              <a:ahLst/>
              <a:cxnLst/>
              <a:rect l="l" t="t" r="r" b="b"/>
              <a:pathLst>
                <a:path w="862" h="1802" extrusionOk="0">
                  <a:moveTo>
                    <a:pt x="0" y="1789"/>
                  </a:moveTo>
                  <a:lnTo>
                    <a:pt x="27" y="1802"/>
                  </a:lnTo>
                  <a:lnTo>
                    <a:pt x="862" y="13"/>
                  </a:lnTo>
                  <a:lnTo>
                    <a:pt x="835" y="0"/>
                  </a:lnTo>
                  <a:lnTo>
                    <a:pt x="0" y="17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7406640" y="1854000"/>
              <a:ext cx="48600" cy="64440"/>
            </a:xfrm>
            <a:custGeom>
              <a:avLst/>
              <a:gdLst/>
              <a:ahLst/>
              <a:cxnLst/>
              <a:rect l="l" t="t" r="r" b="b"/>
              <a:pathLst>
                <a:path w="135" h="179" extrusionOk="0">
                  <a:moveTo>
                    <a:pt x="130" y="77"/>
                  </a:moveTo>
                  <a:cubicBezTo>
                    <a:pt x="127" y="84"/>
                    <a:pt x="123" y="89"/>
                    <a:pt x="119" y="94"/>
                  </a:cubicBezTo>
                  <a:lnTo>
                    <a:pt x="57" y="179"/>
                  </a:lnTo>
                  <a:lnTo>
                    <a:pt x="0" y="152"/>
                  </a:lnTo>
                  <a:lnTo>
                    <a:pt x="26" y="51"/>
                  </a:lnTo>
                  <a:cubicBezTo>
                    <a:pt x="26" y="44"/>
                    <a:pt x="28" y="37"/>
                    <a:pt x="31" y="31"/>
                  </a:cubicBezTo>
                  <a:cubicBezTo>
                    <a:pt x="44" y="3"/>
                    <a:pt x="76" y="-8"/>
                    <a:pt x="104" y="4"/>
                  </a:cubicBezTo>
                  <a:cubicBezTo>
                    <a:pt x="131" y="17"/>
                    <a:pt x="143" y="50"/>
                    <a:pt x="130" y="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7419960" y="1857960"/>
              <a:ext cx="31320" cy="31320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62" y="4"/>
                  </a:moveTo>
                  <a:cubicBezTo>
                    <a:pt x="40" y="-6"/>
                    <a:pt x="14" y="3"/>
                    <a:pt x="4" y="25"/>
                  </a:cubicBezTo>
                  <a:cubicBezTo>
                    <a:pt x="-6" y="47"/>
                    <a:pt x="4" y="72"/>
                    <a:pt x="25" y="82"/>
                  </a:cubicBezTo>
                  <a:cubicBezTo>
                    <a:pt x="47" y="93"/>
                    <a:pt x="73" y="83"/>
                    <a:pt x="83" y="62"/>
                  </a:cubicBezTo>
                  <a:cubicBezTo>
                    <a:pt x="93" y="40"/>
                    <a:pt x="84" y="14"/>
                    <a:pt x="62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7"/>
            <p:cNvSpPr/>
            <p:nvPr/>
          </p:nvSpPr>
          <p:spPr>
            <a:xfrm>
              <a:off x="7087680" y="2532960"/>
              <a:ext cx="48600" cy="64440"/>
            </a:xfrm>
            <a:custGeom>
              <a:avLst/>
              <a:gdLst/>
              <a:ahLst/>
              <a:cxnLst/>
              <a:rect l="l" t="t" r="r" b="b"/>
              <a:pathLst>
                <a:path w="135" h="179" extrusionOk="0">
                  <a:moveTo>
                    <a:pt x="5" y="101"/>
                  </a:moveTo>
                  <a:cubicBezTo>
                    <a:pt x="8" y="95"/>
                    <a:pt x="12" y="89"/>
                    <a:pt x="17" y="85"/>
                  </a:cubicBezTo>
                  <a:lnTo>
                    <a:pt x="78" y="0"/>
                  </a:lnTo>
                  <a:lnTo>
                    <a:pt x="135" y="26"/>
                  </a:lnTo>
                  <a:lnTo>
                    <a:pt x="109" y="128"/>
                  </a:lnTo>
                  <a:cubicBezTo>
                    <a:pt x="109" y="134"/>
                    <a:pt x="107" y="141"/>
                    <a:pt x="104" y="148"/>
                  </a:cubicBezTo>
                  <a:cubicBezTo>
                    <a:pt x="91" y="175"/>
                    <a:pt x="59" y="187"/>
                    <a:pt x="31" y="174"/>
                  </a:cubicBezTo>
                  <a:cubicBezTo>
                    <a:pt x="4" y="161"/>
                    <a:pt x="-8" y="129"/>
                    <a:pt x="5" y="1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47"/>
            <p:cNvSpPr/>
            <p:nvPr/>
          </p:nvSpPr>
          <p:spPr>
            <a:xfrm>
              <a:off x="7091640" y="2562120"/>
              <a:ext cx="31320" cy="31320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25" y="83"/>
                  </a:moveTo>
                  <a:cubicBezTo>
                    <a:pt x="47" y="93"/>
                    <a:pt x="73" y="83"/>
                    <a:pt x="83" y="62"/>
                  </a:cubicBezTo>
                  <a:cubicBezTo>
                    <a:pt x="93" y="40"/>
                    <a:pt x="83" y="14"/>
                    <a:pt x="62" y="4"/>
                  </a:cubicBezTo>
                  <a:cubicBezTo>
                    <a:pt x="40" y="-6"/>
                    <a:pt x="14" y="3"/>
                    <a:pt x="4" y="25"/>
                  </a:cubicBezTo>
                  <a:cubicBezTo>
                    <a:pt x="-6" y="47"/>
                    <a:pt x="4" y="72"/>
                    <a:pt x="25" y="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6752880" y="1721520"/>
              <a:ext cx="466560" cy="487800"/>
            </a:xfrm>
            <a:custGeom>
              <a:avLst/>
              <a:gdLst/>
              <a:ahLst/>
              <a:cxnLst/>
              <a:rect l="l" t="t" r="r" b="b"/>
              <a:pathLst>
                <a:path w="1296" h="1355" extrusionOk="0">
                  <a:moveTo>
                    <a:pt x="158" y="1061"/>
                  </a:moveTo>
                  <a:cubicBezTo>
                    <a:pt x="158" y="1196"/>
                    <a:pt x="269" y="1307"/>
                    <a:pt x="404" y="1307"/>
                  </a:cubicBezTo>
                  <a:cubicBezTo>
                    <a:pt x="539" y="1307"/>
                    <a:pt x="650" y="1196"/>
                    <a:pt x="650" y="1061"/>
                  </a:cubicBezTo>
                  <a:lnTo>
                    <a:pt x="650" y="998"/>
                  </a:lnTo>
                  <a:cubicBezTo>
                    <a:pt x="725" y="1020"/>
                    <a:pt x="807" y="1033"/>
                    <a:pt x="895" y="1033"/>
                  </a:cubicBezTo>
                  <a:lnTo>
                    <a:pt x="895" y="1109"/>
                  </a:lnTo>
                  <a:cubicBezTo>
                    <a:pt x="895" y="1245"/>
                    <a:pt x="1006" y="1355"/>
                    <a:pt x="1141" y="1355"/>
                  </a:cubicBezTo>
                  <a:cubicBezTo>
                    <a:pt x="1143" y="1355"/>
                    <a:pt x="1145" y="1355"/>
                    <a:pt x="1147" y="1355"/>
                  </a:cubicBezTo>
                  <a:cubicBezTo>
                    <a:pt x="1267" y="1355"/>
                    <a:pt x="1296" y="1205"/>
                    <a:pt x="1296" y="1157"/>
                  </a:cubicBezTo>
                  <a:cubicBezTo>
                    <a:pt x="1296" y="1016"/>
                    <a:pt x="1259" y="220"/>
                    <a:pt x="1206" y="223"/>
                  </a:cubicBezTo>
                  <a:cubicBezTo>
                    <a:pt x="1177" y="225"/>
                    <a:pt x="1166" y="468"/>
                    <a:pt x="1097" y="627"/>
                  </a:cubicBezTo>
                  <a:cubicBezTo>
                    <a:pt x="1043" y="752"/>
                    <a:pt x="943" y="823"/>
                    <a:pt x="943" y="823"/>
                  </a:cubicBezTo>
                  <a:cubicBezTo>
                    <a:pt x="943" y="823"/>
                    <a:pt x="700" y="865"/>
                    <a:pt x="442" y="702"/>
                  </a:cubicBezTo>
                  <a:cubicBezTo>
                    <a:pt x="111" y="494"/>
                    <a:pt x="0" y="0"/>
                    <a:pt x="0" y="0"/>
                  </a:cubicBezTo>
                  <a:cubicBezTo>
                    <a:pt x="0" y="206"/>
                    <a:pt x="53" y="421"/>
                    <a:pt x="158" y="600"/>
                  </a:cubicBezTo>
                  <a:lnTo>
                    <a:pt x="158" y="10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6881760" y="2082240"/>
              <a:ext cx="44280" cy="55800"/>
            </a:xfrm>
            <a:custGeom>
              <a:avLst/>
              <a:gdLst/>
              <a:ahLst/>
              <a:cxnLst/>
              <a:rect l="l" t="t" r="r" b="b"/>
              <a:pathLst>
                <a:path w="123" h="155" extrusionOk="0">
                  <a:moveTo>
                    <a:pt x="123" y="77"/>
                  </a:moveTo>
                  <a:cubicBezTo>
                    <a:pt x="123" y="120"/>
                    <a:pt x="95" y="155"/>
                    <a:pt x="62" y="155"/>
                  </a:cubicBezTo>
                  <a:cubicBezTo>
                    <a:pt x="28" y="155"/>
                    <a:pt x="0" y="120"/>
                    <a:pt x="0" y="77"/>
                  </a:cubicBezTo>
                  <a:cubicBezTo>
                    <a:pt x="0" y="35"/>
                    <a:pt x="28" y="0"/>
                    <a:pt x="62" y="0"/>
                  </a:cubicBezTo>
                  <a:cubicBezTo>
                    <a:pt x="95" y="0"/>
                    <a:pt x="123" y="35"/>
                    <a:pt x="123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0800" rIns="90000" bIns="10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7125480" y="2095920"/>
              <a:ext cx="33840" cy="55800"/>
            </a:xfrm>
            <a:custGeom>
              <a:avLst/>
              <a:gdLst/>
              <a:ahLst/>
              <a:cxnLst/>
              <a:rect l="l" t="t" r="r" b="b"/>
              <a:pathLst>
                <a:path w="94" h="155" extrusionOk="0">
                  <a:moveTo>
                    <a:pt x="94" y="78"/>
                  </a:moveTo>
                  <a:cubicBezTo>
                    <a:pt x="94" y="121"/>
                    <a:pt x="73" y="155"/>
                    <a:pt x="47" y="155"/>
                  </a:cubicBezTo>
                  <a:cubicBezTo>
                    <a:pt x="21" y="155"/>
                    <a:pt x="0" y="121"/>
                    <a:pt x="0" y="78"/>
                  </a:cubicBezTo>
                  <a:cubicBezTo>
                    <a:pt x="0" y="35"/>
                    <a:pt x="21" y="0"/>
                    <a:pt x="47" y="0"/>
                  </a:cubicBezTo>
                  <a:cubicBezTo>
                    <a:pt x="73" y="0"/>
                    <a:pt x="94" y="35"/>
                    <a:pt x="94" y="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0800" rIns="90000" bIns="10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47"/>
          <p:cNvGrpSpPr/>
          <p:nvPr/>
        </p:nvGrpSpPr>
        <p:grpSpPr>
          <a:xfrm>
            <a:off x="2253731" y="2628532"/>
            <a:ext cx="901706" cy="1669468"/>
            <a:chOff x="4170600" y="338040"/>
            <a:chExt cx="549720" cy="1017720"/>
          </a:xfrm>
        </p:grpSpPr>
        <p:sp>
          <p:nvSpPr>
            <p:cNvPr id="861" name="Google Shape;861;p47"/>
            <p:cNvSpPr/>
            <p:nvPr/>
          </p:nvSpPr>
          <p:spPr>
            <a:xfrm>
              <a:off x="4631760" y="358560"/>
              <a:ext cx="88560" cy="87840"/>
            </a:xfrm>
            <a:custGeom>
              <a:avLst/>
              <a:gdLst/>
              <a:ahLst/>
              <a:cxnLst/>
              <a:rect l="l" t="t" r="r" b="b"/>
              <a:pathLst>
                <a:path w="246" h="244" extrusionOk="0">
                  <a:moveTo>
                    <a:pt x="0" y="122"/>
                  </a:moveTo>
                  <a:cubicBezTo>
                    <a:pt x="0" y="190"/>
                    <a:pt x="55" y="244"/>
                    <a:pt x="123" y="244"/>
                  </a:cubicBezTo>
                  <a:cubicBezTo>
                    <a:pt x="191" y="244"/>
                    <a:pt x="246" y="190"/>
                    <a:pt x="246" y="122"/>
                  </a:cubicBezTo>
                  <a:cubicBezTo>
                    <a:pt x="246" y="55"/>
                    <a:pt x="191" y="0"/>
                    <a:pt x="123" y="0"/>
                  </a:cubicBezTo>
                  <a:cubicBezTo>
                    <a:pt x="55" y="0"/>
                    <a:pt x="0" y="55"/>
                    <a:pt x="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4432320" y="338040"/>
              <a:ext cx="176400" cy="176400"/>
            </a:xfrm>
            <a:custGeom>
              <a:avLst/>
              <a:gdLst/>
              <a:ahLst/>
              <a:cxnLst/>
              <a:rect l="l" t="t" r="r" b="b"/>
              <a:pathLst>
                <a:path w="490" h="490" extrusionOk="0">
                  <a:moveTo>
                    <a:pt x="94" y="93"/>
                  </a:moveTo>
                  <a:cubicBezTo>
                    <a:pt x="-13" y="200"/>
                    <a:pt x="-31" y="354"/>
                    <a:pt x="53" y="438"/>
                  </a:cubicBezTo>
                  <a:cubicBezTo>
                    <a:pt x="137" y="521"/>
                    <a:pt x="291" y="503"/>
                    <a:pt x="397" y="397"/>
                  </a:cubicBezTo>
                  <a:cubicBezTo>
                    <a:pt x="503" y="290"/>
                    <a:pt x="522" y="136"/>
                    <a:pt x="438" y="53"/>
                  </a:cubicBezTo>
                  <a:cubicBezTo>
                    <a:pt x="354" y="-31"/>
                    <a:pt x="200" y="-13"/>
                    <a:pt x="94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4289040" y="420480"/>
              <a:ext cx="237240" cy="2376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224" y="660"/>
                  </a:moveTo>
                  <a:lnTo>
                    <a:pt x="354" y="489"/>
                  </a:lnTo>
                  <a:cubicBezTo>
                    <a:pt x="393" y="438"/>
                    <a:pt x="437" y="394"/>
                    <a:pt x="488" y="355"/>
                  </a:cubicBezTo>
                  <a:lnTo>
                    <a:pt x="659" y="225"/>
                  </a:lnTo>
                  <a:lnTo>
                    <a:pt x="547" y="113"/>
                  </a:lnTo>
                  <a:lnTo>
                    <a:pt x="434" y="0"/>
                  </a:lnTo>
                  <a:lnTo>
                    <a:pt x="303" y="173"/>
                  </a:lnTo>
                  <a:cubicBezTo>
                    <a:pt x="266" y="222"/>
                    <a:pt x="221" y="267"/>
                    <a:pt x="172" y="304"/>
                  </a:cubicBezTo>
                  <a:lnTo>
                    <a:pt x="0" y="435"/>
                  </a:lnTo>
                  <a:lnTo>
                    <a:pt x="112" y="548"/>
                  </a:lnTo>
                  <a:lnTo>
                    <a:pt x="224" y="6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4582800" y="358560"/>
              <a:ext cx="93240" cy="87840"/>
            </a:xfrm>
            <a:custGeom>
              <a:avLst/>
              <a:gdLst/>
              <a:ahLst/>
              <a:cxnLst/>
              <a:rect l="l" t="t" r="r" b="b"/>
              <a:pathLst>
                <a:path w="259" h="244" extrusionOk="0">
                  <a:moveTo>
                    <a:pt x="0" y="244"/>
                  </a:moveTo>
                  <a:lnTo>
                    <a:pt x="259" y="244"/>
                  </a:lnTo>
                  <a:lnTo>
                    <a:pt x="259" y="0"/>
                  </a:lnTo>
                  <a:lnTo>
                    <a:pt x="0" y="0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4324320" y="384480"/>
              <a:ext cx="351720" cy="252720"/>
            </a:xfrm>
            <a:custGeom>
              <a:avLst/>
              <a:gdLst/>
              <a:ahLst/>
              <a:cxnLst/>
              <a:rect l="l" t="t" r="r" b="b"/>
              <a:pathLst>
                <a:path w="977" h="702" extrusionOk="0">
                  <a:moveTo>
                    <a:pt x="754" y="0"/>
                  </a:moveTo>
                  <a:cubicBezTo>
                    <a:pt x="754" y="0"/>
                    <a:pt x="741" y="137"/>
                    <a:pt x="682" y="189"/>
                  </a:cubicBezTo>
                  <a:cubicBezTo>
                    <a:pt x="618" y="245"/>
                    <a:pt x="541" y="270"/>
                    <a:pt x="458" y="270"/>
                  </a:cubicBezTo>
                  <a:cubicBezTo>
                    <a:pt x="416" y="270"/>
                    <a:pt x="344" y="233"/>
                    <a:pt x="344" y="233"/>
                  </a:cubicBezTo>
                  <a:lnTo>
                    <a:pt x="424" y="306"/>
                  </a:lnTo>
                  <a:cubicBezTo>
                    <a:pt x="443" y="324"/>
                    <a:pt x="442" y="353"/>
                    <a:pt x="423" y="371"/>
                  </a:cubicBezTo>
                  <a:lnTo>
                    <a:pt x="194" y="577"/>
                  </a:lnTo>
                  <a:cubicBezTo>
                    <a:pt x="194" y="577"/>
                    <a:pt x="98" y="456"/>
                    <a:pt x="9" y="473"/>
                  </a:cubicBezTo>
                  <a:cubicBezTo>
                    <a:pt x="-49" y="484"/>
                    <a:pt x="193" y="702"/>
                    <a:pt x="193" y="702"/>
                  </a:cubicBezTo>
                  <a:cubicBezTo>
                    <a:pt x="193" y="692"/>
                    <a:pt x="193" y="683"/>
                    <a:pt x="192" y="674"/>
                  </a:cubicBezTo>
                  <a:lnTo>
                    <a:pt x="256" y="589"/>
                  </a:lnTo>
                  <a:cubicBezTo>
                    <a:pt x="295" y="538"/>
                    <a:pt x="340" y="494"/>
                    <a:pt x="390" y="455"/>
                  </a:cubicBezTo>
                  <a:lnTo>
                    <a:pt x="516" y="360"/>
                  </a:lnTo>
                  <a:cubicBezTo>
                    <a:pt x="578" y="352"/>
                    <a:pt x="644" y="321"/>
                    <a:pt x="697" y="268"/>
                  </a:cubicBezTo>
                  <a:cubicBezTo>
                    <a:pt x="726" y="239"/>
                    <a:pt x="748" y="206"/>
                    <a:pt x="764" y="172"/>
                  </a:cubicBezTo>
                  <a:lnTo>
                    <a:pt x="977" y="172"/>
                  </a:lnTo>
                  <a:lnTo>
                    <a:pt x="977" y="116"/>
                  </a:lnTo>
                  <a:lnTo>
                    <a:pt x="787" y="116"/>
                  </a:lnTo>
                  <a:cubicBezTo>
                    <a:pt x="774" y="116"/>
                    <a:pt x="763" y="106"/>
                    <a:pt x="762" y="93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4170600" y="552600"/>
              <a:ext cx="223200" cy="223560"/>
            </a:xfrm>
            <a:custGeom>
              <a:avLst/>
              <a:gdLst/>
              <a:ahLst/>
              <a:cxnLst/>
              <a:rect l="l" t="t" r="r" b="b"/>
              <a:pathLst>
                <a:path w="620" h="621" extrusionOk="0">
                  <a:moveTo>
                    <a:pt x="118" y="119"/>
                  </a:moveTo>
                  <a:cubicBezTo>
                    <a:pt x="-17" y="254"/>
                    <a:pt x="-40" y="449"/>
                    <a:pt x="66" y="555"/>
                  </a:cubicBezTo>
                  <a:cubicBezTo>
                    <a:pt x="173" y="661"/>
                    <a:pt x="368" y="638"/>
                    <a:pt x="502" y="503"/>
                  </a:cubicBezTo>
                  <a:cubicBezTo>
                    <a:pt x="637" y="369"/>
                    <a:pt x="660" y="174"/>
                    <a:pt x="554" y="67"/>
                  </a:cubicBezTo>
                  <a:cubicBezTo>
                    <a:pt x="448" y="-39"/>
                    <a:pt x="253" y="-16"/>
                    <a:pt x="11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4400280" y="788760"/>
              <a:ext cx="195480" cy="225720"/>
            </a:xfrm>
            <a:custGeom>
              <a:avLst/>
              <a:gdLst/>
              <a:ahLst/>
              <a:cxnLst/>
              <a:rect l="l" t="t" r="r" b="b"/>
              <a:pathLst>
                <a:path w="543" h="627" extrusionOk="0">
                  <a:moveTo>
                    <a:pt x="0" y="314"/>
                  </a:moveTo>
                  <a:cubicBezTo>
                    <a:pt x="0" y="487"/>
                    <a:pt x="121" y="627"/>
                    <a:pt x="271" y="627"/>
                  </a:cubicBezTo>
                  <a:cubicBezTo>
                    <a:pt x="421" y="627"/>
                    <a:pt x="543" y="487"/>
                    <a:pt x="543" y="314"/>
                  </a:cubicBezTo>
                  <a:cubicBezTo>
                    <a:pt x="543" y="141"/>
                    <a:pt x="421" y="0"/>
                    <a:pt x="271" y="0"/>
                  </a:cubicBezTo>
                  <a:cubicBezTo>
                    <a:pt x="121" y="0"/>
                    <a:pt x="0" y="141"/>
                    <a:pt x="0" y="3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4412520" y="956880"/>
              <a:ext cx="170640" cy="140400"/>
            </a:xfrm>
            <a:custGeom>
              <a:avLst/>
              <a:gdLst/>
              <a:ahLst/>
              <a:cxnLst/>
              <a:rect l="l" t="t" r="r" b="b"/>
              <a:pathLst>
                <a:path w="474" h="390" extrusionOk="0">
                  <a:moveTo>
                    <a:pt x="0" y="390"/>
                  </a:moveTo>
                  <a:lnTo>
                    <a:pt x="474" y="390"/>
                  </a:lnTo>
                  <a:lnTo>
                    <a:pt x="474" y="0"/>
                  </a:lnTo>
                  <a:lnTo>
                    <a:pt x="0" y="0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4267080" y="655560"/>
              <a:ext cx="266400" cy="266400"/>
            </a:xfrm>
            <a:custGeom>
              <a:avLst/>
              <a:gdLst/>
              <a:ahLst/>
              <a:cxnLst/>
              <a:rect l="l" t="t" r="r" b="b"/>
              <a:pathLst>
                <a:path w="740" h="740" extrusionOk="0">
                  <a:moveTo>
                    <a:pt x="434" y="740"/>
                  </a:moveTo>
                  <a:lnTo>
                    <a:pt x="587" y="588"/>
                  </a:lnTo>
                  <a:lnTo>
                    <a:pt x="740" y="435"/>
                  </a:lnTo>
                  <a:lnTo>
                    <a:pt x="568" y="337"/>
                  </a:lnTo>
                  <a:cubicBezTo>
                    <a:pt x="500" y="297"/>
                    <a:pt x="442" y="240"/>
                    <a:pt x="403" y="171"/>
                  </a:cubicBezTo>
                  <a:lnTo>
                    <a:pt x="305" y="0"/>
                  </a:lnTo>
                  <a:lnTo>
                    <a:pt x="152" y="153"/>
                  </a:lnTo>
                  <a:lnTo>
                    <a:pt x="0" y="306"/>
                  </a:lnTo>
                  <a:lnTo>
                    <a:pt x="171" y="404"/>
                  </a:lnTo>
                  <a:cubicBezTo>
                    <a:pt x="240" y="443"/>
                    <a:pt x="297" y="500"/>
                    <a:pt x="336" y="569"/>
                  </a:cubicBezTo>
                  <a:lnTo>
                    <a:pt x="434" y="7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4170600" y="620640"/>
              <a:ext cx="412560" cy="476640"/>
            </a:xfrm>
            <a:custGeom>
              <a:avLst/>
              <a:gdLst/>
              <a:ahLst/>
              <a:cxnLst/>
              <a:rect l="l" t="t" r="r" b="b"/>
              <a:pathLst>
                <a:path w="1146" h="1324" extrusionOk="0">
                  <a:moveTo>
                    <a:pt x="909" y="1107"/>
                  </a:moveTo>
                  <a:cubicBezTo>
                    <a:pt x="1092" y="1085"/>
                    <a:pt x="1127" y="960"/>
                    <a:pt x="1127" y="960"/>
                  </a:cubicBezTo>
                  <a:cubicBezTo>
                    <a:pt x="1127" y="960"/>
                    <a:pt x="1026" y="1110"/>
                    <a:pt x="852" y="1041"/>
                  </a:cubicBezTo>
                  <a:cubicBezTo>
                    <a:pt x="767" y="1007"/>
                    <a:pt x="718" y="918"/>
                    <a:pt x="702" y="837"/>
                  </a:cubicBezTo>
                  <a:cubicBezTo>
                    <a:pt x="692" y="787"/>
                    <a:pt x="709" y="696"/>
                    <a:pt x="750" y="633"/>
                  </a:cubicBezTo>
                  <a:cubicBezTo>
                    <a:pt x="778" y="592"/>
                    <a:pt x="839" y="529"/>
                    <a:pt x="839" y="529"/>
                  </a:cubicBezTo>
                  <a:cubicBezTo>
                    <a:pt x="839" y="529"/>
                    <a:pt x="669" y="620"/>
                    <a:pt x="658" y="603"/>
                  </a:cubicBezTo>
                  <a:cubicBezTo>
                    <a:pt x="648" y="586"/>
                    <a:pt x="438" y="435"/>
                    <a:pt x="431" y="406"/>
                  </a:cubicBezTo>
                  <a:cubicBezTo>
                    <a:pt x="424" y="377"/>
                    <a:pt x="512" y="318"/>
                    <a:pt x="554" y="265"/>
                  </a:cubicBezTo>
                  <a:cubicBezTo>
                    <a:pt x="603" y="204"/>
                    <a:pt x="604" y="151"/>
                    <a:pt x="604" y="151"/>
                  </a:cubicBezTo>
                  <a:cubicBezTo>
                    <a:pt x="604" y="151"/>
                    <a:pt x="534" y="288"/>
                    <a:pt x="377" y="342"/>
                  </a:cubicBezTo>
                  <a:cubicBezTo>
                    <a:pt x="256" y="383"/>
                    <a:pt x="111" y="339"/>
                    <a:pt x="57" y="240"/>
                  </a:cubicBezTo>
                  <a:cubicBezTo>
                    <a:pt x="2" y="140"/>
                    <a:pt x="61" y="5"/>
                    <a:pt x="62" y="0"/>
                  </a:cubicBezTo>
                  <a:cubicBezTo>
                    <a:pt x="61" y="1"/>
                    <a:pt x="61" y="1"/>
                    <a:pt x="60" y="2"/>
                  </a:cubicBezTo>
                  <a:lnTo>
                    <a:pt x="38" y="41"/>
                  </a:lnTo>
                  <a:cubicBezTo>
                    <a:pt x="-20" y="157"/>
                    <a:pt x="-13" y="287"/>
                    <a:pt x="66" y="366"/>
                  </a:cubicBezTo>
                  <a:cubicBezTo>
                    <a:pt x="127" y="426"/>
                    <a:pt x="216" y="445"/>
                    <a:pt x="306" y="425"/>
                  </a:cubicBezTo>
                  <a:lnTo>
                    <a:pt x="439" y="501"/>
                  </a:lnTo>
                  <a:cubicBezTo>
                    <a:pt x="508" y="540"/>
                    <a:pt x="565" y="597"/>
                    <a:pt x="604" y="666"/>
                  </a:cubicBezTo>
                  <a:lnTo>
                    <a:pt x="641" y="731"/>
                  </a:lnTo>
                  <a:cubicBezTo>
                    <a:pt x="639" y="747"/>
                    <a:pt x="638" y="764"/>
                    <a:pt x="638" y="781"/>
                  </a:cubicBezTo>
                  <a:cubicBezTo>
                    <a:pt x="638" y="836"/>
                    <a:pt x="650" y="889"/>
                    <a:pt x="672" y="934"/>
                  </a:cubicBezTo>
                  <a:lnTo>
                    <a:pt x="672" y="1324"/>
                  </a:lnTo>
                  <a:lnTo>
                    <a:pt x="1146" y="1324"/>
                  </a:lnTo>
                  <a:lnTo>
                    <a:pt x="858" y="1285"/>
                  </a:lnTo>
                  <a:cubicBezTo>
                    <a:pt x="804" y="1278"/>
                    <a:pt x="764" y="1232"/>
                    <a:pt x="764" y="1178"/>
                  </a:cubicBezTo>
                  <a:lnTo>
                    <a:pt x="764" y="1072"/>
                  </a:lnTo>
                  <a:cubicBezTo>
                    <a:pt x="764" y="1072"/>
                    <a:pt x="846" y="1115"/>
                    <a:pt x="909" y="1107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4367520" y="1097280"/>
              <a:ext cx="266040" cy="258480"/>
            </a:xfrm>
            <a:custGeom>
              <a:avLst/>
              <a:gdLst/>
              <a:ahLst/>
              <a:cxnLst/>
              <a:rect l="l" t="t" r="r" b="b"/>
              <a:pathLst>
                <a:path w="739" h="718" extrusionOk="0">
                  <a:moveTo>
                    <a:pt x="0" y="718"/>
                  </a:moveTo>
                  <a:lnTo>
                    <a:pt x="739" y="718"/>
                  </a:lnTo>
                  <a:lnTo>
                    <a:pt x="739" y="0"/>
                  </a:lnTo>
                  <a:lnTo>
                    <a:pt x="0" y="0"/>
                  </a:lnTo>
                  <a:lnTo>
                    <a:pt x="0" y="7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4348080" y="109728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4348080" y="1327320"/>
              <a:ext cx="304560" cy="28440"/>
            </a:xfrm>
            <a:custGeom>
              <a:avLst/>
              <a:gdLst/>
              <a:ahLst/>
              <a:cxnLst/>
              <a:rect l="l" t="t" r="r" b="b"/>
              <a:pathLst>
                <a:path w="846" h="79" extrusionOk="0">
                  <a:moveTo>
                    <a:pt x="846" y="79"/>
                  </a:moveTo>
                  <a:lnTo>
                    <a:pt x="0" y="79"/>
                  </a:lnTo>
                  <a:lnTo>
                    <a:pt x="0" y="0"/>
                  </a:lnTo>
                  <a:lnTo>
                    <a:pt x="846" y="0"/>
                  </a:lnTo>
                  <a:lnTo>
                    <a:pt x="846" y="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4367520" y="1125720"/>
              <a:ext cx="266040" cy="201600"/>
            </a:xfrm>
            <a:custGeom>
              <a:avLst/>
              <a:gdLst/>
              <a:ahLst/>
              <a:cxnLst/>
              <a:rect l="l" t="t" r="r" b="b"/>
              <a:pathLst>
                <a:path w="739" h="560" extrusionOk="0">
                  <a:moveTo>
                    <a:pt x="739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739" y="560"/>
                  </a:lnTo>
                  <a:lnTo>
                    <a:pt x="213" y="489"/>
                  </a:lnTo>
                  <a:cubicBezTo>
                    <a:pt x="155" y="481"/>
                    <a:pt x="111" y="431"/>
                    <a:pt x="111" y="372"/>
                  </a:cubicBezTo>
                  <a:lnTo>
                    <a:pt x="111" y="191"/>
                  </a:lnTo>
                  <a:cubicBezTo>
                    <a:pt x="111" y="133"/>
                    <a:pt x="154" y="83"/>
                    <a:pt x="212" y="75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8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you like the resources used in this template? Get them on these websites: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Vectors:</a:t>
            </a:r>
            <a:endParaRPr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hlinkClick r:id="rId3"/>
              </a:rPr>
              <a:t>Automation icons 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Photos: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hlinkClick r:id="rId4"/>
              </a:rPr>
              <a:t>Close-up of a male carpenter working with wood</a:t>
            </a:r>
            <a:endParaRPr/>
          </a:p>
        </p:txBody>
      </p:sp>
      <p:sp>
        <p:nvSpPr>
          <p:cNvPr id="880" name="Google Shape;88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9"/>
          <p:cNvSpPr txBox="1">
            <a:spLocks noGrp="1"/>
          </p:cNvSpPr>
          <p:nvPr>
            <p:ph type="ctrTitle"/>
          </p:nvPr>
        </p:nvSpPr>
        <p:spPr>
          <a:xfrm>
            <a:off x="2470050" y="793601"/>
            <a:ext cx="42039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886" name="Google Shape;886;p49"/>
          <p:cNvSpPr txBox="1">
            <a:spLocks noGrp="1"/>
          </p:cNvSpPr>
          <p:nvPr>
            <p:ph type="subTitle" idx="1"/>
          </p:nvPr>
        </p:nvSpPr>
        <p:spPr>
          <a:xfrm>
            <a:off x="2470050" y="1771598"/>
            <a:ext cx="4203900" cy="10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Any questions?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887" name="Google Shape;887;p49"/>
          <p:cNvSpPr txBox="1">
            <a:spLocks noGrp="1"/>
          </p:cNvSpPr>
          <p:nvPr>
            <p:ph type="subTitle" idx="4294967295"/>
          </p:nvPr>
        </p:nvSpPr>
        <p:spPr>
          <a:xfrm>
            <a:off x="3260950" y="3964688"/>
            <a:ext cx="2622300" cy="3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Please keep this slide for attribution</a:t>
            </a:r>
            <a:endParaRPr sz="1000"/>
          </a:p>
        </p:txBody>
      </p:sp>
      <p:sp>
        <p:nvSpPr>
          <p:cNvPr id="888" name="Google Shape;888;p49"/>
          <p:cNvSpPr/>
          <p:nvPr/>
        </p:nvSpPr>
        <p:spPr>
          <a:xfrm>
            <a:off x="3949745" y="2958624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9" name="Google Shape;889;p49"/>
          <p:cNvGrpSpPr/>
          <p:nvPr/>
        </p:nvGrpSpPr>
        <p:grpSpPr>
          <a:xfrm>
            <a:off x="4399217" y="2958815"/>
            <a:ext cx="346056" cy="345674"/>
            <a:chOff x="3303268" y="3817349"/>
            <a:chExt cx="346056" cy="345674"/>
          </a:xfrm>
        </p:grpSpPr>
        <p:sp>
          <p:nvSpPr>
            <p:cNvPr id="890" name="Google Shape;890;p49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9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9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9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4" name="Google Shape;894;p49"/>
          <p:cNvGrpSpPr/>
          <p:nvPr/>
        </p:nvGrpSpPr>
        <p:grpSpPr>
          <a:xfrm>
            <a:off x="4848306" y="2958815"/>
            <a:ext cx="346056" cy="345674"/>
            <a:chOff x="3752358" y="3817349"/>
            <a:chExt cx="346056" cy="345674"/>
          </a:xfrm>
        </p:grpSpPr>
        <p:sp>
          <p:nvSpPr>
            <p:cNvPr id="895" name="Google Shape;895;p49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9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9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9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49"/>
          <p:cNvGrpSpPr/>
          <p:nvPr/>
        </p:nvGrpSpPr>
        <p:grpSpPr>
          <a:xfrm>
            <a:off x="872428" y="1771605"/>
            <a:ext cx="1800602" cy="2935593"/>
            <a:chOff x="6814080" y="309240"/>
            <a:chExt cx="641880" cy="1046520"/>
          </a:xfrm>
        </p:grpSpPr>
        <p:sp>
          <p:nvSpPr>
            <p:cNvPr id="900" name="Google Shape;900;p49"/>
            <p:cNvSpPr/>
            <p:nvPr/>
          </p:nvSpPr>
          <p:spPr>
            <a:xfrm>
              <a:off x="6996600" y="1144440"/>
              <a:ext cx="181080" cy="39240"/>
            </a:xfrm>
            <a:custGeom>
              <a:avLst/>
              <a:gdLst/>
              <a:ahLst/>
              <a:cxnLst/>
              <a:rect l="l" t="t" r="r" b="b"/>
              <a:pathLst>
                <a:path w="503" h="109" extrusionOk="0">
                  <a:moveTo>
                    <a:pt x="0" y="109"/>
                  </a:moveTo>
                  <a:lnTo>
                    <a:pt x="503" y="109"/>
                  </a:lnTo>
                  <a:lnTo>
                    <a:pt x="503" y="0"/>
                  </a:lnTo>
                  <a:lnTo>
                    <a:pt x="0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9"/>
            <p:cNvSpPr/>
            <p:nvPr/>
          </p:nvSpPr>
          <p:spPr>
            <a:xfrm>
              <a:off x="6890040" y="332640"/>
              <a:ext cx="499320" cy="640080"/>
            </a:xfrm>
            <a:custGeom>
              <a:avLst/>
              <a:gdLst/>
              <a:ahLst/>
              <a:cxnLst/>
              <a:rect l="l" t="t" r="r" b="b"/>
              <a:pathLst>
                <a:path w="1387" h="1778" extrusionOk="0">
                  <a:moveTo>
                    <a:pt x="750" y="1778"/>
                  </a:moveTo>
                  <a:cubicBezTo>
                    <a:pt x="730" y="1774"/>
                    <a:pt x="268" y="1688"/>
                    <a:pt x="98" y="1439"/>
                  </a:cubicBezTo>
                  <a:cubicBezTo>
                    <a:pt x="-73" y="1190"/>
                    <a:pt x="30" y="809"/>
                    <a:pt x="34" y="793"/>
                  </a:cubicBezTo>
                  <a:lnTo>
                    <a:pt x="36" y="784"/>
                  </a:lnTo>
                  <a:lnTo>
                    <a:pt x="46" y="783"/>
                  </a:lnTo>
                  <a:cubicBezTo>
                    <a:pt x="50" y="783"/>
                    <a:pt x="478" y="742"/>
                    <a:pt x="646" y="610"/>
                  </a:cubicBezTo>
                  <a:cubicBezTo>
                    <a:pt x="739" y="537"/>
                    <a:pt x="801" y="385"/>
                    <a:pt x="857" y="251"/>
                  </a:cubicBezTo>
                  <a:cubicBezTo>
                    <a:pt x="909" y="125"/>
                    <a:pt x="950" y="25"/>
                    <a:pt x="1008" y="9"/>
                  </a:cubicBezTo>
                  <a:cubicBezTo>
                    <a:pt x="1131" y="-24"/>
                    <a:pt x="1251" y="34"/>
                    <a:pt x="1328" y="165"/>
                  </a:cubicBezTo>
                  <a:cubicBezTo>
                    <a:pt x="1408" y="301"/>
                    <a:pt x="1383" y="470"/>
                    <a:pt x="1382" y="477"/>
                  </a:cubicBezTo>
                  <a:lnTo>
                    <a:pt x="1356" y="473"/>
                  </a:lnTo>
                  <a:cubicBezTo>
                    <a:pt x="1356" y="471"/>
                    <a:pt x="1380" y="306"/>
                    <a:pt x="1305" y="178"/>
                  </a:cubicBezTo>
                  <a:cubicBezTo>
                    <a:pt x="1234" y="58"/>
                    <a:pt x="1126" y="5"/>
                    <a:pt x="1015" y="35"/>
                  </a:cubicBezTo>
                  <a:cubicBezTo>
                    <a:pt x="970" y="47"/>
                    <a:pt x="927" y="151"/>
                    <a:pt x="881" y="261"/>
                  </a:cubicBezTo>
                  <a:cubicBezTo>
                    <a:pt x="824" y="398"/>
                    <a:pt x="760" y="553"/>
                    <a:pt x="662" y="631"/>
                  </a:cubicBezTo>
                  <a:cubicBezTo>
                    <a:pt x="500" y="758"/>
                    <a:pt x="123" y="802"/>
                    <a:pt x="57" y="809"/>
                  </a:cubicBezTo>
                  <a:cubicBezTo>
                    <a:pt x="43" y="867"/>
                    <a:pt x="-30" y="1205"/>
                    <a:pt x="119" y="1424"/>
                  </a:cubicBezTo>
                  <a:cubicBezTo>
                    <a:pt x="283" y="1664"/>
                    <a:pt x="750" y="1751"/>
                    <a:pt x="755" y="1752"/>
                  </a:cubicBezTo>
                  <a:lnTo>
                    <a:pt x="750" y="17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9"/>
            <p:cNvSpPr/>
            <p:nvPr/>
          </p:nvSpPr>
          <p:spPr>
            <a:xfrm>
              <a:off x="6834600" y="569880"/>
              <a:ext cx="435240" cy="480960"/>
            </a:xfrm>
            <a:custGeom>
              <a:avLst/>
              <a:gdLst/>
              <a:ahLst/>
              <a:cxnLst/>
              <a:rect l="l" t="t" r="r" b="b"/>
              <a:pathLst>
                <a:path w="1209" h="1336" extrusionOk="0">
                  <a:moveTo>
                    <a:pt x="1112" y="1318"/>
                  </a:moveTo>
                  <a:cubicBezTo>
                    <a:pt x="1073" y="1335"/>
                    <a:pt x="1013" y="1349"/>
                    <a:pt x="953" y="1317"/>
                  </a:cubicBezTo>
                  <a:cubicBezTo>
                    <a:pt x="851" y="1264"/>
                    <a:pt x="731" y="1029"/>
                    <a:pt x="695" y="973"/>
                  </a:cubicBezTo>
                  <a:cubicBezTo>
                    <a:pt x="658" y="917"/>
                    <a:pt x="264" y="471"/>
                    <a:pt x="229" y="427"/>
                  </a:cubicBezTo>
                  <a:cubicBezTo>
                    <a:pt x="195" y="382"/>
                    <a:pt x="40" y="307"/>
                    <a:pt x="6" y="175"/>
                  </a:cubicBezTo>
                  <a:cubicBezTo>
                    <a:pt x="-13" y="97"/>
                    <a:pt x="18" y="54"/>
                    <a:pt x="36" y="36"/>
                  </a:cubicBezTo>
                  <a:lnTo>
                    <a:pt x="36" y="35"/>
                  </a:lnTo>
                  <a:cubicBezTo>
                    <a:pt x="36" y="35"/>
                    <a:pt x="88" y="-26"/>
                    <a:pt x="188" y="13"/>
                  </a:cubicBezTo>
                  <a:cubicBezTo>
                    <a:pt x="315" y="64"/>
                    <a:pt x="369" y="227"/>
                    <a:pt x="409" y="267"/>
                  </a:cubicBezTo>
                  <a:cubicBezTo>
                    <a:pt x="449" y="307"/>
                    <a:pt x="840" y="756"/>
                    <a:pt x="891" y="799"/>
                  </a:cubicBezTo>
                  <a:cubicBezTo>
                    <a:pt x="941" y="843"/>
                    <a:pt x="1159" y="991"/>
                    <a:pt x="1199" y="1100"/>
                  </a:cubicBezTo>
                  <a:cubicBezTo>
                    <a:pt x="1224" y="1169"/>
                    <a:pt x="1197" y="1230"/>
                    <a:pt x="1174" y="1266"/>
                  </a:cubicBezTo>
                  <a:cubicBezTo>
                    <a:pt x="1167" y="1277"/>
                    <a:pt x="1127" y="1312"/>
                    <a:pt x="1112" y="13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9"/>
            <p:cNvSpPr/>
            <p:nvPr/>
          </p:nvSpPr>
          <p:spPr>
            <a:xfrm>
              <a:off x="6973200" y="928080"/>
              <a:ext cx="318600" cy="173160"/>
            </a:xfrm>
            <a:custGeom>
              <a:avLst/>
              <a:gdLst/>
              <a:ahLst/>
              <a:cxnLst/>
              <a:rect l="l" t="t" r="r" b="b"/>
              <a:pathLst>
                <a:path w="885" h="481" extrusionOk="0">
                  <a:moveTo>
                    <a:pt x="120" y="481"/>
                  </a:moveTo>
                  <a:lnTo>
                    <a:pt x="721" y="481"/>
                  </a:lnTo>
                  <a:lnTo>
                    <a:pt x="868" y="206"/>
                  </a:lnTo>
                  <a:cubicBezTo>
                    <a:pt x="918" y="112"/>
                    <a:pt x="850" y="0"/>
                    <a:pt x="744" y="0"/>
                  </a:cubicBezTo>
                  <a:lnTo>
                    <a:pt x="120" y="0"/>
                  </a:lnTo>
                  <a:cubicBezTo>
                    <a:pt x="54" y="0"/>
                    <a:pt x="0" y="53"/>
                    <a:pt x="0" y="120"/>
                  </a:cubicBezTo>
                  <a:lnTo>
                    <a:pt x="0" y="361"/>
                  </a:lnTo>
                  <a:cubicBezTo>
                    <a:pt x="0" y="428"/>
                    <a:pt x="54" y="481"/>
                    <a:pt x="120" y="4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9"/>
            <p:cNvSpPr/>
            <p:nvPr/>
          </p:nvSpPr>
          <p:spPr>
            <a:xfrm>
              <a:off x="6985080" y="1101240"/>
              <a:ext cx="247680" cy="43200"/>
            </a:xfrm>
            <a:custGeom>
              <a:avLst/>
              <a:gdLst/>
              <a:ahLst/>
              <a:cxnLst/>
              <a:rect l="l" t="t" r="r" b="b"/>
              <a:pathLst>
                <a:path w="688" h="120" extrusionOk="0">
                  <a:moveTo>
                    <a:pt x="688" y="0"/>
                  </a:moveTo>
                  <a:lnTo>
                    <a:pt x="638" y="96"/>
                  </a:lnTo>
                  <a:cubicBezTo>
                    <a:pt x="631" y="111"/>
                    <a:pt x="616" y="120"/>
                    <a:pt x="599" y="120"/>
                  </a:cubicBezTo>
                  <a:lnTo>
                    <a:pt x="37" y="120"/>
                  </a:lnTo>
                  <a:cubicBezTo>
                    <a:pt x="20" y="120"/>
                    <a:pt x="5" y="107"/>
                    <a:pt x="3" y="90"/>
                  </a:cubicBezTo>
                  <a:lnTo>
                    <a:pt x="0" y="63"/>
                  </a:lnTo>
                  <a:cubicBezTo>
                    <a:pt x="-4" y="30"/>
                    <a:pt x="22" y="0"/>
                    <a:pt x="56" y="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9"/>
            <p:cNvSpPr/>
            <p:nvPr/>
          </p:nvSpPr>
          <p:spPr>
            <a:xfrm>
              <a:off x="6963480" y="340560"/>
              <a:ext cx="301320" cy="242640"/>
            </a:xfrm>
            <a:custGeom>
              <a:avLst/>
              <a:gdLst/>
              <a:ahLst/>
              <a:cxnLst/>
              <a:rect l="l" t="t" r="r" b="b"/>
              <a:pathLst>
                <a:path w="837" h="674" extrusionOk="0">
                  <a:moveTo>
                    <a:pt x="116" y="674"/>
                  </a:moveTo>
                  <a:lnTo>
                    <a:pt x="837" y="165"/>
                  </a:lnTo>
                  <a:lnTo>
                    <a:pt x="720" y="0"/>
                  </a:lnTo>
                  <a:lnTo>
                    <a:pt x="0" y="509"/>
                  </a:lnTo>
                  <a:lnTo>
                    <a:pt x="116" y="6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9"/>
            <p:cNvSpPr/>
            <p:nvPr/>
          </p:nvSpPr>
          <p:spPr>
            <a:xfrm>
              <a:off x="6900480" y="674640"/>
              <a:ext cx="340560" cy="253440"/>
            </a:xfrm>
            <a:custGeom>
              <a:avLst/>
              <a:gdLst/>
              <a:ahLst/>
              <a:cxnLst/>
              <a:rect l="l" t="t" r="r" b="b"/>
              <a:pathLst>
                <a:path w="946" h="704" extrusionOk="0">
                  <a:moveTo>
                    <a:pt x="248" y="0"/>
                  </a:moveTo>
                  <a:cubicBezTo>
                    <a:pt x="248" y="0"/>
                    <a:pt x="223" y="82"/>
                    <a:pt x="192" y="114"/>
                  </a:cubicBezTo>
                  <a:cubicBezTo>
                    <a:pt x="160" y="145"/>
                    <a:pt x="136" y="171"/>
                    <a:pt x="192" y="233"/>
                  </a:cubicBezTo>
                  <a:cubicBezTo>
                    <a:pt x="248" y="294"/>
                    <a:pt x="578" y="662"/>
                    <a:pt x="593" y="666"/>
                  </a:cubicBezTo>
                  <a:cubicBezTo>
                    <a:pt x="608" y="669"/>
                    <a:pt x="946" y="704"/>
                    <a:pt x="946" y="704"/>
                  </a:cubicBezTo>
                  <a:lnTo>
                    <a:pt x="525" y="704"/>
                  </a:lnTo>
                  <a:lnTo>
                    <a:pt x="0" y="7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9"/>
            <p:cNvSpPr/>
            <p:nvPr/>
          </p:nvSpPr>
          <p:spPr>
            <a:xfrm>
              <a:off x="7014600" y="356760"/>
              <a:ext cx="221760" cy="190440"/>
            </a:xfrm>
            <a:custGeom>
              <a:avLst/>
              <a:gdLst/>
              <a:ahLst/>
              <a:cxnLst/>
              <a:rect l="l" t="t" r="r" b="b"/>
              <a:pathLst>
                <a:path w="616" h="529" extrusionOk="0">
                  <a:moveTo>
                    <a:pt x="0" y="357"/>
                  </a:moveTo>
                  <a:cubicBezTo>
                    <a:pt x="0" y="357"/>
                    <a:pt x="66" y="339"/>
                    <a:pt x="118" y="386"/>
                  </a:cubicBezTo>
                  <a:cubicBezTo>
                    <a:pt x="171" y="433"/>
                    <a:pt x="207" y="428"/>
                    <a:pt x="227" y="417"/>
                  </a:cubicBezTo>
                  <a:cubicBezTo>
                    <a:pt x="243" y="408"/>
                    <a:pt x="448" y="259"/>
                    <a:pt x="539" y="192"/>
                  </a:cubicBezTo>
                  <a:cubicBezTo>
                    <a:pt x="561" y="176"/>
                    <a:pt x="464" y="98"/>
                    <a:pt x="505" y="7"/>
                  </a:cubicBezTo>
                  <a:cubicBezTo>
                    <a:pt x="525" y="-40"/>
                    <a:pt x="616" y="176"/>
                    <a:pt x="616" y="176"/>
                  </a:cubicBezTo>
                  <a:lnTo>
                    <a:pt x="117" y="529"/>
                  </a:lnTo>
                  <a:lnTo>
                    <a:pt x="0" y="35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9"/>
            <p:cNvSpPr/>
            <p:nvPr/>
          </p:nvSpPr>
          <p:spPr>
            <a:xfrm>
              <a:off x="6814080" y="483120"/>
              <a:ext cx="243360" cy="232920"/>
            </a:xfrm>
            <a:custGeom>
              <a:avLst/>
              <a:gdLst/>
              <a:ahLst/>
              <a:cxnLst/>
              <a:rect l="l" t="t" r="r" b="b"/>
              <a:pathLst>
                <a:path w="676" h="647" extrusionOk="0">
                  <a:moveTo>
                    <a:pt x="145" y="159"/>
                  </a:moveTo>
                  <a:lnTo>
                    <a:pt x="443" y="16"/>
                  </a:lnTo>
                  <a:cubicBezTo>
                    <a:pt x="524" y="-23"/>
                    <a:pt x="621" y="11"/>
                    <a:pt x="659" y="92"/>
                  </a:cubicBezTo>
                  <a:cubicBezTo>
                    <a:pt x="681" y="137"/>
                    <a:pt x="680" y="187"/>
                    <a:pt x="661" y="229"/>
                  </a:cubicBezTo>
                  <a:lnTo>
                    <a:pt x="661" y="229"/>
                  </a:lnTo>
                  <a:lnTo>
                    <a:pt x="661" y="229"/>
                  </a:lnTo>
                  <a:cubicBezTo>
                    <a:pt x="654" y="243"/>
                    <a:pt x="646" y="256"/>
                    <a:pt x="636" y="267"/>
                  </a:cubicBezTo>
                  <a:lnTo>
                    <a:pt x="492" y="491"/>
                  </a:lnTo>
                  <a:lnTo>
                    <a:pt x="492" y="491"/>
                  </a:lnTo>
                  <a:cubicBezTo>
                    <a:pt x="468" y="546"/>
                    <a:pt x="425" y="594"/>
                    <a:pt x="367" y="622"/>
                  </a:cubicBezTo>
                  <a:cubicBezTo>
                    <a:pt x="239" y="683"/>
                    <a:pt x="86" y="629"/>
                    <a:pt x="25" y="501"/>
                  </a:cubicBezTo>
                  <a:cubicBezTo>
                    <a:pt x="-37" y="373"/>
                    <a:pt x="17" y="220"/>
                    <a:pt x="145" y="1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9"/>
            <p:cNvSpPr/>
            <p:nvPr/>
          </p:nvSpPr>
          <p:spPr>
            <a:xfrm>
              <a:off x="7254000" y="378720"/>
              <a:ext cx="64440" cy="60120"/>
            </a:xfrm>
            <a:custGeom>
              <a:avLst/>
              <a:gdLst/>
              <a:ahLst/>
              <a:cxnLst/>
              <a:rect l="l" t="t" r="r" b="b"/>
              <a:pathLst>
                <a:path w="179" h="167" extrusionOk="0">
                  <a:moveTo>
                    <a:pt x="179" y="78"/>
                  </a:moveTo>
                  <a:lnTo>
                    <a:pt x="57" y="167"/>
                  </a:lnTo>
                  <a:lnTo>
                    <a:pt x="0" y="89"/>
                  </a:lnTo>
                  <a:lnTo>
                    <a:pt x="122" y="0"/>
                  </a:lnTo>
                  <a:lnTo>
                    <a:pt x="179" y="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5100" rIns="90000" bIns="15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9"/>
            <p:cNvSpPr/>
            <p:nvPr/>
          </p:nvSpPr>
          <p:spPr>
            <a:xfrm>
              <a:off x="7262280" y="388440"/>
              <a:ext cx="42480" cy="50400"/>
            </a:xfrm>
            <a:custGeom>
              <a:avLst/>
              <a:gdLst/>
              <a:ahLst/>
              <a:cxnLst/>
              <a:rect l="l" t="t" r="r" b="b"/>
              <a:pathLst>
                <a:path w="118" h="140" extrusionOk="0">
                  <a:moveTo>
                    <a:pt x="0" y="93"/>
                  </a:moveTo>
                  <a:lnTo>
                    <a:pt x="118" y="0"/>
                  </a:lnTo>
                  <a:cubicBezTo>
                    <a:pt x="118" y="0"/>
                    <a:pt x="118" y="28"/>
                    <a:pt x="94" y="60"/>
                  </a:cubicBezTo>
                  <a:cubicBezTo>
                    <a:pt x="75" y="83"/>
                    <a:pt x="69" y="84"/>
                    <a:pt x="66" y="95"/>
                  </a:cubicBezTo>
                  <a:cubicBezTo>
                    <a:pt x="64" y="106"/>
                    <a:pt x="69" y="114"/>
                    <a:pt x="69" y="114"/>
                  </a:cubicBezTo>
                  <a:lnTo>
                    <a:pt x="34" y="140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5400" rIns="90000" bIns="5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9"/>
            <p:cNvSpPr/>
            <p:nvPr/>
          </p:nvSpPr>
          <p:spPr>
            <a:xfrm>
              <a:off x="7195680" y="309240"/>
              <a:ext cx="113760" cy="113400"/>
            </a:xfrm>
            <a:custGeom>
              <a:avLst/>
              <a:gdLst/>
              <a:ahLst/>
              <a:cxnLst/>
              <a:rect l="l" t="t" r="r" b="b"/>
              <a:pathLst>
                <a:path w="316" h="315" extrusionOk="0">
                  <a:moveTo>
                    <a:pt x="307" y="105"/>
                  </a:moveTo>
                  <a:cubicBezTo>
                    <a:pt x="336" y="187"/>
                    <a:pt x="293" y="277"/>
                    <a:pt x="211" y="306"/>
                  </a:cubicBezTo>
                  <a:cubicBezTo>
                    <a:pt x="129" y="335"/>
                    <a:pt x="38" y="292"/>
                    <a:pt x="9" y="210"/>
                  </a:cubicBezTo>
                  <a:cubicBezTo>
                    <a:pt x="-20" y="128"/>
                    <a:pt x="24" y="38"/>
                    <a:pt x="106" y="9"/>
                  </a:cubicBezTo>
                  <a:cubicBezTo>
                    <a:pt x="188" y="-19"/>
                    <a:pt x="278" y="23"/>
                    <a:pt x="307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9"/>
            <p:cNvSpPr/>
            <p:nvPr/>
          </p:nvSpPr>
          <p:spPr>
            <a:xfrm>
              <a:off x="7195680" y="968040"/>
              <a:ext cx="48240" cy="47880"/>
            </a:xfrm>
            <a:custGeom>
              <a:avLst/>
              <a:gdLst/>
              <a:ahLst/>
              <a:cxnLst/>
              <a:rect l="l" t="t" r="r" b="b"/>
              <a:pathLst>
                <a:path w="134" h="133" extrusionOk="0">
                  <a:moveTo>
                    <a:pt x="134" y="66"/>
                  </a:moveTo>
                  <a:cubicBezTo>
                    <a:pt x="134" y="103"/>
                    <a:pt x="104" y="133"/>
                    <a:pt x="67" y="133"/>
                  </a:cubicBezTo>
                  <a:cubicBezTo>
                    <a:pt x="30" y="133"/>
                    <a:pt x="0" y="103"/>
                    <a:pt x="0" y="66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2875" rIns="90000" bIns="2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9"/>
            <p:cNvSpPr/>
            <p:nvPr/>
          </p:nvSpPr>
          <p:spPr>
            <a:xfrm>
              <a:off x="7282440" y="412560"/>
              <a:ext cx="85320" cy="99000"/>
            </a:xfrm>
            <a:custGeom>
              <a:avLst/>
              <a:gdLst/>
              <a:ahLst/>
              <a:cxnLst/>
              <a:rect l="l" t="t" r="r" b="b"/>
              <a:pathLst>
                <a:path w="237" h="275" extrusionOk="0">
                  <a:moveTo>
                    <a:pt x="237" y="217"/>
                  </a:moveTo>
                  <a:lnTo>
                    <a:pt x="158" y="275"/>
                  </a:lnTo>
                  <a:lnTo>
                    <a:pt x="0" y="57"/>
                  </a:lnTo>
                  <a:lnTo>
                    <a:pt x="78" y="0"/>
                  </a:lnTo>
                  <a:lnTo>
                    <a:pt x="237" y="2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9"/>
            <p:cNvSpPr/>
            <p:nvPr/>
          </p:nvSpPr>
          <p:spPr>
            <a:xfrm>
              <a:off x="7331760" y="485280"/>
              <a:ext cx="64080" cy="59760"/>
            </a:xfrm>
            <a:custGeom>
              <a:avLst/>
              <a:gdLst/>
              <a:ahLst/>
              <a:cxnLst/>
              <a:rect l="l" t="t" r="r" b="b"/>
              <a:pathLst>
                <a:path w="178" h="166" extrusionOk="0">
                  <a:moveTo>
                    <a:pt x="178" y="78"/>
                  </a:moveTo>
                  <a:lnTo>
                    <a:pt x="57" y="166"/>
                  </a:lnTo>
                  <a:lnTo>
                    <a:pt x="0" y="88"/>
                  </a:lnTo>
                  <a:lnTo>
                    <a:pt x="121" y="0"/>
                  </a:lnTo>
                  <a:lnTo>
                    <a:pt x="178" y="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4750" rIns="90000" bIns="147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9"/>
            <p:cNvSpPr/>
            <p:nvPr/>
          </p:nvSpPr>
          <p:spPr>
            <a:xfrm>
              <a:off x="7355160" y="515160"/>
              <a:ext cx="55800" cy="52200"/>
            </a:xfrm>
            <a:custGeom>
              <a:avLst/>
              <a:gdLst/>
              <a:ahLst/>
              <a:cxnLst/>
              <a:rect l="l" t="t" r="r" b="b"/>
              <a:pathLst>
                <a:path w="155" h="145" extrusionOk="0">
                  <a:moveTo>
                    <a:pt x="155" y="68"/>
                  </a:moveTo>
                  <a:lnTo>
                    <a:pt x="49" y="145"/>
                  </a:lnTo>
                  <a:lnTo>
                    <a:pt x="0" y="77"/>
                  </a:lnTo>
                  <a:lnTo>
                    <a:pt x="105" y="0"/>
                  </a:lnTo>
                  <a:lnTo>
                    <a:pt x="155" y="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7200" rIns="90000" bIns="7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9"/>
            <p:cNvSpPr/>
            <p:nvPr/>
          </p:nvSpPr>
          <p:spPr>
            <a:xfrm>
              <a:off x="7408080" y="722160"/>
              <a:ext cx="16920" cy="23760"/>
            </a:xfrm>
            <a:custGeom>
              <a:avLst/>
              <a:gdLst/>
              <a:ahLst/>
              <a:cxnLst/>
              <a:rect l="l" t="t" r="r" b="b"/>
              <a:pathLst>
                <a:path w="47" h="66" extrusionOk="0">
                  <a:moveTo>
                    <a:pt x="0" y="56"/>
                  </a:moveTo>
                  <a:lnTo>
                    <a:pt x="24" y="66"/>
                  </a:lnTo>
                  <a:lnTo>
                    <a:pt x="47" y="10"/>
                  </a:lnTo>
                  <a:lnTo>
                    <a:pt x="23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9"/>
            <p:cNvSpPr/>
            <p:nvPr/>
          </p:nvSpPr>
          <p:spPr>
            <a:xfrm>
              <a:off x="7401600" y="569520"/>
              <a:ext cx="54360" cy="147960"/>
            </a:xfrm>
            <a:custGeom>
              <a:avLst/>
              <a:gdLst/>
              <a:ahLst/>
              <a:cxnLst/>
              <a:rect l="l" t="t" r="r" b="b"/>
              <a:pathLst>
                <a:path w="151" h="411" extrusionOk="0">
                  <a:moveTo>
                    <a:pt x="77" y="411"/>
                  </a:moveTo>
                  <a:lnTo>
                    <a:pt x="50" y="399"/>
                  </a:lnTo>
                  <a:lnTo>
                    <a:pt x="117" y="240"/>
                  </a:lnTo>
                  <a:cubicBezTo>
                    <a:pt x="127" y="216"/>
                    <a:pt x="123" y="188"/>
                    <a:pt x="108" y="166"/>
                  </a:cubicBezTo>
                  <a:lnTo>
                    <a:pt x="0" y="17"/>
                  </a:lnTo>
                  <a:lnTo>
                    <a:pt x="23" y="0"/>
                  </a:lnTo>
                  <a:lnTo>
                    <a:pt x="132" y="149"/>
                  </a:lnTo>
                  <a:cubicBezTo>
                    <a:pt x="153" y="179"/>
                    <a:pt x="157" y="218"/>
                    <a:pt x="143" y="251"/>
                  </a:cubicBezTo>
                  <a:lnTo>
                    <a:pt x="77" y="4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9"/>
            <p:cNvSpPr/>
            <p:nvPr/>
          </p:nvSpPr>
          <p:spPr>
            <a:xfrm>
              <a:off x="7413480" y="686520"/>
              <a:ext cx="28800" cy="40320"/>
            </a:xfrm>
            <a:custGeom>
              <a:avLst/>
              <a:gdLst/>
              <a:ahLst/>
              <a:cxnLst/>
              <a:rect l="l" t="t" r="r" b="b"/>
              <a:pathLst>
                <a:path w="80" h="112" extrusionOk="0">
                  <a:moveTo>
                    <a:pt x="0" y="96"/>
                  </a:moveTo>
                  <a:lnTo>
                    <a:pt x="40" y="112"/>
                  </a:lnTo>
                  <a:lnTo>
                    <a:pt x="80" y="17"/>
                  </a:lnTo>
                  <a:lnTo>
                    <a:pt x="40" y="0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9"/>
            <p:cNvSpPr/>
            <p:nvPr/>
          </p:nvSpPr>
          <p:spPr>
            <a:xfrm>
              <a:off x="7282440" y="412560"/>
              <a:ext cx="85320" cy="99000"/>
            </a:xfrm>
            <a:custGeom>
              <a:avLst/>
              <a:gdLst/>
              <a:ahLst/>
              <a:cxnLst/>
              <a:rect l="l" t="t" r="r" b="b"/>
              <a:pathLst>
                <a:path w="237" h="275" extrusionOk="0">
                  <a:moveTo>
                    <a:pt x="0" y="57"/>
                  </a:moveTo>
                  <a:lnTo>
                    <a:pt x="158" y="275"/>
                  </a:lnTo>
                  <a:lnTo>
                    <a:pt x="237" y="217"/>
                  </a:lnTo>
                  <a:cubicBezTo>
                    <a:pt x="237" y="217"/>
                    <a:pt x="174" y="250"/>
                    <a:pt x="162" y="236"/>
                  </a:cubicBezTo>
                  <a:cubicBezTo>
                    <a:pt x="150" y="223"/>
                    <a:pt x="31" y="65"/>
                    <a:pt x="32" y="57"/>
                  </a:cubicBezTo>
                  <a:cubicBezTo>
                    <a:pt x="33" y="50"/>
                    <a:pt x="78" y="0"/>
                    <a:pt x="78" y="0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9"/>
            <p:cNvSpPr/>
            <p:nvPr/>
          </p:nvSpPr>
          <p:spPr>
            <a:xfrm>
              <a:off x="7379640" y="544680"/>
              <a:ext cx="47880" cy="50040"/>
            </a:xfrm>
            <a:custGeom>
              <a:avLst/>
              <a:gdLst/>
              <a:ahLst/>
              <a:cxnLst/>
              <a:rect l="l" t="t" r="r" b="b"/>
              <a:pathLst>
                <a:path w="133" h="139" extrusionOk="0">
                  <a:moveTo>
                    <a:pt x="133" y="90"/>
                  </a:moveTo>
                  <a:lnTo>
                    <a:pt x="66" y="139"/>
                  </a:lnTo>
                  <a:lnTo>
                    <a:pt x="0" y="49"/>
                  </a:lnTo>
                  <a:lnTo>
                    <a:pt x="68" y="0"/>
                  </a:lnTo>
                  <a:lnTo>
                    <a:pt x="133" y="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5025" rIns="90000" bIns="5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9"/>
            <p:cNvSpPr/>
            <p:nvPr/>
          </p:nvSpPr>
          <p:spPr>
            <a:xfrm>
              <a:off x="6941520" y="1183680"/>
              <a:ext cx="282240" cy="172080"/>
            </a:xfrm>
            <a:custGeom>
              <a:avLst/>
              <a:gdLst/>
              <a:ahLst/>
              <a:cxnLst/>
              <a:rect l="l" t="t" r="r" b="b"/>
              <a:pathLst>
                <a:path w="784" h="478" extrusionOk="0">
                  <a:moveTo>
                    <a:pt x="0" y="478"/>
                  </a:moveTo>
                  <a:lnTo>
                    <a:pt x="784" y="478"/>
                  </a:lnTo>
                  <a:lnTo>
                    <a:pt x="696" y="0"/>
                  </a:lnTo>
                  <a:lnTo>
                    <a:pt x="88" y="0"/>
                  </a:lnTo>
                  <a:lnTo>
                    <a:pt x="0" y="4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9"/>
            <p:cNvSpPr/>
            <p:nvPr/>
          </p:nvSpPr>
          <p:spPr>
            <a:xfrm>
              <a:off x="6954120" y="1193400"/>
              <a:ext cx="30600" cy="151200"/>
            </a:xfrm>
            <a:custGeom>
              <a:avLst/>
              <a:gdLst/>
              <a:ahLst/>
              <a:cxnLst/>
              <a:rect l="l" t="t" r="r" b="b"/>
              <a:pathLst>
                <a:path w="85" h="420" extrusionOk="0">
                  <a:moveTo>
                    <a:pt x="85" y="0"/>
                  </a:moveTo>
                  <a:lnTo>
                    <a:pt x="85" y="420"/>
                  </a:lnTo>
                  <a:lnTo>
                    <a:pt x="0" y="420"/>
                  </a:lnTo>
                  <a:lnTo>
                    <a:pt x="71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9"/>
            <p:cNvSpPr/>
            <p:nvPr/>
          </p:nvSpPr>
          <p:spPr>
            <a:xfrm>
              <a:off x="7180560" y="1193400"/>
              <a:ext cx="30600" cy="151200"/>
            </a:xfrm>
            <a:custGeom>
              <a:avLst/>
              <a:gdLst/>
              <a:ahLst/>
              <a:cxnLst/>
              <a:rect l="l" t="t" r="r" b="b"/>
              <a:pathLst>
                <a:path w="85" h="420" extrusionOk="0">
                  <a:moveTo>
                    <a:pt x="0" y="0"/>
                  </a:moveTo>
                  <a:lnTo>
                    <a:pt x="0" y="420"/>
                  </a:lnTo>
                  <a:lnTo>
                    <a:pt x="85" y="420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9"/>
            <p:cNvSpPr/>
            <p:nvPr/>
          </p:nvSpPr>
          <p:spPr>
            <a:xfrm>
              <a:off x="7051680" y="1194120"/>
              <a:ext cx="24120" cy="151200"/>
            </a:xfrm>
            <a:custGeom>
              <a:avLst/>
              <a:gdLst/>
              <a:ahLst/>
              <a:cxnLst/>
              <a:rect l="l" t="t" r="r" b="b"/>
              <a:pathLst>
                <a:path w="67" h="420" extrusionOk="0">
                  <a:moveTo>
                    <a:pt x="67" y="0"/>
                  </a:moveTo>
                  <a:lnTo>
                    <a:pt x="67" y="420"/>
                  </a:lnTo>
                  <a:lnTo>
                    <a:pt x="0" y="420"/>
                  </a:lnTo>
                  <a:lnTo>
                    <a:pt x="36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9"/>
            <p:cNvSpPr/>
            <p:nvPr/>
          </p:nvSpPr>
          <p:spPr>
            <a:xfrm>
              <a:off x="7082640" y="1194120"/>
              <a:ext cx="24120" cy="151200"/>
            </a:xfrm>
            <a:custGeom>
              <a:avLst/>
              <a:gdLst/>
              <a:ahLst/>
              <a:cxnLst/>
              <a:rect l="l" t="t" r="r" b="b"/>
              <a:pathLst>
                <a:path w="6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67" y="420"/>
                  </a:lnTo>
                  <a:lnTo>
                    <a:pt x="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9"/>
            <p:cNvSpPr/>
            <p:nvPr/>
          </p:nvSpPr>
          <p:spPr>
            <a:xfrm>
              <a:off x="7185600" y="1193400"/>
              <a:ext cx="36000" cy="151200"/>
            </a:xfrm>
            <a:custGeom>
              <a:avLst/>
              <a:gdLst/>
              <a:ahLst/>
              <a:cxnLst/>
              <a:rect l="l" t="t" r="r" b="b"/>
              <a:pathLst>
                <a:path w="100" h="420" extrusionOk="0">
                  <a:moveTo>
                    <a:pt x="0" y="0"/>
                  </a:moveTo>
                  <a:lnTo>
                    <a:pt x="23" y="0"/>
                  </a:lnTo>
                  <a:lnTo>
                    <a:pt x="100" y="420"/>
                  </a:lnTo>
                  <a:lnTo>
                    <a:pt x="71" y="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9"/>
            <p:cNvSpPr/>
            <p:nvPr/>
          </p:nvSpPr>
          <p:spPr>
            <a:xfrm>
              <a:off x="6966720" y="1183680"/>
              <a:ext cx="231120" cy="10080"/>
            </a:xfrm>
            <a:custGeom>
              <a:avLst/>
              <a:gdLst/>
              <a:ahLst/>
              <a:cxnLst/>
              <a:rect l="l" t="t" r="r" b="b"/>
              <a:pathLst>
                <a:path w="642" h="28" extrusionOk="0">
                  <a:moveTo>
                    <a:pt x="642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642" y="0"/>
                  </a:lnTo>
                  <a:lnTo>
                    <a:pt x="642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9"/>
            <p:cNvSpPr/>
            <p:nvPr/>
          </p:nvSpPr>
          <p:spPr>
            <a:xfrm>
              <a:off x="6936120" y="1343160"/>
              <a:ext cx="293040" cy="12600"/>
            </a:xfrm>
            <a:custGeom>
              <a:avLst/>
              <a:gdLst/>
              <a:ahLst/>
              <a:cxnLst/>
              <a:rect l="l" t="t" r="r" b="b"/>
              <a:pathLst>
                <a:path w="814" h="35" extrusionOk="0">
                  <a:moveTo>
                    <a:pt x="814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814" y="0"/>
                  </a:lnTo>
                  <a:lnTo>
                    <a:pt x="814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9" name="Google Shape;929;p49"/>
          <p:cNvGrpSpPr/>
          <p:nvPr/>
        </p:nvGrpSpPr>
        <p:grpSpPr>
          <a:xfrm flipH="1">
            <a:off x="6673949" y="2341176"/>
            <a:ext cx="1957022" cy="2390018"/>
            <a:chOff x="4064760" y="1572120"/>
            <a:chExt cx="907920" cy="1108800"/>
          </a:xfrm>
        </p:grpSpPr>
        <p:sp>
          <p:nvSpPr>
            <p:cNvPr id="930" name="Google Shape;930;p49"/>
            <p:cNvSpPr/>
            <p:nvPr/>
          </p:nvSpPr>
          <p:spPr>
            <a:xfrm>
              <a:off x="4194360" y="1598760"/>
              <a:ext cx="767520" cy="140400"/>
            </a:xfrm>
            <a:custGeom>
              <a:avLst/>
              <a:gdLst/>
              <a:ahLst/>
              <a:cxnLst/>
              <a:rect l="l" t="t" r="r" b="b"/>
              <a:pathLst>
                <a:path w="2132" h="390" extrusionOk="0">
                  <a:moveTo>
                    <a:pt x="2130" y="390"/>
                  </a:moveTo>
                  <a:lnTo>
                    <a:pt x="2132" y="378"/>
                  </a:lnTo>
                  <a:lnTo>
                    <a:pt x="3" y="0"/>
                  </a:lnTo>
                  <a:lnTo>
                    <a:pt x="0" y="12"/>
                  </a:lnTo>
                  <a:lnTo>
                    <a:pt x="1081" y="390"/>
                  </a:lnTo>
                  <a:lnTo>
                    <a:pt x="1085" y="378"/>
                  </a:lnTo>
                  <a:lnTo>
                    <a:pt x="80" y="26"/>
                  </a:lnTo>
                  <a:lnTo>
                    <a:pt x="2130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9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2427" y="76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2427" y="0"/>
                  </a:lnTo>
                  <a:lnTo>
                    <a:pt x="2427" y="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9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0" y="38"/>
                  </a:moveTo>
                  <a:lnTo>
                    <a:pt x="124" y="38"/>
                  </a:lnTo>
                  <a:lnTo>
                    <a:pt x="280" y="0"/>
                  </a:lnTo>
                  <a:lnTo>
                    <a:pt x="315" y="38"/>
                  </a:lnTo>
                  <a:lnTo>
                    <a:pt x="2427" y="38"/>
                  </a:lnTo>
                  <a:lnTo>
                    <a:pt x="2427" y="76"/>
                  </a:lnTo>
                  <a:lnTo>
                    <a:pt x="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9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0" y="2777"/>
                  </a:moveTo>
                  <a:lnTo>
                    <a:pt x="155" y="2777"/>
                  </a:lnTo>
                  <a:lnTo>
                    <a:pt x="155" y="0"/>
                  </a:lnTo>
                  <a:lnTo>
                    <a:pt x="0" y="0"/>
                  </a:lnTo>
                  <a:lnTo>
                    <a:pt x="0" y="27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9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44" y="0"/>
                  </a:moveTo>
                  <a:lnTo>
                    <a:pt x="0" y="0"/>
                  </a:lnTo>
                  <a:lnTo>
                    <a:pt x="0" y="2777"/>
                  </a:lnTo>
                  <a:lnTo>
                    <a:pt x="155" y="2777"/>
                  </a:lnTo>
                  <a:cubicBezTo>
                    <a:pt x="155" y="2777"/>
                    <a:pt x="44" y="2752"/>
                    <a:pt x="44" y="260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9"/>
            <p:cNvSpPr/>
            <p:nvPr/>
          </p:nvSpPr>
          <p:spPr>
            <a:xfrm>
              <a:off x="4064760" y="2588400"/>
              <a:ext cx="368280" cy="92520"/>
            </a:xfrm>
            <a:custGeom>
              <a:avLst/>
              <a:gdLst/>
              <a:ahLst/>
              <a:cxnLst/>
              <a:rect l="l" t="t" r="r" b="b"/>
              <a:pathLst>
                <a:path w="1023" h="257" extrusionOk="0">
                  <a:moveTo>
                    <a:pt x="0" y="257"/>
                  </a:moveTo>
                  <a:lnTo>
                    <a:pt x="1023" y="257"/>
                  </a:lnTo>
                  <a:lnTo>
                    <a:pt x="858" y="41"/>
                  </a:lnTo>
                  <a:cubicBezTo>
                    <a:pt x="838" y="16"/>
                    <a:pt x="808" y="0"/>
                    <a:pt x="775" y="0"/>
                  </a:cubicBezTo>
                  <a:lnTo>
                    <a:pt x="105" y="0"/>
                  </a:lnTo>
                  <a:cubicBezTo>
                    <a:pt x="47" y="0"/>
                    <a:pt x="0" y="47"/>
                    <a:pt x="0" y="105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9"/>
            <p:cNvSpPr/>
            <p:nvPr/>
          </p:nvSpPr>
          <p:spPr>
            <a:xfrm>
              <a:off x="4132440" y="1572120"/>
              <a:ext cx="78840" cy="26640"/>
            </a:xfrm>
            <a:custGeom>
              <a:avLst/>
              <a:gdLst/>
              <a:ahLst/>
              <a:cxnLst/>
              <a:rect l="l" t="t" r="r" b="b"/>
              <a:pathLst>
                <a:path w="219" h="74" extrusionOk="0">
                  <a:moveTo>
                    <a:pt x="37" y="74"/>
                  </a:moveTo>
                  <a:lnTo>
                    <a:pt x="181" y="74"/>
                  </a:lnTo>
                  <a:cubicBezTo>
                    <a:pt x="202" y="74"/>
                    <a:pt x="219" y="57"/>
                    <a:pt x="219" y="36"/>
                  </a:cubicBezTo>
                  <a:cubicBezTo>
                    <a:pt x="219" y="16"/>
                    <a:pt x="202" y="0"/>
                    <a:pt x="181" y="0"/>
                  </a:cubicBezTo>
                  <a:lnTo>
                    <a:pt x="37" y="0"/>
                  </a:lnTo>
                  <a:cubicBezTo>
                    <a:pt x="17" y="0"/>
                    <a:pt x="0" y="16"/>
                    <a:pt x="0" y="36"/>
                  </a:cubicBezTo>
                  <a:cubicBezTo>
                    <a:pt x="0" y="57"/>
                    <a:pt x="17" y="74"/>
                    <a:pt x="37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9"/>
            <p:cNvSpPr/>
            <p:nvPr/>
          </p:nvSpPr>
          <p:spPr>
            <a:xfrm>
              <a:off x="4694040" y="1793880"/>
              <a:ext cx="40680" cy="57960"/>
            </a:xfrm>
            <a:custGeom>
              <a:avLst/>
              <a:gdLst/>
              <a:ahLst/>
              <a:cxnLst/>
              <a:rect l="l" t="t" r="r" b="b"/>
              <a:pathLst>
                <a:path w="113" h="161" extrusionOk="0">
                  <a:moveTo>
                    <a:pt x="0" y="161"/>
                  </a:moveTo>
                  <a:lnTo>
                    <a:pt x="113" y="161"/>
                  </a:lnTo>
                  <a:lnTo>
                    <a:pt x="113" y="0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950" rIns="90000" bIns="12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9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0" y="945"/>
                  </a:moveTo>
                  <a:lnTo>
                    <a:pt x="303" y="945"/>
                  </a:lnTo>
                  <a:lnTo>
                    <a:pt x="303" y="0"/>
                  </a:lnTo>
                  <a:lnTo>
                    <a:pt x="0" y="0"/>
                  </a:lnTo>
                  <a:lnTo>
                    <a:pt x="0" y="94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9"/>
            <p:cNvSpPr/>
            <p:nvPr/>
          </p:nvSpPr>
          <p:spPr>
            <a:xfrm>
              <a:off x="4676400" y="2192040"/>
              <a:ext cx="75960" cy="28800"/>
            </a:xfrm>
            <a:custGeom>
              <a:avLst/>
              <a:gdLst/>
              <a:ahLst/>
              <a:cxnLst/>
              <a:rect l="l" t="t" r="r" b="b"/>
              <a:pathLst>
                <a:path w="211" h="80" extrusionOk="0">
                  <a:moveTo>
                    <a:pt x="0" y="80"/>
                  </a:moveTo>
                  <a:lnTo>
                    <a:pt x="211" y="80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9"/>
            <p:cNvSpPr/>
            <p:nvPr/>
          </p:nvSpPr>
          <p:spPr>
            <a:xfrm>
              <a:off x="4529520" y="2246760"/>
              <a:ext cx="370080" cy="15840"/>
            </a:xfrm>
            <a:custGeom>
              <a:avLst/>
              <a:gdLst/>
              <a:ahLst/>
              <a:cxnLst/>
              <a:rect l="l" t="t" r="r" b="b"/>
              <a:pathLst>
                <a:path w="1028" h="44" extrusionOk="0">
                  <a:moveTo>
                    <a:pt x="0" y="44"/>
                  </a:moveTo>
                  <a:lnTo>
                    <a:pt x="1028" y="44"/>
                  </a:lnTo>
                  <a:lnTo>
                    <a:pt x="1028" y="0"/>
                  </a:lnTo>
                  <a:lnTo>
                    <a:pt x="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9"/>
            <p:cNvSpPr/>
            <p:nvPr/>
          </p:nvSpPr>
          <p:spPr>
            <a:xfrm>
              <a:off x="4693680" y="2220840"/>
              <a:ext cx="41760" cy="25920"/>
            </a:xfrm>
            <a:custGeom>
              <a:avLst/>
              <a:gdLst/>
              <a:ahLst/>
              <a:cxnLst/>
              <a:rect l="l" t="t" r="r" b="b"/>
              <a:pathLst>
                <a:path w="116" h="72" extrusionOk="0">
                  <a:moveTo>
                    <a:pt x="0" y="72"/>
                  </a:moveTo>
                  <a:lnTo>
                    <a:pt x="116" y="72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9"/>
            <p:cNvSpPr/>
            <p:nvPr/>
          </p:nvSpPr>
          <p:spPr>
            <a:xfrm>
              <a:off x="485892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9"/>
            <p:cNvSpPr/>
            <p:nvPr/>
          </p:nvSpPr>
          <p:spPr>
            <a:xfrm>
              <a:off x="488736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9"/>
            <p:cNvSpPr/>
            <p:nvPr/>
          </p:nvSpPr>
          <p:spPr>
            <a:xfrm>
              <a:off x="4904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9"/>
            <p:cNvSpPr/>
            <p:nvPr/>
          </p:nvSpPr>
          <p:spPr>
            <a:xfrm>
              <a:off x="4850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9"/>
            <p:cNvSpPr/>
            <p:nvPr/>
          </p:nvSpPr>
          <p:spPr>
            <a:xfrm>
              <a:off x="450108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9"/>
            <p:cNvSpPr/>
            <p:nvPr/>
          </p:nvSpPr>
          <p:spPr>
            <a:xfrm>
              <a:off x="452952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9"/>
            <p:cNvSpPr/>
            <p:nvPr/>
          </p:nvSpPr>
          <p:spPr>
            <a:xfrm>
              <a:off x="454644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9"/>
            <p:cNvSpPr/>
            <p:nvPr/>
          </p:nvSpPr>
          <p:spPr>
            <a:xfrm>
              <a:off x="4492440" y="2290680"/>
              <a:ext cx="32400" cy="9720"/>
            </a:xfrm>
            <a:custGeom>
              <a:avLst/>
              <a:gdLst/>
              <a:ahLst/>
              <a:cxnLst/>
              <a:rect l="l" t="t" r="r" b="b"/>
              <a:pathLst>
                <a:path w="90" h="27" extrusionOk="0">
                  <a:moveTo>
                    <a:pt x="0" y="27"/>
                  </a:moveTo>
                  <a:lnTo>
                    <a:pt x="90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9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303" y="0"/>
                  </a:moveTo>
                  <a:lnTo>
                    <a:pt x="46" y="64"/>
                  </a:lnTo>
                  <a:lnTo>
                    <a:pt x="46" y="869"/>
                  </a:lnTo>
                  <a:lnTo>
                    <a:pt x="303" y="945"/>
                  </a:lnTo>
                  <a:lnTo>
                    <a:pt x="0" y="945"/>
                  </a:lnTo>
                  <a:lnTo>
                    <a:pt x="0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9"/>
            <p:cNvSpPr/>
            <p:nvPr/>
          </p:nvSpPr>
          <p:spPr>
            <a:xfrm>
              <a:off x="450216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493" y="277"/>
                  </a:moveTo>
                  <a:cubicBezTo>
                    <a:pt x="603" y="277"/>
                    <a:pt x="606" y="197"/>
                    <a:pt x="606" y="196"/>
                  </a:cubicBezTo>
                  <a:lnTo>
                    <a:pt x="573" y="195"/>
                  </a:lnTo>
                  <a:cubicBezTo>
                    <a:pt x="572" y="200"/>
                    <a:pt x="568" y="243"/>
                    <a:pt x="493" y="243"/>
                  </a:cubicBezTo>
                  <a:cubicBezTo>
                    <a:pt x="458" y="243"/>
                    <a:pt x="421" y="198"/>
                    <a:pt x="381" y="151"/>
                  </a:cubicBezTo>
                  <a:cubicBezTo>
                    <a:pt x="324" y="83"/>
                    <a:pt x="261" y="6"/>
                    <a:pt x="168" y="0"/>
                  </a:cubicBezTo>
                  <a:cubicBezTo>
                    <a:pt x="128" y="-3"/>
                    <a:pt x="94" y="9"/>
                    <a:pt x="67" y="35"/>
                  </a:cubicBezTo>
                  <a:cubicBezTo>
                    <a:pt x="-2" y="100"/>
                    <a:pt x="0" y="233"/>
                    <a:pt x="0" y="238"/>
                  </a:cubicBezTo>
                  <a:lnTo>
                    <a:pt x="34" y="238"/>
                  </a:lnTo>
                  <a:cubicBezTo>
                    <a:pt x="34" y="236"/>
                    <a:pt x="32" y="114"/>
                    <a:pt x="90" y="59"/>
                  </a:cubicBezTo>
                  <a:cubicBezTo>
                    <a:pt x="110" y="40"/>
                    <a:pt x="135" y="31"/>
                    <a:pt x="166" y="34"/>
                  </a:cubicBezTo>
                  <a:cubicBezTo>
                    <a:pt x="244" y="39"/>
                    <a:pt x="303" y="110"/>
                    <a:pt x="355" y="172"/>
                  </a:cubicBezTo>
                  <a:cubicBezTo>
                    <a:pt x="402" y="228"/>
                    <a:pt x="443" y="277"/>
                    <a:pt x="493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9"/>
            <p:cNvSpPr/>
            <p:nvPr/>
          </p:nvSpPr>
          <p:spPr>
            <a:xfrm>
              <a:off x="470808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114" y="277"/>
                  </a:moveTo>
                  <a:cubicBezTo>
                    <a:pt x="164" y="277"/>
                    <a:pt x="204" y="228"/>
                    <a:pt x="252" y="172"/>
                  </a:cubicBezTo>
                  <a:cubicBezTo>
                    <a:pt x="304" y="110"/>
                    <a:pt x="363" y="39"/>
                    <a:pt x="441" y="34"/>
                  </a:cubicBezTo>
                  <a:cubicBezTo>
                    <a:pt x="471" y="31"/>
                    <a:pt x="496" y="40"/>
                    <a:pt x="517" y="59"/>
                  </a:cubicBezTo>
                  <a:cubicBezTo>
                    <a:pt x="574" y="114"/>
                    <a:pt x="572" y="236"/>
                    <a:pt x="572" y="238"/>
                  </a:cubicBezTo>
                  <a:lnTo>
                    <a:pt x="606" y="238"/>
                  </a:lnTo>
                  <a:cubicBezTo>
                    <a:pt x="606" y="233"/>
                    <a:pt x="608" y="100"/>
                    <a:pt x="540" y="35"/>
                  </a:cubicBezTo>
                  <a:cubicBezTo>
                    <a:pt x="513" y="9"/>
                    <a:pt x="479" y="-3"/>
                    <a:pt x="439" y="0"/>
                  </a:cubicBezTo>
                  <a:cubicBezTo>
                    <a:pt x="346" y="6"/>
                    <a:pt x="282" y="83"/>
                    <a:pt x="226" y="150"/>
                  </a:cubicBezTo>
                  <a:cubicBezTo>
                    <a:pt x="186" y="198"/>
                    <a:pt x="148" y="243"/>
                    <a:pt x="114" y="243"/>
                  </a:cubicBezTo>
                  <a:cubicBezTo>
                    <a:pt x="39" y="243"/>
                    <a:pt x="34" y="200"/>
                    <a:pt x="34" y="195"/>
                  </a:cubicBezTo>
                  <a:lnTo>
                    <a:pt x="0" y="196"/>
                  </a:lnTo>
                  <a:cubicBezTo>
                    <a:pt x="0" y="197"/>
                    <a:pt x="4" y="277"/>
                    <a:pt x="114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9"/>
            <p:cNvSpPr/>
            <p:nvPr/>
          </p:nvSpPr>
          <p:spPr>
            <a:xfrm>
              <a:off x="470808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9"/>
            <p:cNvSpPr/>
            <p:nvPr/>
          </p:nvSpPr>
          <p:spPr>
            <a:xfrm>
              <a:off x="4100400" y="1743840"/>
              <a:ext cx="620280" cy="219240"/>
            </a:xfrm>
            <a:custGeom>
              <a:avLst/>
              <a:gdLst/>
              <a:ahLst/>
              <a:cxnLst/>
              <a:rect l="l" t="t" r="r" b="b"/>
              <a:pathLst>
                <a:path w="1723" h="609" extrusionOk="0">
                  <a:moveTo>
                    <a:pt x="1326" y="228"/>
                  </a:moveTo>
                  <a:cubicBezTo>
                    <a:pt x="1326" y="259"/>
                    <a:pt x="1329" y="293"/>
                    <a:pt x="1334" y="328"/>
                  </a:cubicBezTo>
                  <a:cubicBezTo>
                    <a:pt x="1348" y="279"/>
                    <a:pt x="1355" y="232"/>
                    <a:pt x="1355" y="194"/>
                  </a:cubicBezTo>
                  <a:cubicBezTo>
                    <a:pt x="1355" y="170"/>
                    <a:pt x="1352" y="158"/>
                    <a:pt x="1350" y="151"/>
                  </a:cubicBezTo>
                  <a:cubicBezTo>
                    <a:pt x="1348" y="146"/>
                    <a:pt x="1346" y="143"/>
                    <a:pt x="1344" y="143"/>
                  </a:cubicBezTo>
                  <a:cubicBezTo>
                    <a:pt x="1339" y="143"/>
                    <a:pt x="1326" y="163"/>
                    <a:pt x="1326" y="228"/>
                  </a:cubicBezTo>
                  <a:moveTo>
                    <a:pt x="971" y="153"/>
                  </a:moveTo>
                  <a:cubicBezTo>
                    <a:pt x="965" y="168"/>
                    <a:pt x="962" y="190"/>
                    <a:pt x="962" y="217"/>
                  </a:cubicBezTo>
                  <a:cubicBezTo>
                    <a:pt x="962" y="257"/>
                    <a:pt x="968" y="303"/>
                    <a:pt x="979" y="349"/>
                  </a:cubicBezTo>
                  <a:cubicBezTo>
                    <a:pt x="997" y="296"/>
                    <a:pt x="1007" y="243"/>
                    <a:pt x="1007" y="202"/>
                  </a:cubicBezTo>
                  <a:cubicBezTo>
                    <a:pt x="1007" y="180"/>
                    <a:pt x="1004" y="162"/>
                    <a:pt x="999" y="150"/>
                  </a:cubicBezTo>
                  <a:cubicBezTo>
                    <a:pt x="992" y="137"/>
                    <a:pt x="986" y="137"/>
                    <a:pt x="983" y="137"/>
                  </a:cubicBezTo>
                  <a:cubicBezTo>
                    <a:pt x="977" y="137"/>
                    <a:pt x="972" y="149"/>
                    <a:pt x="971" y="153"/>
                  </a:cubicBezTo>
                  <a:moveTo>
                    <a:pt x="601" y="376"/>
                  </a:moveTo>
                  <a:lnTo>
                    <a:pt x="601" y="376"/>
                  </a:lnTo>
                  <a:cubicBezTo>
                    <a:pt x="610" y="354"/>
                    <a:pt x="616" y="333"/>
                    <a:pt x="620" y="317"/>
                  </a:cubicBezTo>
                  <a:cubicBezTo>
                    <a:pt x="645" y="219"/>
                    <a:pt x="633" y="145"/>
                    <a:pt x="622" y="139"/>
                  </a:cubicBezTo>
                  <a:cubicBezTo>
                    <a:pt x="604" y="145"/>
                    <a:pt x="579" y="251"/>
                    <a:pt x="601" y="376"/>
                  </a:cubicBezTo>
                  <a:moveTo>
                    <a:pt x="601" y="494"/>
                  </a:moveTo>
                  <a:cubicBezTo>
                    <a:pt x="597" y="486"/>
                    <a:pt x="594" y="477"/>
                    <a:pt x="591" y="468"/>
                  </a:cubicBezTo>
                  <a:cubicBezTo>
                    <a:pt x="546" y="535"/>
                    <a:pt x="469" y="605"/>
                    <a:pt x="341" y="605"/>
                  </a:cubicBezTo>
                  <a:cubicBezTo>
                    <a:pt x="340" y="605"/>
                    <a:pt x="338" y="605"/>
                    <a:pt x="337" y="605"/>
                  </a:cubicBezTo>
                  <a:cubicBezTo>
                    <a:pt x="120" y="602"/>
                    <a:pt x="0" y="472"/>
                    <a:pt x="0" y="238"/>
                  </a:cubicBezTo>
                  <a:cubicBezTo>
                    <a:pt x="0" y="30"/>
                    <a:pt x="116" y="1"/>
                    <a:pt x="121" y="0"/>
                  </a:cubicBezTo>
                  <a:lnTo>
                    <a:pt x="121" y="36"/>
                  </a:lnTo>
                  <a:cubicBezTo>
                    <a:pt x="117" y="37"/>
                    <a:pt x="34" y="59"/>
                    <a:pt x="34" y="238"/>
                  </a:cubicBezTo>
                  <a:cubicBezTo>
                    <a:pt x="34" y="388"/>
                    <a:pt x="86" y="568"/>
                    <a:pt x="337" y="571"/>
                  </a:cubicBezTo>
                  <a:cubicBezTo>
                    <a:pt x="339" y="571"/>
                    <a:pt x="340" y="571"/>
                    <a:pt x="341" y="571"/>
                  </a:cubicBezTo>
                  <a:cubicBezTo>
                    <a:pt x="465" y="571"/>
                    <a:pt x="536" y="498"/>
                    <a:pt x="577" y="426"/>
                  </a:cubicBezTo>
                  <a:cubicBezTo>
                    <a:pt x="565" y="381"/>
                    <a:pt x="559" y="330"/>
                    <a:pt x="559" y="278"/>
                  </a:cubicBezTo>
                  <a:cubicBezTo>
                    <a:pt x="559" y="198"/>
                    <a:pt x="575" y="105"/>
                    <a:pt x="621" y="105"/>
                  </a:cubicBezTo>
                  <a:cubicBezTo>
                    <a:pt x="629" y="105"/>
                    <a:pt x="643" y="108"/>
                    <a:pt x="653" y="126"/>
                  </a:cubicBezTo>
                  <a:cubicBezTo>
                    <a:pt x="679" y="172"/>
                    <a:pt x="675" y="312"/>
                    <a:pt x="613" y="430"/>
                  </a:cubicBezTo>
                  <a:cubicBezTo>
                    <a:pt x="633" y="499"/>
                    <a:pt x="675" y="575"/>
                    <a:pt x="760" y="575"/>
                  </a:cubicBezTo>
                  <a:cubicBezTo>
                    <a:pt x="847" y="575"/>
                    <a:pt x="916" y="494"/>
                    <a:pt x="959" y="400"/>
                  </a:cubicBezTo>
                  <a:cubicBezTo>
                    <a:pt x="939" y="336"/>
                    <a:pt x="929" y="269"/>
                    <a:pt x="929" y="217"/>
                  </a:cubicBezTo>
                  <a:cubicBezTo>
                    <a:pt x="929" y="185"/>
                    <a:pt x="932" y="160"/>
                    <a:pt x="939" y="141"/>
                  </a:cubicBezTo>
                  <a:cubicBezTo>
                    <a:pt x="951" y="108"/>
                    <a:pt x="971" y="103"/>
                    <a:pt x="983" y="103"/>
                  </a:cubicBezTo>
                  <a:cubicBezTo>
                    <a:pt x="1003" y="103"/>
                    <a:pt x="1019" y="115"/>
                    <a:pt x="1029" y="136"/>
                  </a:cubicBezTo>
                  <a:cubicBezTo>
                    <a:pt x="1037" y="152"/>
                    <a:pt x="1041" y="175"/>
                    <a:pt x="1041" y="202"/>
                  </a:cubicBezTo>
                  <a:cubicBezTo>
                    <a:pt x="1041" y="258"/>
                    <a:pt x="1025" y="333"/>
                    <a:pt x="994" y="402"/>
                  </a:cubicBezTo>
                  <a:cubicBezTo>
                    <a:pt x="1026" y="496"/>
                    <a:pt x="1079" y="575"/>
                    <a:pt x="1145" y="575"/>
                  </a:cubicBezTo>
                  <a:cubicBezTo>
                    <a:pt x="1216" y="575"/>
                    <a:pt x="1275" y="491"/>
                    <a:pt x="1312" y="395"/>
                  </a:cubicBezTo>
                  <a:cubicBezTo>
                    <a:pt x="1299" y="335"/>
                    <a:pt x="1293" y="274"/>
                    <a:pt x="1293" y="228"/>
                  </a:cubicBezTo>
                  <a:cubicBezTo>
                    <a:pt x="1293" y="149"/>
                    <a:pt x="1310" y="109"/>
                    <a:pt x="1344" y="109"/>
                  </a:cubicBezTo>
                  <a:cubicBezTo>
                    <a:pt x="1354" y="109"/>
                    <a:pt x="1371" y="113"/>
                    <a:pt x="1381" y="139"/>
                  </a:cubicBezTo>
                  <a:cubicBezTo>
                    <a:pt x="1386" y="152"/>
                    <a:pt x="1389" y="171"/>
                    <a:pt x="1389" y="194"/>
                  </a:cubicBezTo>
                  <a:cubicBezTo>
                    <a:pt x="1389" y="250"/>
                    <a:pt x="1374" y="326"/>
                    <a:pt x="1348" y="398"/>
                  </a:cubicBezTo>
                  <a:cubicBezTo>
                    <a:pt x="1352" y="418"/>
                    <a:pt x="1358" y="438"/>
                    <a:pt x="1364" y="456"/>
                  </a:cubicBezTo>
                  <a:cubicBezTo>
                    <a:pt x="1387" y="529"/>
                    <a:pt x="1418" y="575"/>
                    <a:pt x="1445" y="575"/>
                  </a:cubicBezTo>
                  <a:cubicBezTo>
                    <a:pt x="1487" y="575"/>
                    <a:pt x="1513" y="487"/>
                    <a:pt x="1513" y="345"/>
                  </a:cubicBezTo>
                  <a:cubicBezTo>
                    <a:pt x="1513" y="157"/>
                    <a:pt x="1590" y="69"/>
                    <a:pt x="1642" y="69"/>
                  </a:cubicBezTo>
                  <a:cubicBezTo>
                    <a:pt x="1694" y="69"/>
                    <a:pt x="1718" y="116"/>
                    <a:pt x="1723" y="139"/>
                  </a:cubicBezTo>
                  <a:lnTo>
                    <a:pt x="1688" y="139"/>
                  </a:lnTo>
                  <a:cubicBezTo>
                    <a:pt x="1688" y="137"/>
                    <a:pt x="1680" y="103"/>
                    <a:pt x="1642" y="103"/>
                  </a:cubicBezTo>
                  <a:cubicBezTo>
                    <a:pt x="1615" y="103"/>
                    <a:pt x="1547" y="175"/>
                    <a:pt x="1547" y="345"/>
                  </a:cubicBezTo>
                  <a:cubicBezTo>
                    <a:pt x="1547" y="465"/>
                    <a:pt x="1529" y="609"/>
                    <a:pt x="1445" y="609"/>
                  </a:cubicBezTo>
                  <a:cubicBezTo>
                    <a:pt x="1392" y="609"/>
                    <a:pt x="1352" y="536"/>
                    <a:pt x="1326" y="448"/>
                  </a:cubicBezTo>
                  <a:cubicBezTo>
                    <a:pt x="1284" y="537"/>
                    <a:pt x="1222" y="609"/>
                    <a:pt x="1145" y="609"/>
                  </a:cubicBezTo>
                  <a:cubicBezTo>
                    <a:pt x="1067" y="609"/>
                    <a:pt x="1010" y="535"/>
                    <a:pt x="974" y="444"/>
                  </a:cubicBezTo>
                  <a:cubicBezTo>
                    <a:pt x="926" y="535"/>
                    <a:pt x="852" y="609"/>
                    <a:pt x="760" y="609"/>
                  </a:cubicBezTo>
                  <a:cubicBezTo>
                    <a:pt x="692" y="609"/>
                    <a:pt x="637" y="569"/>
                    <a:pt x="601" y="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9"/>
            <p:cNvSpPr/>
            <p:nvPr/>
          </p:nvSpPr>
          <p:spPr>
            <a:xfrm>
              <a:off x="457812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9"/>
            <p:cNvSpPr/>
            <p:nvPr/>
          </p:nvSpPr>
          <p:spPr>
            <a:xfrm>
              <a:off x="444780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9"/>
            <p:cNvSpPr/>
            <p:nvPr/>
          </p:nvSpPr>
          <p:spPr>
            <a:xfrm>
              <a:off x="431784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9"/>
            <p:cNvSpPr/>
            <p:nvPr/>
          </p:nvSpPr>
          <p:spPr>
            <a:xfrm>
              <a:off x="4445280" y="2300400"/>
              <a:ext cx="527400" cy="207360"/>
            </a:xfrm>
            <a:custGeom>
              <a:avLst/>
              <a:gdLst/>
              <a:ahLst/>
              <a:cxnLst/>
              <a:rect l="l" t="t" r="r" b="b"/>
              <a:pathLst>
                <a:path w="1465" h="576" extrusionOk="0">
                  <a:moveTo>
                    <a:pt x="1465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465" y="0"/>
                  </a:lnTo>
                  <a:lnTo>
                    <a:pt x="1465" y="5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9"/>
            <p:cNvSpPr/>
            <p:nvPr/>
          </p:nvSpPr>
          <p:spPr>
            <a:xfrm>
              <a:off x="4476240" y="2325240"/>
              <a:ext cx="121680" cy="5040"/>
            </a:xfrm>
            <a:custGeom>
              <a:avLst/>
              <a:gdLst/>
              <a:ahLst/>
              <a:cxnLst/>
              <a:rect l="l" t="t" r="r" b="b"/>
              <a:pathLst>
                <a:path w="338" h="14" extrusionOk="0">
                  <a:moveTo>
                    <a:pt x="338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8" y="0"/>
                  </a:lnTo>
                  <a:lnTo>
                    <a:pt x="338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9"/>
            <p:cNvSpPr/>
            <p:nvPr/>
          </p:nvSpPr>
          <p:spPr>
            <a:xfrm>
              <a:off x="4827240" y="2325240"/>
              <a:ext cx="122040" cy="5040"/>
            </a:xfrm>
            <a:custGeom>
              <a:avLst/>
              <a:gdLst/>
              <a:ahLst/>
              <a:cxnLst/>
              <a:rect l="l" t="t" r="r" b="b"/>
              <a:pathLst>
                <a:path w="339" h="14" extrusionOk="0">
                  <a:moveTo>
                    <a:pt x="339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9"/>
            <p:cNvSpPr/>
            <p:nvPr/>
          </p:nvSpPr>
          <p:spPr>
            <a:xfrm>
              <a:off x="4827240" y="2339280"/>
              <a:ext cx="80280" cy="4680"/>
            </a:xfrm>
            <a:custGeom>
              <a:avLst/>
              <a:gdLst/>
              <a:ahLst/>
              <a:cxnLst/>
              <a:rect l="l" t="t" r="r" b="b"/>
              <a:pathLst>
                <a:path w="223" h="13" extrusionOk="0">
                  <a:moveTo>
                    <a:pt x="2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2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9"/>
            <p:cNvSpPr/>
            <p:nvPr/>
          </p:nvSpPr>
          <p:spPr>
            <a:xfrm>
              <a:off x="4827240" y="235440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9"/>
            <p:cNvSpPr/>
            <p:nvPr/>
          </p:nvSpPr>
          <p:spPr>
            <a:xfrm>
              <a:off x="4895640" y="2379240"/>
              <a:ext cx="42120" cy="18720"/>
            </a:xfrm>
            <a:custGeom>
              <a:avLst/>
              <a:gdLst/>
              <a:ahLst/>
              <a:cxnLst/>
              <a:rect l="l" t="t" r="r" b="b"/>
              <a:pathLst>
                <a:path w="117" h="52" extrusionOk="0">
                  <a:moveTo>
                    <a:pt x="12" y="52"/>
                  </a:moveTo>
                  <a:lnTo>
                    <a:pt x="105" y="52"/>
                  </a:lnTo>
                  <a:cubicBezTo>
                    <a:pt x="112" y="52"/>
                    <a:pt x="117" y="46"/>
                    <a:pt x="117" y="39"/>
                  </a:cubicBezTo>
                  <a:lnTo>
                    <a:pt x="117" y="13"/>
                  </a:lnTo>
                  <a:cubicBezTo>
                    <a:pt x="117" y="6"/>
                    <a:pt x="112" y="0"/>
                    <a:pt x="105" y="0"/>
                  </a:cubicBezTo>
                  <a:lnTo>
                    <a:pt x="12" y="0"/>
                  </a:lnTo>
                  <a:cubicBezTo>
                    <a:pt x="5" y="0"/>
                    <a:pt x="0" y="6"/>
                    <a:pt x="0" y="13"/>
                  </a:cubicBezTo>
                  <a:lnTo>
                    <a:pt x="0" y="39"/>
                  </a:lnTo>
                  <a:cubicBezTo>
                    <a:pt x="0" y="46"/>
                    <a:pt x="5" y="52"/>
                    <a:pt x="12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9"/>
            <p:cNvSpPr/>
            <p:nvPr/>
          </p:nvSpPr>
          <p:spPr>
            <a:xfrm>
              <a:off x="4537080" y="2473920"/>
              <a:ext cx="122040" cy="4680"/>
            </a:xfrm>
            <a:custGeom>
              <a:avLst/>
              <a:gdLst/>
              <a:ahLst/>
              <a:cxnLst/>
              <a:rect l="l" t="t" r="r" b="b"/>
              <a:pathLst>
                <a:path w="339" h="13" extrusionOk="0">
                  <a:moveTo>
                    <a:pt x="339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9"/>
            <p:cNvSpPr/>
            <p:nvPr/>
          </p:nvSpPr>
          <p:spPr>
            <a:xfrm>
              <a:off x="4537080" y="246384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9"/>
            <p:cNvSpPr/>
            <p:nvPr/>
          </p:nvSpPr>
          <p:spPr>
            <a:xfrm>
              <a:off x="4476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9"/>
            <p:cNvSpPr/>
            <p:nvPr/>
          </p:nvSpPr>
          <p:spPr>
            <a:xfrm>
              <a:off x="4503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9"/>
            <p:cNvSpPr/>
            <p:nvPr/>
          </p:nvSpPr>
          <p:spPr>
            <a:xfrm>
              <a:off x="4476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9"/>
            <p:cNvSpPr/>
            <p:nvPr/>
          </p:nvSpPr>
          <p:spPr>
            <a:xfrm>
              <a:off x="4503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st Reduction in Manufacturing Industry Consulting Toolkit by Slidesgo">
  <a:themeElements>
    <a:clrScheme name="Simple Light">
      <a:dk1>
        <a:srgbClr val="3B3A3A"/>
      </a:dk1>
      <a:lt1>
        <a:srgbClr val="EFEFEF"/>
      </a:lt1>
      <a:dk2>
        <a:srgbClr val="FB7E01"/>
      </a:dk2>
      <a:lt2>
        <a:srgbClr val="0C5084"/>
      </a:lt2>
      <a:accent1>
        <a:srgbClr val="D42416"/>
      </a:accent1>
      <a:accent2>
        <a:srgbClr val="999999"/>
      </a:accent2>
      <a:accent3>
        <a:srgbClr val="737373"/>
      </a:accent3>
      <a:accent4>
        <a:srgbClr val="CCCCCC"/>
      </a:accent4>
      <a:accent5>
        <a:srgbClr val="E9A85A"/>
      </a:accent5>
      <a:accent6>
        <a:srgbClr val="FFFFFF"/>
      </a:accent6>
      <a:hlink>
        <a:srgbClr val="3B3A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2312</Words>
  <Application>Microsoft Office PowerPoint</Application>
  <PresentationFormat>On-screen Show (16:9)</PresentationFormat>
  <Paragraphs>528</Paragraphs>
  <Slides>37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Cambria Math</vt:lpstr>
      <vt:lpstr>Inter Tight</vt:lpstr>
      <vt:lpstr>Raleway</vt:lpstr>
      <vt:lpstr>Merriweather Sans</vt:lpstr>
      <vt:lpstr>Open Sans</vt:lpstr>
      <vt:lpstr>Arial</vt:lpstr>
      <vt:lpstr>Times New Roman</vt:lpstr>
      <vt:lpstr>Cost Reduction in Manufacturing Industry Consulting Toolkit by Slidesgo</vt:lpstr>
      <vt:lpstr>JeevI: Deep Reinforcement Learning Robot</vt:lpstr>
      <vt:lpstr>01</vt:lpstr>
      <vt:lpstr>05</vt:lpstr>
      <vt:lpstr>Introduction</vt:lpstr>
      <vt:lpstr>Problem Statement</vt:lpstr>
      <vt:lpstr>Objectives</vt:lpstr>
      <vt:lpstr>Methodology</vt:lpstr>
      <vt:lpstr>Isaac Sim &amp; Isaac Lab</vt:lpstr>
      <vt:lpstr>Methodology: Design</vt:lpstr>
      <vt:lpstr>Methodology: Design</vt:lpstr>
      <vt:lpstr>Methodology: Policy</vt:lpstr>
      <vt:lpstr>Methodology: Policy</vt:lpstr>
      <vt:lpstr>Methodology: Policy</vt:lpstr>
      <vt:lpstr>Methodology: Policy</vt:lpstr>
      <vt:lpstr>Methodology: Training</vt:lpstr>
      <vt:lpstr>Methodology: Training</vt:lpstr>
      <vt:lpstr>Methodology: Training</vt:lpstr>
      <vt:lpstr>Evaluation</vt:lpstr>
      <vt:lpstr>Multi-Terrain Generalization</vt:lpstr>
      <vt:lpstr>Challenges</vt:lpstr>
      <vt:lpstr>Successful System Development</vt:lpstr>
      <vt:lpstr>Project and strategy</vt:lpstr>
      <vt:lpstr>Strategy map &amp; balanced scorecard</vt:lpstr>
      <vt:lpstr>Impact of the risks</vt:lpstr>
      <vt:lpstr>Awesome words</vt:lpstr>
      <vt:lpstr>Financial model</vt:lpstr>
      <vt:lpstr>Answers and supporting arguments</vt:lpstr>
      <vt:lpstr>Initiative prioritization matrix</vt:lpstr>
      <vt:lpstr>Competitor comparison table</vt:lpstr>
      <vt:lpstr>Change management strategy &amp; plan</vt:lpstr>
      <vt:lpstr>$489,300</vt:lpstr>
      <vt:lpstr>$20,000</vt:lpstr>
      <vt:lpstr>Maturity model</vt:lpstr>
      <vt:lpstr>Demo software and app</vt:lpstr>
      <vt:lpstr>Alternative Resources</vt:lpstr>
      <vt:lpstr>Resources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JeevI: Deep Reinforcement Learning Robot</dc:title>
  <cp:lastModifiedBy>Ashish Gupta</cp:lastModifiedBy>
  <cp:revision>45</cp:revision>
  <dcterms:modified xsi:type="dcterms:W3CDTF">2026-02-18T12:48:49Z</dcterms:modified>
</cp:coreProperties>
</file>